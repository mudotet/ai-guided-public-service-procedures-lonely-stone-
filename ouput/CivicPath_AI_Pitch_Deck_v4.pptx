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6acab376504c5e" /><Relationship Type="http://schemas.openxmlformats.org/officeDocument/2006/relationships/extended-properties" Target="/docProps/app.xml" Id="R68f309f24dc94a11" /><Relationship Type="http://schemas.openxmlformats.org/officeDocument/2006/relationships/officeDocument" Target="/ppt/presentation.xml" Id="R7181d224d49b43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1332f4426d495e"/>
  </p:sldMasterIdLst>
  <p:notesMasterIdLst>
    <p:notesMasterId xmlns:r="http://schemas.openxmlformats.org/officeDocument/2006/relationships" r:id="R46b0300773ed4731"/>
  </p:notesMasterIdLst>
  <p:sldIdLst>
    <p:sldId xmlns:r="http://schemas.openxmlformats.org/officeDocument/2006/relationships" id="256" r:id="Redff87fb3cc44be3"/>
    <p:sldId xmlns:r="http://schemas.openxmlformats.org/officeDocument/2006/relationships" id="257" r:id="R946e5e8a305b403d"/>
    <p:sldId xmlns:r="http://schemas.openxmlformats.org/officeDocument/2006/relationships" id="258" r:id="Rcf229d7407fb4fec"/>
    <p:sldId xmlns:r="http://schemas.openxmlformats.org/officeDocument/2006/relationships" id="259" r:id="R51b6b6d4ef88426f"/>
    <p:sldId xmlns:r="http://schemas.openxmlformats.org/officeDocument/2006/relationships" id="260" r:id="R5fb96b839db34903"/>
    <p:sldId xmlns:r="http://schemas.openxmlformats.org/officeDocument/2006/relationships" id="261" r:id="R6b841f94f3eb447d"/>
    <p:sldId xmlns:r="http://schemas.openxmlformats.org/officeDocument/2006/relationships" id="262" r:id="R5e51c8f174f4457e"/>
    <p:sldId xmlns:r="http://schemas.openxmlformats.org/officeDocument/2006/relationships" id="263" r:id="R37706bcadaae42cf"/>
    <p:sldId xmlns:r="http://schemas.openxmlformats.org/officeDocument/2006/relationships" id="264" r:id="R2540b5d3198747ed"/>
    <p:sldId xmlns:r="http://schemas.openxmlformats.org/officeDocument/2006/relationships" id="265" r:id="Rd71d23dec46e4a4f"/>
    <p:sldId xmlns:r="http://schemas.openxmlformats.org/officeDocument/2006/relationships" id="266" r:id="R0acb3f9e180d4f81"/>
    <p:sldId xmlns:r="http://schemas.openxmlformats.org/officeDocument/2006/relationships" id="267" r:id="R243b1a2a31444e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a5d4c01c484431" /><Relationship Type="http://schemas.openxmlformats.org/officeDocument/2006/relationships/slideMaster" Target="/ppt/slideMasters/slideMaster1.xml" Id="R621332f4426d495e" /><Relationship Type="http://schemas.openxmlformats.org/officeDocument/2006/relationships/notesMaster" Target="/ppt/notesMasters/notesMaster1.xml" Id="R46b0300773ed4731" /><Relationship Type="http://schemas.openxmlformats.org/officeDocument/2006/relationships/presProps" Target="/ppt/presProps.xml" Id="Rc1bd59919d57418d" /><Relationship Type="http://schemas.openxmlformats.org/officeDocument/2006/relationships/tableStyles" Target="/ppt/tableStyles.xml" Id="R2ca78288561a46fd" /><Relationship Type="http://schemas.openxmlformats.org/officeDocument/2006/relationships/slide" Target="/ppt/slides/slide1.xml" Id="Redff87fb3cc44be3" /><Relationship Type="http://schemas.openxmlformats.org/officeDocument/2006/relationships/slide" Target="/ppt/slides/slide2.xml" Id="R946e5e8a305b403d" /><Relationship Type="http://schemas.openxmlformats.org/officeDocument/2006/relationships/slide" Target="/ppt/slides/slide3.xml" Id="Rcf229d7407fb4fec" /><Relationship Type="http://schemas.openxmlformats.org/officeDocument/2006/relationships/slide" Target="/ppt/slides/slide4.xml" Id="R51b6b6d4ef88426f" /><Relationship Type="http://schemas.openxmlformats.org/officeDocument/2006/relationships/slide" Target="/ppt/slides/slide5.xml" Id="R5fb96b839db34903" /><Relationship Type="http://schemas.openxmlformats.org/officeDocument/2006/relationships/slide" Target="/ppt/slides/slide6.xml" Id="R6b841f94f3eb447d" /><Relationship Type="http://schemas.openxmlformats.org/officeDocument/2006/relationships/slide" Target="/ppt/slides/slide7.xml" Id="R5e51c8f174f4457e" /><Relationship Type="http://schemas.openxmlformats.org/officeDocument/2006/relationships/slide" Target="/ppt/slides/slide8.xml" Id="R37706bcadaae42cf" /><Relationship Type="http://schemas.openxmlformats.org/officeDocument/2006/relationships/slide" Target="/ppt/slides/slide9.xml" Id="R2540b5d3198747ed" /><Relationship Type="http://schemas.openxmlformats.org/officeDocument/2006/relationships/slide" Target="/ppt/slides/slide10.xml" Id="Rd71d23dec46e4a4f" /><Relationship Type="http://schemas.openxmlformats.org/officeDocument/2006/relationships/slide" Target="/ppt/slides/slide11.xml" Id="R0acb3f9e180d4f81" /><Relationship Type="http://schemas.openxmlformats.org/officeDocument/2006/relationships/slide" Target="/ppt/slides/slide12.xml" Id="R243b1a2a3144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396172fbf4d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3fb34f948e4c25" /><Relationship Type="http://schemas.openxmlformats.org/officeDocument/2006/relationships/notesMaster" Target="/ppt/notesMasters/notesMaster1.xml" Id="Rda22b2bbb9b14f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6056be170e4589" /><Relationship Type="http://schemas.openxmlformats.org/officeDocument/2006/relationships/notesMaster" Target="/ppt/notesMasters/notesMaster1.xml" Id="R6160c2f4b36b43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3600eca8b44e1" /><Relationship Type="http://schemas.openxmlformats.org/officeDocument/2006/relationships/notesMaster" Target="/ppt/notesMasters/notesMaster1.xml" Id="Rc7780d9334e54b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b45deccd48435a" /><Relationship Type="http://schemas.openxmlformats.org/officeDocument/2006/relationships/notesMaster" Target="/ppt/notesMasters/notesMaster1.xml" Id="R036a41a076df4d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5b2cf129f64da2" /><Relationship Type="http://schemas.openxmlformats.org/officeDocument/2006/relationships/notesMaster" Target="/ppt/notesMasters/notesMaster1.xml" Id="R8765efc5892d4a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d34e2accb44eed" /><Relationship Type="http://schemas.openxmlformats.org/officeDocument/2006/relationships/notesMaster" Target="/ppt/notesMasters/notesMaster1.xml" Id="R4a7d3cb8af374c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b4b40ff411475a" /><Relationship Type="http://schemas.openxmlformats.org/officeDocument/2006/relationships/notesMaster" Target="/ppt/notesMasters/notesMaster1.xml" Id="R2efe42cf07bc4f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bb37dca3834474" /><Relationship Type="http://schemas.openxmlformats.org/officeDocument/2006/relationships/notesMaster" Target="/ppt/notesMasters/notesMaster1.xml" Id="R38696849c65648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86bc9744c4c42" /><Relationship Type="http://schemas.openxmlformats.org/officeDocument/2006/relationships/notesMaster" Target="/ppt/notesMasters/notesMaster1.xml" Id="R80155cab79ad4f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5e91d80bf0497a" /><Relationship Type="http://schemas.openxmlformats.org/officeDocument/2006/relationships/notesMaster" Target="/ppt/notesMasters/notesMaster1.xml" Id="R026088619a3e47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53183e03f14cb8" /><Relationship Type="http://schemas.openxmlformats.org/officeDocument/2006/relationships/notesMaster" Target="/ppt/notesMasters/notesMaster1.xml" Id="R81d9890216654d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a7819b5d584ed1" /><Relationship Type="http://schemas.openxmlformats.org/officeDocument/2006/relationships/notesMaster" Target="/ppt/notesMasters/notesMaster1.xml" Id="R16f412a6a1be48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0cc8c4257346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59f205266241be" /><Relationship Type="http://schemas.openxmlformats.org/officeDocument/2006/relationships/slideLayout" Target="/ppt/slideLayouts/slideLayout1.xml" Id="Red2c7108a2394e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2c7108a2394e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716fbba544142" /><Relationship Type="http://schemas.openxmlformats.org/officeDocument/2006/relationships/image" Target="/ppt/media/image.jpeg" Id="Re3ab372ca5b34704" /><Relationship Type="http://schemas.openxmlformats.org/officeDocument/2006/relationships/notesSlide" Target="/ppt/notesSlides/notesSlide1.xml" Id="Rf46f2e44c40249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e151235480432d" /><Relationship Type="http://schemas.openxmlformats.org/officeDocument/2006/relationships/notesSlide" Target="/ppt/notesSlides/notesSlide2.xml" Id="R3b09913585624f8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31e8d3d964663" /><Relationship Type="http://schemas.openxmlformats.org/officeDocument/2006/relationships/notesSlide" Target="/ppt/notesSlides/notesSlide3.xml" Id="R200ba3b0975448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0093f99c548c3" /><Relationship Type="http://schemas.openxmlformats.org/officeDocument/2006/relationships/image" Target="/ppt/media/image2.jpeg" Id="Rdad0b95f56284bdf" /><Relationship Type="http://schemas.openxmlformats.org/officeDocument/2006/relationships/notesSlide" Target="/ppt/notesSlides/notesSlide4.xml" Id="R2c195d3e692d4d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683683ef847d8" /><Relationship Type="http://schemas.openxmlformats.org/officeDocument/2006/relationships/image" Target="/ppt/media/image3.jpeg" Id="R259f5416ca4242a6" /><Relationship Type="http://schemas.openxmlformats.org/officeDocument/2006/relationships/notesSlide" Target="/ppt/notesSlides/notesSlide5.xml" Id="Rf2c55431638846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70f0eabc844b1" /><Relationship Type="http://schemas.openxmlformats.org/officeDocument/2006/relationships/notesSlide" Target="/ppt/notesSlides/notesSlide6.xml" Id="R763c088700bf4e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f4f13cc374c34" /><Relationship Type="http://schemas.openxmlformats.org/officeDocument/2006/relationships/image" Target="/ppt/media/image.png" Id="R13d7e6aa8af94764" /><Relationship Type="http://schemas.openxmlformats.org/officeDocument/2006/relationships/notesSlide" Target="/ppt/notesSlides/notesSlide7.xml" Id="Rf502122179ee42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bccd6db304876" /><Relationship Type="http://schemas.openxmlformats.org/officeDocument/2006/relationships/notesSlide" Target="/ppt/notesSlides/notesSlide8.xml" Id="R5cc45e1b6e8142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1dd9dfc43486e" /><Relationship Type="http://schemas.openxmlformats.org/officeDocument/2006/relationships/image" Target="/ppt/media/image4.jpeg" Id="R56988609d6a54c71" /><Relationship Type="http://schemas.openxmlformats.org/officeDocument/2006/relationships/notesSlide" Target="/ppt/notesSlides/notesSlide9.xml" Id="R125d03d97ac348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339c4561c490a" /><Relationship Type="http://schemas.openxmlformats.org/officeDocument/2006/relationships/notesSlide" Target="/ppt/notesSlides/notesSlide10.xml" Id="R0afb98f3722444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d681e27804e17" /><Relationship Type="http://schemas.openxmlformats.org/officeDocument/2006/relationships/notesSlide" Target="/ppt/notesSlides/notesSlide11.xml" Id="Rf856944aeec646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59759f0af4bc9" /><Relationship Type="http://schemas.openxmlformats.org/officeDocument/2006/relationships/image" Target="/ppt/media/image5.jpeg" Id="R1f602addd0f24375" /><Relationship Type="http://schemas.openxmlformats.org/officeDocument/2006/relationships/notesSlide" Target="/ppt/notesSlides/notesSlide12.xml" Id="Rc00149ab5c414c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ox-1">
            <a:extLst xmlns:a="http://schemas.openxmlformats.org/drawingml/2006/main">
              <a:ext uri="{FF2B5EF4-FFF2-40B4-BE49-F238E27FC236}">
                <a16:creationId xmlns:a16="http://schemas.microsoft.com/office/drawing/2014/main" id="{F637071B-6786-4E55-9601-E9B69F63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B0BEFC52-EFF6-4008-9F36-764D2017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5429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SMART GOVERNMENT · NIDit · LONELY STONE</a:t>
            </a:r>
          </a:p>
        </p:txBody>
      </p:sp>
      <p:sp>
        <p:nvSpPr>
          <p:cNvPr id="3" name="brand-3">
            <a:extLst xmlns:a="http://schemas.openxmlformats.org/drawingml/2006/main">
              <a:ext uri="{FF2B5EF4-FFF2-40B4-BE49-F238E27FC236}">
                <a16:creationId xmlns:a16="http://schemas.microsoft.com/office/drawing/2014/main" id="{98CCEEC5-6535-4960-A81A-0A0B16AB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4667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4" name="cover-title-4">
            <a:extLst xmlns:a="http://schemas.openxmlformats.org/drawingml/2006/main">
              <a:ext uri="{FF2B5EF4-FFF2-40B4-BE49-F238E27FC236}">
                <a16:creationId xmlns:a16="http://schemas.microsoft.com/office/drawing/2014/main" id="{29F58BD6-1893-4265-8489-27C5A7C1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143500" cy="1295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
service procedures</a:t>
            </a:r>
          </a:p>
        </p:txBody>
      </p:sp>
      <p:sp>
        <p:nvSpPr>
          <p:cNvPr id="5" name="cover-subtitle-5">
            <a:extLst xmlns:a="http://schemas.openxmlformats.org/drawingml/2006/main">
              <a:ext uri="{FF2B5EF4-FFF2-40B4-BE49-F238E27FC236}">
                <a16:creationId xmlns:a16="http://schemas.microsoft.com/office/drawing/2014/main" id="{89553196-B501-48C9-8732-F21C39CE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76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Guidance citizens trust. Applications officers can process.</a:t>
            </a:r>
          </a:p>
        </p:txBody>
      </p:sp>
      <p:sp>
        <p:nvSpPr>
          <p:cNvPr id="6" name="scope-pill-6">
            <a:extLst xmlns:a="http://schemas.openxmlformats.org/drawingml/2006/main">
              <a:ext uri="{FF2B5EF4-FFF2-40B4-BE49-F238E27FC236}">
                <a16:creationId xmlns:a16="http://schemas.microsoft.com/office/drawing/2014/main" id="{AB17A0F9-F24D-443D-A4EE-DB363376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3048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ope-7">
            <a:extLst xmlns:a="http://schemas.openxmlformats.org/drawingml/2006/main">
              <a:ext uri="{FF2B5EF4-FFF2-40B4-BE49-F238E27FC236}">
                <a16:creationId xmlns:a16="http://schemas.microsoft.com/office/drawing/2014/main" id="{84E0F0B2-E5FD-47F4-B162-EC037CD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33900"/>
            <a:ext cx="2724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STARTING WITH BIRTH REGISTRATION</a:t>
            </a:r>
          </a:p>
        </p:txBody>
      </p:sp>
      <p:sp>
        <p:nvSpPr>
          <p:cNvPr id="8" name="live-label-8">
            <a:extLst xmlns:a="http://schemas.openxmlformats.org/drawingml/2006/main">
              <a:ext uri="{FF2B5EF4-FFF2-40B4-BE49-F238E27FC236}">
                <a16:creationId xmlns:a16="http://schemas.microsoft.com/office/drawing/2014/main" id="{6E784DBC-841C-4E25-9689-32EAECEF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9" name="url-9">
            <a:extLst xmlns:a="http://schemas.openxmlformats.org/drawingml/2006/main">
              <a:ext uri="{FF2B5EF4-FFF2-40B4-BE49-F238E27FC236}">
                <a16:creationId xmlns:a16="http://schemas.microsoft.com/office/drawing/2014/main" id="{670B5468-7CB9-46F2-B603-8B347EE4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48325"/>
            <a:ext cx="452437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ai-guided-public-service-procedures.vercel.app</a:t>
            </a:r>
          </a:p>
        </p:txBody>
      </p:sp>
      <p:sp>
        <p:nvSpPr>
          <p:cNvPr id="10" name="cover-media-frame-10">
            <a:extLst xmlns:a="http://schemas.openxmlformats.org/drawingml/2006/main">
              <a:ext uri="{FF2B5EF4-FFF2-40B4-BE49-F238E27FC236}">
                <a16:creationId xmlns:a16="http://schemas.microsoft.com/office/drawing/2014/main" id="{0F2161A8-E9C7-4A66-9DA9-C3FA9204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62075"/>
            <a:ext cx="561975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media-inner-11">
            <a:extLst xmlns:a="http://schemas.openxmlformats.org/drawingml/2006/main">
              <a:ext uri="{FF2B5EF4-FFF2-40B4-BE49-F238E27FC236}">
                <a16:creationId xmlns:a16="http://schemas.microsoft.com/office/drawing/2014/main" id="{5B67DB02-AC51-4B6C-9E27-1101C903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14475"/>
            <a:ext cx="5314950" cy="29146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proof-12">
            <a:extLst xmlns:a="http://schemas.openxmlformats.org/drawingml/2006/main">
              <a:ext uri="{FF2B5EF4-FFF2-40B4-BE49-F238E27FC236}">
                <a16:creationId xmlns:a16="http://schemas.microsoft.com/office/drawing/2014/main" id="{912A3E02-4A62-4297-8984-21F80479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81575"/>
            <a:ext cx="5010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GUIDED INTAKE · PRE-CHECK · PDF</a:t>
            </a:r>
          </a:p>
        </p:txBody>
      </p:sp>
      <p:sp>
        <p:nvSpPr>
          <p:cNvPr id="13" name="footer-13">
            <a:extLst xmlns:a="http://schemas.openxmlformats.org/drawingml/2006/main">
              <a:ext uri="{FF2B5EF4-FFF2-40B4-BE49-F238E27FC236}">
                <a16:creationId xmlns:a16="http://schemas.microsoft.com/office/drawing/2014/main" id="{487799A5-32F4-4B6A-A0CA-0B84B780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 and Digital Transformation</a:t>
            </a:r>
          </a:p>
        </p:txBody>
      </p:sp>
      <p:sp>
        <p:nvSpPr>
          <p:cNvPr id="14" name="page-14">
            <a:extLst xmlns:a="http://schemas.openxmlformats.org/drawingml/2006/main">
              <a:ext uri="{FF2B5EF4-FFF2-40B4-BE49-F238E27FC236}">
                <a16:creationId xmlns:a16="http://schemas.microsoft.com/office/drawing/2014/main" id="{689A1504-B13C-45A6-9B7B-0C56D1E7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b372ca5b34704"/>
          <a:stretch xmlns:a="http://schemas.openxmlformats.org/drawingml/2006/main"/>
        </p:blipFill>
        <p:spPr>
          <a:xfrm xmlns:a="http://schemas.openxmlformats.org/drawingml/2006/main">
            <a:off x="6342005" y="1571625"/>
            <a:ext cx="4975341" cy="280035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</p:spTree>
    <p:extLst>
      <p:ext uri="{BB962C8B-B14F-4D97-AF65-F5344CB8AC3E}">
        <p14:creationId xmlns:p14="http://schemas.microsoft.com/office/powerpoint/2010/main" val="96831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6">
            <a:extLst xmlns:a="http://schemas.openxmlformats.org/drawingml/2006/main">
              <a:ext uri="{FF2B5EF4-FFF2-40B4-BE49-F238E27FC236}">
                <a16:creationId xmlns:a16="http://schemas.microsoft.com/office/drawing/2014/main" id="{A961124C-1356-418A-909F-B072C647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PROBLEM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0DEFC1CB-F13A-4CFC-B49B-74FCBE1C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The failure happens before submission.</a:t>
            </a:r>
          </a:p>
        </p:txBody>
      </p:sp>
      <p:sp>
        <p:nvSpPr>
          <p:cNvPr id="3" name="footer-18">
            <a:extLst xmlns:a="http://schemas.openxmlformats.org/drawingml/2006/main">
              <a:ext uri="{FF2B5EF4-FFF2-40B4-BE49-F238E27FC236}">
                <a16:creationId xmlns:a16="http://schemas.microsoft.com/office/drawing/2014/main" id="{6A92A329-170A-4B54-8DB9-A7D1F9DD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28800C4E-3B39-476E-ACF9-6B786374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lede-20">
            <a:extLst xmlns:a="http://schemas.openxmlformats.org/drawingml/2006/main">
              <a:ext uri="{FF2B5EF4-FFF2-40B4-BE49-F238E27FC236}">
                <a16:creationId xmlns:a16="http://schemas.microsoft.com/office/drawing/2014/main" id="{A506CE46-EB4B-44A3-A586-CF5D3B3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enter the process without certainty—and discover mistakes only after an official reviews the file.</a:t>
            </a:r>
          </a:p>
        </p:txBody>
      </p:sp>
      <p:sp>
        <p:nvSpPr>
          <p:cNvPr id="6" name="rule-21">
            <a:extLst xmlns:a="http://schemas.openxmlformats.org/drawingml/2006/main">
              <a:ext uri="{FF2B5EF4-FFF2-40B4-BE49-F238E27FC236}">
                <a16:creationId xmlns:a16="http://schemas.microsoft.com/office/drawing/2014/main" id="{9F85A191-9944-465A-AF78-FD2EEC8B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22">
            <a:extLst xmlns:a="http://schemas.openxmlformats.org/drawingml/2006/main">
              <a:ext uri="{FF2B5EF4-FFF2-40B4-BE49-F238E27FC236}">
                <a16:creationId xmlns:a16="http://schemas.microsoft.com/office/drawing/2014/main" id="{ACE20614-971B-47AF-898D-194F2823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ule-23">
            <a:extLst xmlns:a="http://schemas.openxmlformats.org/drawingml/2006/main">
              <a:ext uri="{FF2B5EF4-FFF2-40B4-BE49-F238E27FC236}">
                <a16:creationId xmlns:a16="http://schemas.microsoft.com/office/drawing/2014/main" id="{D4E7F8CD-1C5A-4D10-82D6-A77D1C55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562225"/>
            <a:ext cx="95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number-24">
            <a:extLst xmlns:a="http://schemas.openxmlformats.org/drawingml/2006/main">
              <a:ext uri="{FF2B5EF4-FFF2-40B4-BE49-F238E27FC236}">
                <a16:creationId xmlns:a16="http://schemas.microsoft.com/office/drawing/2014/main" id="{942CF50E-EBC3-48B0-B64B-38EC733A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problem-25">
            <a:extLst xmlns:a="http://schemas.openxmlformats.org/drawingml/2006/main">
              <a:ext uri="{FF2B5EF4-FFF2-40B4-BE49-F238E27FC236}">
                <a16:creationId xmlns:a16="http://schemas.microsoft.com/office/drawing/2014/main" id="{C87BADAC-AE76-4841-9CC0-0968A88E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52775"/>
            <a:ext cx="2857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What do I
prepare?</a:t>
            </a:r>
          </a:p>
        </p:txBody>
      </p:sp>
      <p:sp>
        <p:nvSpPr>
          <p:cNvPr id="11" name="problem-copy-26">
            <a:extLst xmlns:a="http://schemas.openxmlformats.org/drawingml/2006/main">
              <a:ext uri="{FF2B5EF4-FFF2-40B4-BE49-F238E27FC236}">
                <a16:creationId xmlns:a16="http://schemas.microsoft.com/office/drawing/2014/main" id="{3E4E7DD4-1433-4E7E-A141-05352D9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Documents, forms, office, order of steps—information is fragmented and hard to interpret.</a:t>
            </a:r>
          </a:p>
        </p:txBody>
      </p:sp>
      <p:sp>
        <p:nvSpPr>
          <p:cNvPr id="12" name="number-27">
            <a:extLst xmlns:a="http://schemas.openxmlformats.org/drawingml/2006/main">
              <a:ext uri="{FF2B5EF4-FFF2-40B4-BE49-F238E27FC236}">
                <a16:creationId xmlns:a16="http://schemas.microsoft.com/office/drawing/2014/main" id="{8C8BB2AC-69D3-46E4-B301-3292080BD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problem-28">
            <a:extLst xmlns:a="http://schemas.openxmlformats.org/drawingml/2006/main">
              <a:ext uri="{FF2B5EF4-FFF2-40B4-BE49-F238E27FC236}">
                <a16:creationId xmlns:a16="http://schemas.microsoft.com/office/drawing/2014/main" id="{28670E0B-9578-4C9C-B3F7-D242770D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52775"/>
            <a:ext cx="28956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Did I fill it
in correctly?</a:t>
            </a:r>
          </a:p>
        </p:txBody>
      </p:sp>
      <p:sp>
        <p:nvSpPr>
          <p:cNvPr id="14" name="problem-copy-29">
            <a:extLst xmlns:a="http://schemas.openxmlformats.org/drawingml/2006/main">
              <a:ext uri="{FF2B5EF4-FFF2-40B4-BE49-F238E27FC236}">
                <a16:creationId xmlns:a16="http://schemas.microsoft.com/office/drawing/2014/main" id="{9F38B381-0547-4C64-8466-8D371B69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Missing fields and conflicts surface late—after time has already been spent submitting or traveling.</a:t>
            </a:r>
          </a:p>
        </p:txBody>
      </p:sp>
      <p:sp>
        <p:nvSpPr>
          <p:cNvPr id="15" name="number-30">
            <a:extLst xmlns:a="http://schemas.openxmlformats.org/drawingml/2006/main">
              <a:ext uri="{FF2B5EF4-FFF2-40B4-BE49-F238E27FC236}">
                <a16:creationId xmlns:a16="http://schemas.microsoft.com/office/drawing/2014/main" id="{37B862DD-6D40-4C9F-9FF5-74B9C02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762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problem-31">
            <a:extLst xmlns:a="http://schemas.openxmlformats.org/drawingml/2006/main">
              <a:ext uri="{FF2B5EF4-FFF2-40B4-BE49-F238E27FC236}">
                <a16:creationId xmlns:a16="http://schemas.microsoft.com/office/drawing/2014/main" id="{91FDD36A-94C4-49CC-8F91-17EA7C8C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29337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Who can
answer now?</a:t>
            </a:r>
          </a:p>
        </p:txBody>
      </p:sp>
      <p:sp>
        <p:nvSpPr>
          <p:cNvPr id="17" name="problem-copy-32">
            <a:extLst xmlns:a="http://schemas.openxmlformats.org/drawingml/2006/main">
              <a:ext uri="{FF2B5EF4-FFF2-40B4-BE49-F238E27FC236}">
                <a16:creationId xmlns:a16="http://schemas.microsoft.com/office/drawing/2014/main" id="{27013EDC-8381-48CD-806C-6831BB56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52950"/>
            <a:ext cx="29908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Too many repeat questions, too few officers—and citizens make avoidable in-person trips.</a:t>
            </a:r>
          </a:p>
        </p:txBody>
      </p:sp>
    </p:spTree>
    <p:extLst>
      <p:ext uri="{BB962C8B-B14F-4D97-AF65-F5344CB8AC3E}">
        <p14:creationId xmlns:p14="http://schemas.microsoft.com/office/powerpoint/2010/main" val="1146111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34">
            <a:extLst xmlns:a="http://schemas.openxmlformats.org/drawingml/2006/main">
              <a:ext uri="{FF2B5EF4-FFF2-40B4-BE49-F238E27FC236}">
                <a16:creationId xmlns:a16="http://schemas.microsoft.com/office/drawing/2014/main" id="{1FE81583-EDA2-494D-BA26-BC70322C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THE SOLUTION</a:t>
            </a:r>
          </a:p>
        </p:txBody>
      </p:sp>
      <p:sp>
        <p:nvSpPr>
          <p:cNvPr id="2" name="title-35">
            <a:extLst xmlns:a="http://schemas.openxmlformats.org/drawingml/2006/main">
              <a:ext uri="{FF2B5EF4-FFF2-40B4-BE49-F238E27FC236}">
                <a16:creationId xmlns:a16="http://schemas.microsoft.com/office/drawing/2014/main" id="{D9F6B750-585E-486F-AD06-D937ED5B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One guided flow turns uncertainty into action.</a:t>
            </a:r>
          </a:p>
        </p:txBody>
      </p:sp>
      <p:sp>
        <p:nvSpPr>
          <p:cNvPr id="3" name="footer-36">
            <a:extLst xmlns:a="http://schemas.openxmlformats.org/drawingml/2006/main">
              <a:ext uri="{FF2B5EF4-FFF2-40B4-BE49-F238E27FC236}">
                <a16:creationId xmlns:a16="http://schemas.microsoft.com/office/drawing/2014/main" id="{2CE30CEE-D8F9-45E7-A840-8ABD06B3D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37">
            <a:extLst xmlns:a="http://schemas.openxmlformats.org/drawingml/2006/main">
              <a:ext uri="{FF2B5EF4-FFF2-40B4-BE49-F238E27FC236}">
                <a16:creationId xmlns:a16="http://schemas.microsoft.com/office/drawing/2014/main" id="{CC0DA032-FB93-49E1-A1FF-D51FAE9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lede-38">
            <a:extLst xmlns:a="http://schemas.openxmlformats.org/drawingml/2006/main">
              <a:ext uri="{FF2B5EF4-FFF2-40B4-BE49-F238E27FC236}">
                <a16:creationId xmlns:a16="http://schemas.microsoft.com/office/drawing/2014/main" id="{90BA27C6-1CA6-416A-BFE5-AD5CC6C2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 citizen describes the need once. CivicPath AI clarifies, prepares, and checks—inside the portal they already use.</a:t>
            </a:r>
          </a:p>
        </p:txBody>
      </p:sp>
      <p:sp>
        <p:nvSpPr>
          <p:cNvPr id="6" name="rule-39">
            <a:extLst xmlns:a="http://schemas.openxmlformats.org/drawingml/2006/main">
              <a:ext uri="{FF2B5EF4-FFF2-40B4-BE49-F238E27FC236}">
                <a16:creationId xmlns:a16="http://schemas.microsoft.com/office/drawing/2014/main" id="{4F53BF1A-DE11-4E12-A7D5-9371905F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ep-node-40">
            <a:extLst xmlns:a="http://schemas.openxmlformats.org/drawingml/2006/main">
              <a:ext uri="{FF2B5EF4-FFF2-40B4-BE49-F238E27FC236}">
                <a16:creationId xmlns:a16="http://schemas.microsoft.com/office/drawing/2014/main" id="{134F4E51-3A8B-4F56-9D5C-5C0CF66F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ode-41">
            <a:extLst xmlns:a="http://schemas.openxmlformats.org/drawingml/2006/main">
              <a:ext uri="{FF2B5EF4-FFF2-40B4-BE49-F238E27FC236}">
                <a16:creationId xmlns:a16="http://schemas.microsoft.com/office/drawing/2014/main" id="{1E0566FF-FAE8-436E-8237-C5A1BF60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node-42">
            <a:extLst xmlns:a="http://schemas.openxmlformats.org/drawingml/2006/main">
              <a:ext uri="{FF2B5EF4-FFF2-40B4-BE49-F238E27FC236}">
                <a16:creationId xmlns:a16="http://schemas.microsoft.com/office/drawing/2014/main" id="{4B286F88-B2AB-40E0-9F47-A3BD4C3C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ep-node-43">
            <a:extLst xmlns:a="http://schemas.openxmlformats.org/drawingml/2006/main">
              <a:ext uri="{FF2B5EF4-FFF2-40B4-BE49-F238E27FC236}">
                <a16:creationId xmlns:a16="http://schemas.microsoft.com/office/drawing/2014/main" id="{C5307F83-71E0-49FC-89A2-2B417D00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ep-number-44">
            <a:extLst xmlns:a="http://schemas.openxmlformats.org/drawingml/2006/main">
              <a:ext uri="{FF2B5EF4-FFF2-40B4-BE49-F238E27FC236}">
                <a16:creationId xmlns:a16="http://schemas.microsoft.com/office/drawing/2014/main" id="{1D2E9B9D-AD56-4CE2-A07E-FAB8F753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2" name="step-number-45">
            <a:extLst xmlns:a="http://schemas.openxmlformats.org/drawingml/2006/main">
              <a:ext uri="{FF2B5EF4-FFF2-40B4-BE49-F238E27FC236}">
                <a16:creationId xmlns:a16="http://schemas.microsoft.com/office/drawing/2014/main" id="{723F9ACE-8908-4E4B-8E73-5B380B5E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step-number-46">
            <a:extLst xmlns:a="http://schemas.openxmlformats.org/drawingml/2006/main">
              <a:ext uri="{FF2B5EF4-FFF2-40B4-BE49-F238E27FC236}">
                <a16:creationId xmlns:a16="http://schemas.microsoft.com/office/drawing/2014/main" id="{7C031E6A-DDDF-4908-9223-914D2592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step-number-47">
            <a:extLst xmlns:a="http://schemas.openxmlformats.org/drawingml/2006/main">
              <a:ext uri="{FF2B5EF4-FFF2-40B4-BE49-F238E27FC236}">
                <a16:creationId xmlns:a16="http://schemas.microsoft.com/office/drawing/2014/main" id="{EA389A31-BD15-438B-B787-1BC873A8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4000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15" name="step-title-48">
            <a:extLst xmlns:a="http://schemas.openxmlformats.org/drawingml/2006/main">
              <a:ext uri="{FF2B5EF4-FFF2-40B4-BE49-F238E27FC236}">
                <a16:creationId xmlns:a16="http://schemas.microsoft.com/office/drawing/2014/main" id="{C4F085D8-DF12-4974-88C1-6DE4A222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Speak or type</a:t>
            </a:r>
          </a:p>
        </p:txBody>
      </p:sp>
      <p:sp>
        <p:nvSpPr>
          <p:cNvPr id="16" name="step-copy-49">
            <a:extLst xmlns:a="http://schemas.openxmlformats.org/drawingml/2006/main">
              <a:ext uri="{FF2B5EF4-FFF2-40B4-BE49-F238E27FC236}">
                <a16:creationId xmlns:a16="http://schemas.microsoft.com/office/drawing/2014/main" id="{473F91FB-B3A0-48D4-A01C-6EADF31B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2286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Describe the situation in everyday language.</a:t>
            </a:r>
          </a:p>
        </p:txBody>
      </p:sp>
      <p:sp>
        <p:nvSpPr>
          <p:cNvPr id="17" name="step-title-50">
            <a:extLst xmlns:a="http://schemas.openxmlformats.org/drawingml/2006/main">
              <a:ext uri="{FF2B5EF4-FFF2-40B4-BE49-F238E27FC236}">
                <a16:creationId xmlns:a16="http://schemas.microsoft.com/office/drawing/2014/main" id="{3136CE5E-13F3-4B72-BB2D-2B422304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Clarify</a:t>
            </a:r>
          </a:p>
        </p:txBody>
      </p:sp>
      <p:sp>
        <p:nvSpPr>
          <p:cNvPr id="18" name="step-copy-51">
            <a:extLst xmlns:a="http://schemas.openxmlformats.org/drawingml/2006/main">
              <a:ext uri="{FF2B5EF4-FFF2-40B4-BE49-F238E27FC236}">
                <a16:creationId xmlns:a16="http://schemas.microsoft.com/office/drawing/2014/main" id="{E2E47FAC-7C71-4EC3-B80B-78BB18F5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asks the next best question and detects applicable cases.</a:t>
            </a:r>
          </a:p>
        </p:txBody>
      </p:sp>
      <p:sp>
        <p:nvSpPr>
          <p:cNvPr id="19" name="step-title-52">
            <a:extLst xmlns:a="http://schemas.openxmlformats.org/drawingml/2006/main">
              <a:ext uri="{FF2B5EF4-FFF2-40B4-BE49-F238E27FC236}">
                <a16:creationId xmlns:a16="http://schemas.microsoft.com/office/drawing/2014/main" id="{57C290A5-996D-4468-BAD1-6BB6FCA0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Prepare</a:t>
            </a:r>
          </a:p>
        </p:txBody>
      </p:sp>
      <p:sp>
        <p:nvSpPr>
          <p:cNvPr id="20" name="step-copy-53">
            <a:extLst xmlns:a="http://schemas.openxmlformats.org/drawingml/2006/main">
              <a:ext uri="{FF2B5EF4-FFF2-40B4-BE49-F238E27FC236}">
                <a16:creationId xmlns:a16="http://schemas.microsoft.com/office/drawing/2014/main" id="{A1787D68-5CB3-444D-93F5-C061DA7C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Receive a case-aware checklist, steps, examples, and legal basis.</a:t>
            </a:r>
          </a:p>
        </p:txBody>
      </p:sp>
      <p:sp>
        <p:nvSpPr>
          <p:cNvPr id="21" name="step-title-54">
            <a:extLst xmlns:a="http://schemas.openxmlformats.org/drawingml/2006/main">
              <a:ext uri="{FF2B5EF4-FFF2-40B4-BE49-F238E27FC236}">
                <a16:creationId xmlns:a16="http://schemas.microsoft.com/office/drawing/2014/main" id="{7B1615A8-E6E3-46D7-914E-14C4941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600450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</p:txBody>
      </p:sp>
      <p:sp>
        <p:nvSpPr>
          <p:cNvPr id="22" name="step-copy-55">
            <a:extLst xmlns:a="http://schemas.openxmlformats.org/drawingml/2006/main">
              <a:ext uri="{FF2B5EF4-FFF2-40B4-BE49-F238E27FC236}">
                <a16:creationId xmlns:a16="http://schemas.microsoft.com/office/drawing/2014/main" id="{B74D3520-D995-4FB3-B094-B8D47121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067175"/>
            <a:ext cx="2286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Catch missing fields and conflicts before submission.</a:t>
            </a:r>
          </a:p>
        </p:txBody>
      </p:sp>
      <p:sp>
        <p:nvSpPr>
          <p:cNvPr id="23" name="takeaway-56">
            <a:extLst xmlns:a="http://schemas.openxmlformats.org/drawingml/2006/main">
              <a:ext uri="{FF2B5EF4-FFF2-40B4-BE49-F238E27FC236}">
                <a16:creationId xmlns:a16="http://schemas.microsoft.com/office/drawing/2014/main" id="{24E19BF9-CB87-47BF-8D31-9C74A4B8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keaway-copy-57">
            <a:extLst xmlns:a="http://schemas.openxmlformats.org/drawingml/2006/main">
              <a:ext uri="{FF2B5EF4-FFF2-40B4-BE49-F238E27FC236}">
                <a16:creationId xmlns:a16="http://schemas.microsoft.com/office/drawing/2014/main" id="{185BE9B7-BD39-431F-8BA5-5A9B21BF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00700"/>
            <a:ext cx="10525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No new app. No new portal. Embedded where citizens already are.</a:t>
            </a:r>
          </a:p>
        </p:txBody>
      </p:sp>
    </p:spTree>
    <p:extLst>
      <p:ext uri="{BB962C8B-B14F-4D97-AF65-F5344CB8AC3E}">
        <p14:creationId xmlns:p14="http://schemas.microsoft.com/office/powerpoint/2010/main" val="7769594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9">
            <a:extLst xmlns:a="http://schemas.openxmlformats.org/drawingml/2006/main">
              <a:ext uri="{FF2B5EF4-FFF2-40B4-BE49-F238E27FC236}">
                <a16:creationId xmlns:a16="http://schemas.microsoft.com/office/drawing/2014/main" id="{170A151D-A25C-4933-A72B-91A415F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1</a:t>
            </a:r>
          </a:p>
        </p:txBody>
      </p:sp>
      <p:sp>
        <p:nvSpPr>
          <p:cNvPr id="2" name="title-60">
            <a:extLst xmlns:a="http://schemas.openxmlformats.org/drawingml/2006/main">
              <a:ext uri="{FF2B5EF4-FFF2-40B4-BE49-F238E27FC236}">
                <a16:creationId xmlns:a16="http://schemas.microsoft.com/office/drawing/2014/main" id="{2681E3A2-2ABB-44E8-B575-86424A09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 intake makes the right procedure obvious.</a:t>
            </a:r>
          </a:p>
        </p:txBody>
      </p:sp>
      <p:sp>
        <p:nvSpPr>
          <p:cNvPr id="3" name="footer-61">
            <a:extLst xmlns:a="http://schemas.openxmlformats.org/drawingml/2006/main">
              <a:ext uri="{FF2B5EF4-FFF2-40B4-BE49-F238E27FC236}">
                <a16:creationId xmlns:a16="http://schemas.microsoft.com/office/drawing/2014/main" id="{DE300A26-D299-48F9-9F11-1EEEA6C7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62">
            <a:extLst xmlns:a="http://schemas.openxmlformats.org/drawingml/2006/main">
              <a:ext uri="{FF2B5EF4-FFF2-40B4-BE49-F238E27FC236}">
                <a16:creationId xmlns:a16="http://schemas.microsoft.com/office/drawing/2014/main" id="{091D0166-27E1-4EE4-AB2E-B3C5936E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creenshot-frame-63">
            <a:extLst xmlns:a="http://schemas.openxmlformats.org/drawingml/2006/main">
              <a:ext uri="{FF2B5EF4-FFF2-40B4-BE49-F238E27FC236}">
                <a16:creationId xmlns:a16="http://schemas.microsoft.com/office/drawing/2014/main" id="{CA3A8821-9E61-4A4C-995E-04202D1B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7000875" cy="3943350"/>
          </a:xfrm>
          <a:prstGeom xmlns:a="http://schemas.openxmlformats.org/drawingml/2006/main" prst="roundRect">
            <a:avLst>
              <a:gd name="adj" fmla="val 1932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aim-64">
            <a:extLst xmlns:a="http://schemas.openxmlformats.org/drawingml/2006/main">
              <a:ext uri="{FF2B5EF4-FFF2-40B4-BE49-F238E27FC236}">
                <a16:creationId xmlns:a16="http://schemas.microsoft.com/office/drawing/2014/main" id="{2DA251D3-8D91-4A39-B5FC-6BB79FBB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Plain-language in.
Case-aware guidance out.</a:t>
            </a:r>
          </a:p>
        </p:txBody>
      </p:sp>
      <p:sp>
        <p:nvSpPr>
          <p:cNvPr id="7" name="rule-65">
            <a:extLst xmlns:a="http://schemas.openxmlformats.org/drawingml/2006/main">
              <a:ext uri="{FF2B5EF4-FFF2-40B4-BE49-F238E27FC236}">
                <a16:creationId xmlns:a16="http://schemas.microsoft.com/office/drawing/2014/main" id="{6B3D7865-0A0E-4D66-87A7-51F100F8C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6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eature-label-66">
            <a:extLst xmlns:a="http://schemas.openxmlformats.org/drawingml/2006/main">
              <a:ext uri="{FF2B5EF4-FFF2-40B4-BE49-F238E27FC236}">
                <a16:creationId xmlns:a16="http://schemas.microsoft.com/office/drawing/2014/main" id="{3EBBF348-A874-4723-A2AB-ECB30115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24200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VIETNAMESE VOICE + TEXT</a:t>
            </a:r>
          </a:p>
        </p:txBody>
      </p:sp>
      <p:sp>
        <p:nvSpPr>
          <p:cNvPr id="9" name="feature-copy-67">
            <a:extLst xmlns:a="http://schemas.openxmlformats.org/drawingml/2006/main">
              <a:ext uri="{FF2B5EF4-FFF2-40B4-BE49-F238E27FC236}">
                <a16:creationId xmlns:a16="http://schemas.microsoft.com/office/drawing/2014/main" id="{BB88DBFA-F739-425D-B6FC-C954DAF8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9950"/>
            <a:ext cx="3219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Citizens speak naturally, review the transcript, and edit before sending.</a:t>
            </a:r>
          </a:p>
        </p:txBody>
      </p:sp>
      <p:sp>
        <p:nvSpPr>
          <p:cNvPr id="10" name="feature-label-68">
            <a:extLst xmlns:a="http://schemas.openxmlformats.org/drawingml/2006/main">
              <a:ext uri="{FF2B5EF4-FFF2-40B4-BE49-F238E27FC236}">
                <a16:creationId xmlns:a16="http://schemas.microsoft.com/office/drawing/2014/main" id="{4DCB29A1-16A9-4508-B4E8-CFE669DA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95775"/>
            <a:ext cx="2952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MULTI-CASE CLASSIFICATION</a:t>
            </a:r>
          </a:p>
        </p:txBody>
      </p:sp>
      <p:sp>
        <p:nvSpPr>
          <p:cNvPr id="11" name="feature-copy-69">
            <a:extLst xmlns:a="http://schemas.openxmlformats.org/drawingml/2006/main">
              <a:ext uri="{FF2B5EF4-FFF2-40B4-BE49-F238E27FC236}">
                <a16:creationId xmlns:a16="http://schemas.microsoft.com/office/drawing/2014/main" id="{B26406A9-4E42-4A6D-9072-FE7F5F1F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81525"/>
            <a:ext cx="32194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One session can combine out-of-wedlock, overdue, foreign-element, and exceptional cases.</a:t>
            </a:r>
          </a:p>
        </p:txBody>
      </p:sp>
      <p:sp>
        <p:nvSpPr>
          <p:cNvPr id="12" name="evidence-70">
            <a:extLst xmlns:a="http://schemas.openxmlformats.org/drawingml/2006/main">
              <a:ext uri="{FF2B5EF4-FFF2-40B4-BE49-F238E27FC236}">
                <a16:creationId xmlns:a16="http://schemas.microsoft.com/office/drawing/2014/main" id="{BB2937B8-037C-46D6-831B-ADF04866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67375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LIVE DEMO · 19 JUL 2026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0b95f56284bdf"/>
          <a:stretch xmlns:a="http://schemas.openxmlformats.org/drawingml/2006/main"/>
        </p:blipFill>
        <p:spPr>
          <a:xfrm xmlns:a="http://schemas.openxmlformats.org/drawingml/2006/main">
            <a:off x="651379" y="1809750"/>
            <a:ext cx="6803017" cy="3829050"/>
          </a:xfrm>
          <a:prstGeom xmlns:a="http://schemas.openxmlformats.org/drawingml/2006/main" prst="roundRect">
            <a:avLst>
              <a:gd name="adj" fmla="val 2985"/>
            </a:avLst>
          </a:prstGeom>
        </p:spPr>
      </p:pic>
    </p:spTree>
    <p:extLst>
      <p:ext uri="{BB962C8B-B14F-4D97-AF65-F5344CB8AC3E}">
        <p14:creationId xmlns:p14="http://schemas.microsoft.com/office/powerpoint/2010/main" val="12602929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-72">
            <a:extLst xmlns:a="http://schemas.openxmlformats.org/drawingml/2006/main">
              <a:ext uri="{FF2B5EF4-FFF2-40B4-BE49-F238E27FC236}">
                <a16:creationId xmlns:a16="http://schemas.microsoft.com/office/drawing/2014/main" id="{DDF3B325-0408-4F4A-AEF8-2F179CDA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2</a:t>
            </a:r>
          </a:p>
        </p:txBody>
      </p:sp>
      <p:sp>
        <p:nvSpPr>
          <p:cNvPr id="2" name="title-73">
            <a:extLst xmlns:a="http://schemas.openxmlformats.org/drawingml/2006/main">
              <a:ext uri="{FF2B5EF4-FFF2-40B4-BE49-F238E27FC236}">
                <a16:creationId xmlns:a16="http://schemas.microsoft.com/office/drawing/2014/main" id="{1181A8B1-5308-4095-992E-CF0E2546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Pre-check catches what citizens and portals miss.</a:t>
            </a:r>
          </a:p>
        </p:txBody>
      </p:sp>
      <p:sp>
        <p:nvSpPr>
          <p:cNvPr id="3" name="footer-74">
            <a:extLst xmlns:a="http://schemas.openxmlformats.org/drawingml/2006/main">
              <a:ext uri="{FF2B5EF4-FFF2-40B4-BE49-F238E27FC236}">
                <a16:creationId xmlns:a16="http://schemas.microsoft.com/office/drawing/2014/main" id="{A91098AE-47CA-402D-8ACD-ECF8B5D14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9E79C5B5-1CBC-4036-9378-DE4E1029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live-number-76">
            <a:extLst xmlns:a="http://schemas.openxmlformats.org/drawingml/2006/main">
              <a:ext uri="{FF2B5EF4-FFF2-40B4-BE49-F238E27FC236}">
                <a16:creationId xmlns:a16="http://schemas.microsoft.com/office/drawing/2014/main" id="{4C1B322C-2164-4A64-BA37-C4B8A3EF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428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1">
                <a:solidFill>
                  <a:srgbClr val="DC2626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6" name="live-label-77">
            <a:extLst xmlns:a="http://schemas.openxmlformats.org/drawingml/2006/main">
              <a:ext uri="{FF2B5EF4-FFF2-40B4-BE49-F238E27FC236}">
                <a16:creationId xmlns:a16="http://schemas.microsoft.com/office/drawing/2014/main" id="{40441A1C-45D6-4ADA-A531-42FAAEC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3048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errors caught in the live demo</a:t>
            </a:r>
          </a:p>
        </p:txBody>
      </p:sp>
      <p:sp>
        <p:nvSpPr>
          <p:cNvPr id="7" name="explanation-78">
            <a:extLst xmlns:a="http://schemas.openxmlformats.org/drawingml/2006/main">
              <a:ext uri="{FF2B5EF4-FFF2-40B4-BE49-F238E27FC236}">
                <a16:creationId xmlns:a16="http://schemas.microsoft.com/office/drawing/2014/main" id="{C0180472-C8F9-40D3-9102-2F50E148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1051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Mandatory errors come from deterministic rules. AI only adds clearly separated warnings for uncertain exceptions.</a:t>
            </a:r>
          </a:p>
        </p:txBody>
      </p:sp>
      <p:sp>
        <p:nvSpPr>
          <p:cNvPr id="8" name="rule-79">
            <a:extLst xmlns:a="http://schemas.openxmlformats.org/drawingml/2006/main">
              <a:ext uri="{FF2B5EF4-FFF2-40B4-BE49-F238E27FC236}">
                <a16:creationId xmlns:a16="http://schemas.microsoft.com/office/drawing/2014/main" id="{593EE681-83AE-497F-8BE8-C5533C4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76800"/>
            <a:ext cx="3086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ule-types-80">
            <a:extLst xmlns:a="http://schemas.openxmlformats.org/drawingml/2006/main">
              <a:ext uri="{FF2B5EF4-FFF2-40B4-BE49-F238E27FC236}">
                <a16:creationId xmlns:a16="http://schemas.microsoft.com/office/drawing/2014/main" id="{8E2A4CE9-DC39-48CA-B081-3CBB0CAD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3190875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REQUIRED · CONDITIONAL · CROSS-FIELD</a:t>
            </a:r>
          </a:p>
        </p:txBody>
      </p:sp>
      <p:sp>
        <p:nvSpPr>
          <p:cNvPr id="10" name="rule-copy-81">
            <a:extLst xmlns:a="http://schemas.openxmlformats.org/drawingml/2006/main">
              <a:ext uri="{FF2B5EF4-FFF2-40B4-BE49-F238E27FC236}">
                <a16:creationId xmlns:a16="http://schemas.microsoft.com/office/drawing/2014/main" id="{A51A0BD3-F46D-408E-975F-59864B5C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304800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Each issue includes a suggested fix and traceable legal basis.</a:t>
            </a:r>
          </a:p>
        </p:txBody>
      </p:sp>
      <p:sp>
        <p:nvSpPr>
          <p:cNvPr id="11" name="screenshot-frame-82">
            <a:extLst xmlns:a="http://schemas.openxmlformats.org/drawingml/2006/main">
              <a:ext uri="{FF2B5EF4-FFF2-40B4-BE49-F238E27FC236}">
                <a16:creationId xmlns:a16="http://schemas.microsoft.com/office/drawing/2014/main" id="{9853E99D-8A88-4ECB-8B7B-EB350D17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90700"/>
            <a:ext cx="7553325" cy="4248150"/>
          </a:xfrm>
          <a:prstGeom xmlns:a="http://schemas.openxmlformats.org/drawingml/2006/main" prst="roundRect">
            <a:avLst>
              <a:gd name="adj" fmla="val 1794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f5416ca4242a6"/>
          <a:stretch xmlns:a="http://schemas.openxmlformats.org/drawingml/2006/main"/>
        </p:blipFill>
        <p:spPr>
          <a:xfrm xmlns:a="http://schemas.openxmlformats.org/drawingml/2006/main">
            <a:off x="4190612" y="1847850"/>
            <a:ext cx="7344551" cy="4133850"/>
          </a:xfrm>
          <a:prstGeom xmlns:a="http://schemas.openxmlformats.org/drawingml/2006/main" prst="roundRect">
            <a:avLst>
              <a:gd name="adj" fmla="val 2765"/>
            </a:avLst>
          </a:prstGeom>
        </p:spPr>
      </p:pic>
    </p:spTree>
    <p:extLst>
      <p:ext uri="{BB962C8B-B14F-4D97-AF65-F5344CB8AC3E}">
        <p14:creationId xmlns:p14="http://schemas.microsoft.com/office/powerpoint/2010/main" val="588942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84">
            <a:extLst xmlns:a="http://schemas.openxmlformats.org/drawingml/2006/main">
              <a:ext uri="{FF2B5EF4-FFF2-40B4-BE49-F238E27FC236}">
                <a16:creationId xmlns:a16="http://schemas.microsoft.com/office/drawing/2014/main" id="{C73D5674-E6DD-4983-90B2-109E08B3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ACCURACY + SAFETY</a:t>
            </a:r>
          </a:p>
        </p:txBody>
      </p:sp>
      <p:sp>
        <p:nvSpPr>
          <p:cNvPr id="2" name="title-85">
            <a:extLst xmlns:a="http://schemas.openxmlformats.org/drawingml/2006/main">
              <a:ext uri="{FF2B5EF4-FFF2-40B4-BE49-F238E27FC236}">
                <a16:creationId xmlns:a16="http://schemas.microsoft.com/office/drawing/2014/main" id="{1167CC6F-81A1-40FC-88FB-E7E12FE5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Trust is engineered into the decision path.</a:t>
            </a:r>
          </a:p>
        </p:txBody>
      </p:sp>
      <p:sp>
        <p:nvSpPr>
          <p:cNvPr id="3" name="footer-86">
            <a:extLst xmlns:a="http://schemas.openxmlformats.org/drawingml/2006/main">
              <a:ext uri="{FF2B5EF4-FFF2-40B4-BE49-F238E27FC236}">
                <a16:creationId xmlns:a16="http://schemas.microsoft.com/office/drawing/2014/main" id="{F7049D68-55D9-4284-B391-670B080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87">
            <a:extLst xmlns:a="http://schemas.openxmlformats.org/drawingml/2006/main">
              <a:ext uri="{FF2B5EF4-FFF2-40B4-BE49-F238E27FC236}">
                <a16:creationId xmlns:a16="http://schemas.microsoft.com/office/drawing/2014/main" id="{16B48073-2327-4F2D-87E9-EB047257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lede-88">
            <a:extLst xmlns:a="http://schemas.openxmlformats.org/drawingml/2006/main">
              <a:ext uri="{FF2B5EF4-FFF2-40B4-BE49-F238E27FC236}">
                <a16:creationId xmlns:a16="http://schemas.microsoft.com/office/drawing/2014/main" id="{66B9BA85-B169-46F1-9297-62DE336D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AI interprets. Rules validate. Officers decide exceptions.</a:t>
            </a:r>
          </a:p>
        </p:txBody>
      </p:sp>
      <p:sp>
        <p:nvSpPr>
          <p:cNvPr id="6" name="rule-89">
            <a:extLst xmlns:a="http://schemas.openxmlformats.org/drawingml/2006/main">
              <a:ext uri="{FF2B5EF4-FFF2-40B4-BE49-F238E27FC236}">
                <a16:creationId xmlns:a16="http://schemas.microsoft.com/office/drawing/2014/main" id="{BA59500A-4321-4711-A259-4143381C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52800"/>
            <a:ext cx="7410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st-panel-90">
            <a:extLst xmlns:a="http://schemas.openxmlformats.org/drawingml/2006/main">
              <a:ext uri="{FF2B5EF4-FFF2-40B4-BE49-F238E27FC236}">
                <a16:creationId xmlns:a16="http://schemas.microsoft.com/office/drawing/2014/main" id="{A3A34FCD-4CAD-49C2-9B50-A5681348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rust-panel-91">
            <a:extLst xmlns:a="http://schemas.openxmlformats.org/drawingml/2006/main">
              <a:ext uri="{FF2B5EF4-FFF2-40B4-BE49-F238E27FC236}">
                <a16:creationId xmlns:a16="http://schemas.microsoft.com/office/drawing/2014/main" id="{BAAC9A43-1936-42F0-9AC2-E83D8BE3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rust-panel-92">
            <a:extLst xmlns:a="http://schemas.openxmlformats.org/drawingml/2006/main">
              <a:ext uri="{FF2B5EF4-FFF2-40B4-BE49-F238E27FC236}">
                <a16:creationId xmlns:a16="http://schemas.microsoft.com/office/drawing/2014/main" id="{417C78E8-BC01-43A1-8B13-E13F3FB3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43125"/>
            <a:ext cx="32194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10" name="arrow-node-93">
            <a:extLst xmlns:a="http://schemas.openxmlformats.org/drawingml/2006/main">
              <a:ext uri="{FF2B5EF4-FFF2-40B4-BE49-F238E27FC236}">
                <a16:creationId xmlns:a16="http://schemas.microsoft.com/office/drawing/2014/main" id="{6379B6F2-69DE-41F5-A916-7468F636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rrow-node-94">
            <a:extLst xmlns:a="http://schemas.openxmlformats.org/drawingml/2006/main">
              <a:ext uri="{FF2B5EF4-FFF2-40B4-BE49-F238E27FC236}">
                <a16:creationId xmlns:a16="http://schemas.microsoft.com/office/drawing/2014/main" id="{0B9D257A-2CFE-4764-B8BC-E0C4334D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rrow-95">
            <a:extLst xmlns:a="http://schemas.openxmlformats.org/drawingml/2006/main">
              <a:ext uri="{FF2B5EF4-FFF2-40B4-BE49-F238E27FC236}">
                <a16:creationId xmlns:a16="http://schemas.microsoft.com/office/drawing/2014/main" id="{07C18B91-2FBD-49B7-A10C-6D0F2B56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3" name="arrow-96">
            <a:extLst xmlns:a="http://schemas.openxmlformats.org/drawingml/2006/main">
              <a:ext uri="{FF2B5EF4-FFF2-40B4-BE49-F238E27FC236}">
                <a16:creationId xmlns:a16="http://schemas.microsoft.com/office/drawing/2014/main" id="{D496EA62-4EB9-4561-A9F5-01D38E2F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219450"/>
            <a:ext cx="381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layer-label-97">
            <a:extLst xmlns:a="http://schemas.openxmlformats.org/drawingml/2006/main">
              <a:ext uri="{FF2B5EF4-FFF2-40B4-BE49-F238E27FC236}">
                <a16:creationId xmlns:a16="http://schemas.microsoft.com/office/drawing/2014/main" id="{3C01FE34-0494-4FEE-AC0E-0F9D1ACF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 · AI LAYER</a:t>
            </a:r>
          </a:p>
        </p:txBody>
      </p:sp>
      <p:sp>
        <p:nvSpPr>
          <p:cNvPr id="15" name="layer-title-98">
            <a:extLst xmlns:a="http://schemas.openxmlformats.org/drawingml/2006/main">
              <a:ext uri="{FF2B5EF4-FFF2-40B4-BE49-F238E27FC236}">
                <a16:creationId xmlns:a16="http://schemas.microsoft.com/office/drawing/2014/main" id="{3AEB5E7B-5B01-42B7-A637-0A047D6B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Understand
the situation</a:t>
            </a:r>
          </a:p>
        </p:txBody>
      </p:sp>
      <p:sp>
        <p:nvSpPr>
          <p:cNvPr id="16" name="layer-copy-99">
            <a:extLst xmlns:a="http://schemas.openxmlformats.org/drawingml/2006/main">
              <a:ext uri="{FF2B5EF4-FFF2-40B4-BE49-F238E27FC236}">
                <a16:creationId xmlns:a16="http://schemas.microsoft.com/office/drawing/2014/main" id="{A05D80A3-4740-41A4-9A07-7AC6E862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Extract facts, classify cases, and explain the next step in plain Vietnamese.</a:t>
            </a:r>
          </a:p>
        </p:txBody>
      </p:sp>
      <p:sp>
        <p:nvSpPr>
          <p:cNvPr id="17" name="layer-label-100">
            <a:extLst xmlns:a="http://schemas.openxmlformats.org/drawingml/2006/main">
              <a:ext uri="{FF2B5EF4-FFF2-40B4-BE49-F238E27FC236}">
                <a16:creationId xmlns:a16="http://schemas.microsoft.com/office/drawing/2014/main" id="{3D55EDF5-AC0E-435A-869E-2B2EC0DB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02 · RULE LAYER</a:t>
            </a:r>
          </a:p>
        </p:txBody>
      </p:sp>
      <p:sp>
        <p:nvSpPr>
          <p:cNvPr id="18" name="layer-title-101">
            <a:extLst xmlns:a="http://schemas.openxmlformats.org/drawingml/2006/main">
              <a:ext uri="{FF2B5EF4-FFF2-40B4-BE49-F238E27FC236}">
                <a16:creationId xmlns:a16="http://schemas.microsoft.com/office/drawing/2014/main" id="{5FEC4122-BB62-480B-8FAB-B5516F41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Validate
what matters</a:t>
            </a:r>
          </a:p>
        </p:txBody>
      </p:sp>
      <p:sp>
        <p:nvSpPr>
          <p:cNvPr id="19" name="layer-copy-102">
            <a:extLst xmlns:a="http://schemas.openxmlformats.org/drawingml/2006/main">
              <a:ext uri="{FF2B5EF4-FFF2-40B4-BE49-F238E27FC236}">
                <a16:creationId xmlns:a16="http://schemas.microsoft.com/office/drawing/2014/main" id="{CD4E8290-9832-4BAB-91C5-07B1E0C0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Versioned checklists, validation rules, documents, and legal references live in the backend.</a:t>
            </a:r>
          </a:p>
        </p:txBody>
      </p:sp>
      <p:sp>
        <p:nvSpPr>
          <p:cNvPr id="20" name="layer-label-103">
            <a:extLst xmlns:a="http://schemas.openxmlformats.org/drawingml/2006/main">
              <a:ext uri="{FF2B5EF4-FFF2-40B4-BE49-F238E27FC236}">
                <a16:creationId xmlns:a16="http://schemas.microsoft.com/office/drawing/2014/main" id="{6F46149D-6F6E-4590-84E7-0761A134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28875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03 · HUMAN LAYER</a:t>
            </a:r>
          </a:p>
        </p:txBody>
      </p:sp>
      <p:sp>
        <p:nvSpPr>
          <p:cNvPr id="21" name="layer-title-104">
            <a:extLst xmlns:a="http://schemas.openxmlformats.org/drawingml/2006/main">
              <a:ext uri="{FF2B5EF4-FFF2-40B4-BE49-F238E27FC236}">
                <a16:creationId xmlns:a16="http://schemas.microsoft.com/office/drawing/2014/main" id="{F3DF4B75-C60D-41B3-9B17-BBCCE2A3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Handle
exceptions</a:t>
            </a:r>
          </a:p>
        </p:txBody>
      </p:sp>
      <p:sp>
        <p:nvSpPr>
          <p:cNvPr id="22" name="layer-copy-105">
            <a:extLst xmlns:a="http://schemas.openxmlformats.org/drawingml/2006/main">
              <a:ext uri="{FF2B5EF4-FFF2-40B4-BE49-F238E27FC236}">
                <a16:creationId xmlns:a16="http://schemas.microsoft.com/office/drawing/2014/main" id="{DA9237C9-F1C6-4484-A312-784096F1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00500"/>
            <a:ext cx="2571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Rare, conflicting, or uncertain cases are escalated for civil-status officer confirmation.</a:t>
            </a:r>
          </a:p>
        </p:txBody>
      </p:sp>
      <p:sp>
        <p:nvSpPr>
          <p:cNvPr id="23" name="source-band-106">
            <a:extLst xmlns:a="http://schemas.openxmlformats.org/drawingml/2006/main">
              <a:ext uri="{FF2B5EF4-FFF2-40B4-BE49-F238E27FC236}">
                <a16:creationId xmlns:a16="http://schemas.microsoft.com/office/drawing/2014/main" id="{1FC9449B-2EFC-41CC-A8C6-81D7E41C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10871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ource-copy-107">
            <a:extLst xmlns:a="http://schemas.openxmlformats.org/drawingml/2006/main">
              <a:ext uri="{FF2B5EF4-FFF2-40B4-BE49-F238E27FC236}">
                <a16:creationId xmlns:a16="http://schemas.microsoft.com/office/drawing/2014/main" id="{59132AE8-7500-43A5-9E00-C91B6622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648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06 official National Public Service Portal links are exposed by the live /trust endpoint for direct verification.</a:t>
            </a:r>
          </a:p>
        </p:txBody>
      </p:sp>
    </p:spTree>
    <p:extLst>
      <p:ext uri="{BB962C8B-B14F-4D97-AF65-F5344CB8AC3E}">
        <p14:creationId xmlns:p14="http://schemas.microsoft.com/office/powerpoint/2010/main" val="482180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09">
            <a:extLst xmlns:a="http://schemas.openxmlformats.org/drawingml/2006/main">
              <a:ext uri="{FF2B5EF4-FFF2-40B4-BE49-F238E27FC236}">
                <a16:creationId xmlns:a16="http://schemas.microsoft.com/office/drawing/2014/main" id="{DF2F3205-B6CC-4C76-9C19-3A9A3D6C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SYSTEM DESIGN</a:t>
            </a:r>
          </a:p>
        </p:txBody>
      </p:sp>
      <p:sp>
        <p:nvSpPr>
          <p:cNvPr id="2" name="title-110">
            <a:extLst xmlns:a="http://schemas.openxmlformats.org/drawingml/2006/main">
              <a:ext uri="{FF2B5EF4-FFF2-40B4-BE49-F238E27FC236}">
                <a16:creationId xmlns:a16="http://schemas.microsoft.com/office/drawing/2014/main" id="{8457E530-D8B5-4F4E-BB69-CA6D2801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production-shaped architecture, not a mockup.</a:t>
            </a:r>
          </a:p>
        </p:txBody>
      </p:sp>
      <p:sp>
        <p:nvSpPr>
          <p:cNvPr id="3" name="footer-111">
            <a:extLst xmlns:a="http://schemas.openxmlformats.org/drawingml/2006/main">
              <a:ext uri="{FF2B5EF4-FFF2-40B4-BE49-F238E27FC236}">
                <a16:creationId xmlns:a16="http://schemas.microsoft.com/office/drawing/2014/main" id="{5B4D98FD-A2E1-407C-8C98-CE14383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12">
            <a:extLst xmlns:a="http://schemas.openxmlformats.org/drawingml/2006/main">
              <a:ext uri="{FF2B5EF4-FFF2-40B4-BE49-F238E27FC236}">
                <a16:creationId xmlns:a16="http://schemas.microsoft.com/office/drawing/2014/main" id="{07C0CA0C-68A7-4585-AC6B-C1064774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architecture-frame-113">
            <a:extLst xmlns:a="http://schemas.openxmlformats.org/drawingml/2006/main">
              <a:ext uri="{FF2B5EF4-FFF2-40B4-BE49-F238E27FC236}">
                <a16:creationId xmlns:a16="http://schemas.microsoft.com/office/drawing/2014/main" id="{5BFCC86C-4A8B-4E3C-9DC9-08DE648BF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723900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6" name="stack-label-114">
            <a:extLst xmlns:a="http://schemas.openxmlformats.org/drawingml/2006/main">
              <a:ext uri="{FF2B5EF4-FFF2-40B4-BE49-F238E27FC236}">
                <a16:creationId xmlns:a16="http://schemas.microsoft.com/office/drawing/2014/main" id="{523886D4-ED48-43E3-821A-CA69D0AB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859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CITIZEN + OFFICER UX</a:t>
            </a:r>
          </a:p>
        </p:txBody>
      </p:sp>
      <p:sp>
        <p:nvSpPr>
          <p:cNvPr id="7" name="stack-value-115">
            <a:extLst xmlns:a="http://schemas.openxmlformats.org/drawingml/2006/main">
              <a:ext uri="{FF2B5EF4-FFF2-40B4-BE49-F238E27FC236}">
                <a16:creationId xmlns:a16="http://schemas.microsoft.com/office/drawing/2014/main" id="{E1E14E63-75BD-4F46-AAB2-90D1749B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23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Next.js 16 · Tailwind CSS 4</a:t>
            </a:r>
          </a:p>
        </p:txBody>
      </p:sp>
      <p:sp>
        <p:nvSpPr>
          <p:cNvPr id="8" name="rule-116">
            <a:extLst xmlns:a="http://schemas.openxmlformats.org/drawingml/2006/main">
              <a:ext uri="{FF2B5EF4-FFF2-40B4-BE49-F238E27FC236}">
                <a16:creationId xmlns:a16="http://schemas.microsoft.com/office/drawing/2014/main" id="{4973D1EB-FEEF-47B8-858A-EC2F1F2E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0300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ck-label-117">
            <a:extLst xmlns:a="http://schemas.openxmlformats.org/drawingml/2006/main">
              <a:ext uri="{FF2B5EF4-FFF2-40B4-BE49-F238E27FC236}">
                <a16:creationId xmlns:a16="http://schemas.microsoft.com/office/drawing/2014/main" id="{D46DBAE7-90B1-450B-9D37-C442F8B1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TRUSTED SERVICE LAYER</a:t>
            </a:r>
          </a:p>
        </p:txBody>
      </p:sp>
      <p:sp>
        <p:nvSpPr>
          <p:cNvPr id="10" name="stack-value-118">
            <a:extLst xmlns:a="http://schemas.openxmlformats.org/drawingml/2006/main">
              <a:ext uri="{FF2B5EF4-FFF2-40B4-BE49-F238E27FC236}">
                <a16:creationId xmlns:a16="http://schemas.microsoft.com/office/drawing/2014/main" id="{3AE62EC1-5E64-4F1D-AA31-FFAEB41D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14650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FastAPI · SQLAlchemy · rule engine · PDF</a:t>
            </a:r>
          </a:p>
        </p:txBody>
      </p:sp>
      <p:sp>
        <p:nvSpPr>
          <p:cNvPr id="11" name="rule-119">
            <a:extLst xmlns:a="http://schemas.openxmlformats.org/drawingml/2006/main">
              <a:ext uri="{FF2B5EF4-FFF2-40B4-BE49-F238E27FC236}">
                <a16:creationId xmlns:a16="http://schemas.microsoft.com/office/drawing/2014/main" id="{AE31F736-8646-4C80-9FFD-8B45172C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09975"/>
            <a:ext cx="3219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ack-label-120">
            <a:extLst xmlns:a="http://schemas.openxmlformats.org/drawingml/2006/main">
              <a:ext uri="{FF2B5EF4-FFF2-40B4-BE49-F238E27FC236}">
                <a16:creationId xmlns:a16="http://schemas.microsoft.com/office/drawing/2014/main" id="{66598C22-169E-41E3-885E-415B065A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143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EVIDENCE + AI</a:t>
            </a:r>
          </a:p>
        </p:txBody>
      </p:sp>
      <p:sp>
        <p:nvSpPr>
          <p:cNvPr id="13" name="stack-value-121">
            <a:extLst xmlns:a="http://schemas.openxmlformats.org/drawingml/2006/main">
              <a:ext uri="{FF2B5EF4-FFF2-40B4-BE49-F238E27FC236}">
                <a16:creationId xmlns:a16="http://schemas.microsoft.com/office/drawing/2014/main" id="{3F93F1E9-7078-415A-8D9A-8EA8E4A7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24325"/>
            <a:ext cx="3238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Neon Postgres · official sources · OpenAI API</a:t>
            </a:r>
          </a:p>
        </p:txBody>
      </p:sp>
      <p:sp>
        <p:nvSpPr>
          <p:cNvPr id="14" name="models-122">
            <a:extLst xmlns:a="http://schemas.openxmlformats.org/drawingml/2006/main">
              <a:ext uri="{FF2B5EF4-FFF2-40B4-BE49-F238E27FC236}">
                <a16:creationId xmlns:a16="http://schemas.microsoft.com/office/drawing/2014/main" id="{8A0091A2-D42C-45A3-A12D-1D91D68E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86300"/>
            <a:ext cx="3219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odels-label-123">
            <a:extLst xmlns:a="http://schemas.openxmlformats.org/drawingml/2006/main">
              <a:ext uri="{FF2B5EF4-FFF2-40B4-BE49-F238E27FC236}">
                <a16:creationId xmlns:a16="http://schemas.microsoft.com/office/drawing/2014/main" id="{53AD7465-F187-4952-AB49-14BEFF66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95850"/>
            <a:ext cx="2762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MODELS</a:t>
            </a:r>
          </a:p>
        </p:txBody>
      </p:sp>
      <p:sp>
        <p:nvSpPr>
          <p:cNvPr id="16" name="models-copy-124">
            <a:extLst xmlns:a="http://schemas.openxmlformats.org/drawingml/2006/main">
              <a:ext uri="{FF2B5EF4-FFF2-40B4-BE49-F238E27FC236}">
                <a16:creationId xmlns:a16="http://schemas.microsoft.com/office/drawing/2014/main" id="{5C3A01D9-E7C7-43A1-A3AC-710ED280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62550"/>
            <a:ext cx="2762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gpt-4.1-mini · classification + conversation
gpt-4o-transcribe · Vietnamese speech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7e6aa8af94764"/>
          <a:stretch xmlns:a="http://schemas.openxmlformats.org/drawingml/2006/main"/>
        </p:blipFill>
        <p:spPr>
          <a:xfrm xmlns:a="http://schemas.openxmlformats.org/drawingml/2006/main">
            <a:off x="727968" y="1657350"/>
            <a:ext cx="6887963" cy="4305300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</p:spTree>
    <p:extLst>
      <p:ext uri="{BB962C8B-B14F-4D97-AF65-F5344CB8AC3E}">
        <p14:creationId xmlns:p14="http://schemas.microsoft.com/office/powerpoint/2010/main" val="1016501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126">
            <a:extLst xmlns:a="http://schemas.openxmlformats.org/drawingml/2006/main">
              <a:ext uri="{FF2B5EF4-FFF2-40B4-BE49-F238E27FC236}">
                <a16:creationId xmlns:a16="http://schemas.microsoft.com/office/drawing/2014/main" id="{CFB1DF20-3F97-4E30-BC09-278D6657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CAPABILITY 3</a:t>
            </a:r>
          </a:p>
        </p:txBody>
      </p:sp>
      <p:sp>
        <p:nvSpPr>
          <p:cNvPr id="2" name="title-127">
            <a:extLst xmlns:a="http://schemas.openxmlformats.org/drawingml/2006/main">
              <a:ext uri="{FF2B5EF4-FFF2-40B4-BE49-F238E27FC236}">
                <a16:creationId xmlns:a16="http://schemas.microsoft.com/office/drawing/2014/main" id="{A000D07D-9A9D-428B-B2B9-3EDC8525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Built for current portals—not another app.</a:t>
            </a:r>
          </a:p>
        </p:txBody>
      </p:sp>
      <p:sp>
        <p:nvSpPr>
          <p:cNvPr id="3" name="footer-128">
            <a:extLst xmlns:a="http://schemas.openxmlformats.org/drawingml/2006/main">
              <a:ext uri="{FF2B5EF4-FFF2-40B4-BE49-F238E27FC236}">
                <a16:creationId xmlns:a16="http://schemas.microsoft.com/office/drawing/2014/main" id="{28EAB1F5-1B13-4A13-A95D-BA0EAF43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29">
            <a:extLst xmlns:a="http://schemas.openxmlformats.org/drawingml/2006/main">
              <a:ext uri="{FF2B5EF4-FFF2-40B4-BE49-F238E27FC236}">
                <a16:creationId xmlns:a16="http://schemas.microsoft.com/office/drawing/2014/main" id="{3B601D37-3474-473E-905A-1A73079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lede-130">
            <a:extLst xmlns:a="http://schemas.openxmlformats.org/drawingml/2006/main">
              <a:ext uri="{FF2B5EF4-FFF2-40B4-BE49-F238E27FC236}">
                <a16:creationId xmlns:a16="http://schemas.microsoft.com/office/drawing/2014/main" id="{2CBA711E-3C9A-4263-9627-576DD0FF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96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the same trusted workflow through an API, widget, or chatbot while keeping data and AI keys server-side.</a:t>
            </a:r>
          </a:p>
        </p:txBody>
      </p:sp>
      <p:sp>
        <p:nvSpPr>
          <p:cNvPr id="6" name="integration-claim-131">
            <a:extLst xmlns:a="http://schemas.openxmlformats.org/drawingml/2006/main">
              <a:ext uri="{FF2B5EF4-FFF2-40B4-BE49-F238E27FC236}">
                <a16:creationId xmlns:a16="http://schemas.microsoft.com/office/drawing/2014/main" id="{6A05857E-5EDD-4171-8CB3-F0A8C82A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33625"/>
            <a:ext cx="37147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Drop-in
integration</a:t>
            </a:r>
          </a:p>
        </p:txBody>
      </p:sp>
      <p:sp>
        <p:nvSpPr>
          <p:cNvPr id="7" name="mode-132">
            <a:extLst xmlns:a="http://schemas.openxmlformats.org/drawingml/2006/main">
              <a:ext uri="{FF2B5EF4-FFF2-40B4-BE49-F238E27FC236}">
                <a16:creationId xmlns:a16="http://schemas.microsoft.com/office/drawing/2014/main" id="{73CF4B64-5EBC-4977-8599-C5408213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24275"/>
            <a:ext cx="1028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API</a:t>
            </a:r>
          </a:p>
        </p:txBody>
      </p:sp>
      <p:sp>
        <p:nvSpPr>
          <p:cNvPr id="8" name="mode-133">
            <a:extLst xmlns:a="http://schemas.openxmlformats.org/drawingml/2006/main">
              <a:ext uri="{FF2B5EF4-FFF2-40B4-BE49-F238E27FC236}">
                <a16:creationId xmlns:a16="http://schemas.microsoft.com/office/drawing/2014/main" id="{EE09627B-F879-43B1-9FDE-53B2F15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2076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Portal widget</a:t>
            </a:r>
          </a:p>
        </p:txBody>
      </p:sp>
      <p:sp>
        <p:nvSpPr>
          <p:cNvPr id="9" name="mode-134">
            <a:extLst xmlns:a="http://schemas.openxmlformats.org/drawingml/2006/main">
              <a:ext uri="{FF2B5EF4-FFF2-40B4-BE49-F238E27FC236}">
                <a16:creationId xmlns:a16="http://schemas.microsoft.com/office/drawing/2014/main" id="{33464F92-A822-48E3-823C-6F81337D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67275"/>
            <a:ext cx="1333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Chatbot</a:t>
            </a:r>
          </a:p>
        </p:txBody>
      </p:sp>
      <p:sp>
        <p:nvSpPr>
          <p:cNvPr id="10" name="integration-note-135">
            <a:extLst xmlns:a="http://schemas.openxmlformats.org/drawingml/2006/main">
              <a:ext uri="{FF2B5EF4-FFF2-40B4-BE49-F238E27FC236}">
                <a16:creationId xmlns:a16="http://schemas.microsoft.com/office/drawing/2014/main" id="{A51FFA9C-B362-4DC3-BD7C-E75FE98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One backend contract. Multiple citizen touchpoints.</a:t>
            </a:r>
          </a:p>
        </p:txBody>
      </p:sp>
      <p:sp>
        <p:nvSpPr>
          <p:cNvPr id="11" name="api-panel-136">
            <a:extLst xmlns:a="http://schemas.openxmlformats.org/drawingml/2006/main">
              <a:ext uri="{FF2B5EF4-FFF2-40B4-BE49-F238E27FC236}">
                <a16:creationId xmlns:a16="http://schemas.microsoft.com/office/drawing/2014/main" id="{85043BBD-642E-442E-BD24-5F1A596F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05025"/>
            <a:ext cx="6772275" cy="3971925"/>
          </a:xfrm>
          <a:prstGeom xmlns:a="http://schemas.openxmlformats.org/drawingml/2006/main" prst="roundRect">
            <a:avLst>
              <a:gd name="adj" fmla="val 1918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pi-label-137">
            <a:extLst xmlns:a="http://schemas.openxmlformats.org/drawingml/2006/main">
              <a:ext uri="{FF2B5EF4-FFF2-40B4-BE49-F238E27FC236}">
                <a16:creationId xmlns:a16="http://schemas.microsoft.com/office/drawing/2014/main" id="{E898C3D2-BBB4-4998-86E5-761128C4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09825"/>
            <a:ext cx="5905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CORE API</a:t>
            </a:r>
          </a:p>
        </p:txBody>
      </p:sp>
      <p:sp>
        <p:nvSpPr>
          <p:cNvPr id="13" name="rule-138">
            <a:extLst xmlns:a="http://schemas.openxmlformats.org/drawingml/2006/main">
              <a:ext uri="{FF2B5EF4-FFF2-40B4-BE49-F238E27FC236}">
                <a16:creationId xmlns:a16="http://schemas.microsoft.com/office/drawing/2014/main" id="{EA2F833F-6938-43F0-A3AE-9883699E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62250"/>
            <a:ext cx="60674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4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verb-139">
            <a:extLst xmlns:a="http://schemas.openxmlformats.org/drawingml/2006/main">
              <a:ext uri="{FF2B5EF4-FFF2-40B4-BE49-F238E27FC236}">
                <a16:creationId xmlns:a16="http://schemas.microsoft.com/office/drawing/2014/main" id="{45CDA494-DBCD-461E-983E-A1310347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5" name="endpoint-140">
            <a:extLst xmlns:a="http://schemas.openxmlformats.org/drawingml/2006/main">
              <a:ext uri="{FF2B5EF4-FFF2-40B4-BE49-F238E27FC236}">
                <a16:creationId xmlns:a16="http://schemas.microsoft.com/office/drawing/2014/main" id="{558C9A51-F88B-4587-B33B-2374C0D2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</a:t>
            </a:r>
          </a:p>
        </p:txBody>
      </p:sp>
      <p:sp>
        <p:nvSpPr>
          <p:cNvPr id="16" name="verb-141">
            <a:extLst xmlns:a="http://schemas.openxmlformats.org/drawingml/2006/main">
              <a:ext uri="{FF2B5EF4-FFF2-40B4-BE49-F238E27FC236}">
                <a16:creationId xmlns:a16="http://schemas.microsoft.com/office/drawing/2014/main" id="{E47D9B8D-DF31-401A-BEB4-BE0C2E41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956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17" name="endpoint-142">
            <a:extLst xmlns:a="http://schemas.openxmlformats.org/drawingml/2006/main">
              <a:ext uri="{FF2B5EF4-FFF2-40B4-BE49-F238E27FC236}">
                <a16:creationId xmlns:a16="http://schemas.microsoft.com/office/drawing/2014/main" id="{505C169C-46B9-471B-9778-ABCD1CA5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956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/intake/message</a:t>
            </a:r>
          </a:p>
        </p:txBody>
      </p:sp>
      <p:sp>
        <p:nvSpPr>
          <p:cNvPr id="18" name="verb-143">
            <a:extLst xmlns:a="http://schemas.openxmlformats.org/drawingml/2006/main">
              <a:ext uri="{FF2B5EF4-FFF2-40B4-BE49-F238E27FC236}">
                <a16:creationId xmlns:a16="http://schemas.microsoft.com/office/drawing/2014/main" id="{7FD30277-D6DE-4083-A843-9BF430B4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6240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19" name="endpoint-144">
            <a:extLst xmlns:a="http://schemas.openxmlformats.org/drawingml/2006/main">
              <a:ext uri="{FF2B5EF4-FFF2-40B4-BE49-F238E27FC236}">
                <a16:creationId xmlns:a16="http://schemas.microsoft.com/office/drawing/2014/main" id="{B2966D9F-C918-4934-B44B-917A277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6240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/checklist/{session_id}</a:t>
            </a:r>
          </a:p>
        </p:txBody>
      </p:sp>
      <p:sp>
        <p:nvSpPr>
          <p:cNvPr id="20" name="verb-145">
            <a:extLst xmlns:a="http://schemas.openxmlformats.org/drawingml/2006/main">
              <a:ext uri="{FF2B5EF4-FFF2-40B4-BE49-F238E27FC236}">
                <a16:creationId xmlns:a16="http://schemas.microsoft.com/office/drawing/2014/main" id="{798E737B-B446-4529-9985-AA3B2A89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2912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POST</a:t>
            </a:r>
          </a:p>
        </p:txBody>
      </p:sp>
      <p:sp>
        <p:nvSpPr>
          <p:cNvPr id="21" name="endpoint-146">
            <a:extLst xmlns:a="http://schemas.openxmlformats.org/drawingml/2006/main">
              <a:ext uri="{FF2B5EF4-FFF2-40B4-BE49-F238E27FC236}">
                <a16:creationId xmlns:a16="http://schemas.microsoft.com/office/drawing/2014/main" id="{A09B1A12-66B6-4BC0-8BCA-CF30D7BC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2912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/precheck</a:t>
            </a:r>
          </a:p>
        </p:txBody>
      </p:sp>
      <p:sp>
        <p:nvSpPr>
          <p:cNvPr id="22" name="verb-147">
            <a:extLst xmlns:a="http://schemas.openxmlformats.org/drawingml/2006/main">
              <a:ext uri="{FF2B5EF4-FFF2-40B4-BE49-F238E27FC236}">
                <a16:creationId xmlns:a16="http://schemas.microsoft.com/office/drawing/2014/main" id="{48090D58-25E5-44A6-A712-0274CDCF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95850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3" name="endpoint-148">
            <a:extLst xmlns:a="http://schemas.openxmlformats.org/drawingml/2006/main">
              <a:ext uri="{FF2B5EF4-FFF2-40B4-BE49-F238E27FC236}">
                <a16:creationId xmlns:a16="http://schemas.microsoft.com/office/drawing/2014/main" id="{00FEC227-75B4-40AA-947A-AF4E0061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958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/sessions/{id}/birth-registration.pdf</a:t>
            </a:r>
          </a:p>
        </p:txBody>
      </p:sp>
      <p:sp>
        <p:nvSpPr>
          <p:cNvPr id="24" name="verb-149">
            <a:extLst xmlns:a="http://schemas.openxmlformats.org/drawingml/2006/main">
              <a:ext uri="{FF2B5EF4-FFF2-40B4-BE49-F238E27FC236}">
                <a16:creationId xmlns:a16="http://schemas.microsoft.com/office/drawing/2014/main" id="{5F84BF53-5080-4A3D-B767-9039F8DE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362575"/>
            <a:ext cx="76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GET</a:t>
            </a:r>
          </a:p>
        </p:txBody>
      </p:sp>
      <p:sp>
        <p:nvSpPr>
          <p:cNvPr id="25" name="endpoint-150">
            <a:extLst xmlns:a="http://schemas.openxmlformats.org/drawingml/2006/main">
              <a:ext uri="{FF2B5EF4-FFF2-40B4-BE49-F238E27FC236}">
                <a16:creationId xmlns:a16="http://schemas.microsoft.com/office/drawing/2014/main" id="{19762050-09C3-424F-8189-D601AC32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62575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/trust</a:t>
            </a:r>
          </a:p>
        </p:txBody>
      </p:sp>
    </p:spTree>
    <p:extLst>
      <p:ext uri="{BB962C8B-B14F-4D97-AF65-F5344CB8AC3E}">
        <p14:creationId xmlns:p14="http://schemas.microsoft.com/office/powerpoint/2010/main" val="16491511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roof-header-152">
            <a:extLst xmlns:a="http://schemas.openxmlformats.org/drawingml/2006/main">
              <a:ext uri="{FF2B5EF4-FFF2-40B4-BE49-F238E27FC236}">
                <a16:creationId xmlns:a16="http://schemas.microsoft.com/office/drawing/2014/main" id="{E902B99A-16F8-4BA1-897D-896F7DC6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roof-title-153">
            <a:extLst xmlns:a="http://schemas.openxmlformats.org/drawingml/2006/main">
              <a:ext uri="{FF2B5EF4-FFF2-40B4-BE49-F238E27FC236}">
                <a16:creationId xmlns:a16="http://schemas.microsoft.com/office/drawing/2014/main" id="{9A57352B-86D1-45BC-840D-2081AA56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"/>
            <a:ext cx="857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LIVE PRODUCT · FULL-SIZE PDF PREVIEW</a:t>
            </a:r>
          </a:p>
        </p:txBody>
      </p:sp>
      <p:sp>
        <p:nvSpPr>
          <p:cNvPr id="3" name="page-154">
            <a:extLst xmlns:a="http://schemas.openxmlformats.org/drawingml/2006/main">
              <a:ext uri="{FF2B5EF4-FFF2-40B4-BE49-F238E27FC236}">
                <a16:creationId xmlns:a16="http://schemas.microsoft.com/office/drawing/2014/main" id="{69D3C140-B54E-4E04-A411-0D5342C0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171450"/>
            <a:ext cx="552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88609d6a54c71"/>
          <a:stretch xmlns:a="http://schemas.openxmlformats.org/drawingml/2006/main"/>
        </p:blipFill>
        <p:spPr>
          <a:xfrm xmlns:a="http://schemas.openxmlformats.org/drawingml/2006/main">
            <a:off x="765278" y="666750"/>
            <a:ext cx="10661445" cy="600075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</p:spTree>
    <p:extLst>
      <p:ext uri="{BB962C8B-B14F-4D97-AF65-F5344CB8AC3E}">
        <p14:creationId xmlns:p14="http://schemas.microsoft.com/office/powerpoint/2010/main" val="20965310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56">
            <a:extLst xmlns:a="http://schemas.openxmlformats.org/drawingml/2006/main">
              <a:ext uri="{FF2B5EF4-FFF2-40B4-BE49-F238E27FC236}">
                <a16:creationId xmlns:a16="http://schemas.microsoft.com/office/drawing/2014/main" id="{FDDE7B23-043A-41EB-B194-E083D127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ROADMAP</a:t>
            </a:r>
          </a:p>
        </p:txBody>
      </p:sp>
      <p:sp>
        <p:nvSpPr>
          <p:cNvPr id="2" name="title-157">
            <a:extLst xmlns:a="http://schemas.openxmlformats.org/drawingml/2006/main">
              <a:ext uri="{FF2B5EF4-FFF2-40B4-BE49-F238E27FC236}">
                <a16:creationId xmlns:a16="http://schemas.microsoft.com/office/drawing/2014/main" id="{83200038-56E3-4EFF-A932-9AE96DA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 90-day pilot can prove value safely.</a:t>
            </a:r>
          </a:p>
        </p:txBody>
      </p:sp>
      <p:sp>
        <p:nvSpPr>
          <p:cNvPr id="3" name="footer-158">
            <a:extLst xmlns:a="http://schemas.openxmlformats.org/drawingml/2006/main">
              <a:ext uri="{FF2B5EF4-FFF2-40B4-BE49-F238E27FC236}">
                <a16:creationId xmlns:a16="http://schemas.microsoft.com/office/drawing/2014/main" id="{85898D62-624B-468E-A294-5E32CE0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59">
            <a:extLst xmlns:a="http://schemas.openxmlformats.org/drawingml/2006/main">
              <a:ext uri="{FF2B5EF4-FFF2-40B4-BE49-F238E27FC236}">
                <a16:creationId xmlns:a16="http://schemas.microsoft.com/office/drawing/2014/main" id="{51D0F5A4-1C46-41A7-ABA9-D70467BB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lede-160">
            <a:extLst xmlns:a="http://schemas.openxmlformats.org/drawingml/2006/main">
              <a:ext uri="{FF2B5EF4-FFF2-40B4-BE49-F238E27FC236}">
                <a16:creationId xmlns:a16="http://schemas.microsoft.com/office/drawing/2014/main" id="{2F6C113F-3AAD-487F-9E96-EAEB77AD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001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Start narrow with birth registration, measure rigorously, and scale only after the evidence is strong.</a:t>
            </a:r>
          </a:p>
        </p:txBody>
      </p:sp>
      <p:sp>
        <p:nvSpPr>
          <p:cNvPr id="6" name="rule-161">
            <a:extLst xmlns:a="http://schemas.openxmlformats.org/drawingml/2006/main">
              <a:ext uri="{FF2B5EF4-FFF2-40B4-BE49-F238E27FC236}">
                <a16:creationId xmlns:a16="http://schemas.microsoft.com/office/drawing/2014/main" id="{542C3BB7-B04D-434F-B9C1-3FDD5ECE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ilestone-162">
            <a:extLst xmlns:a="http://schemas.openxmlformats.org/drawingml/2006/main">
              <a:ext uri="{FF2B5EF4-FFF2-40B4-BE49-F238E27FC236}">
                <a16:creationId xmlns:a16="http://schemas.microsoft.com/office/drawing/2014/main" id="{F0D64BBD-E89A-4D71-B1CE-29557F85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ilestone-163">
            <a:extLst xmlns:a="http://schemas.openxmlformats.org/drawingml/2006/main">
              <a:ext uri="{FF2B5EF4-FFF2-40B4-BE49-F238E27FC236}">
                <a16:creationId xmlns:a16="http://schemas.microsoft.com/office/drawing/2014/main" id="{0B2ECF6B-64F4-434D-94EB-82F78CC6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ilestone-164">
            <a:extLst xmlns:a="http://schemas.openxmlformats.org/drawingml/2006/main">
              <a:ext uri="{FF2B5EF4-FFF2-40B4-BE49-F238E27FC236}">
                <a16:creationId xmlns:a16="http://schemas.microsoft.com/office/drawing/2014/main" id="{2FE6AD65-B720-47D5-8FD4-74B68209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48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ilestone-number-165">
            <a:extLst xmlns:a="http://schemas.openxmlformats.org/drawingml/2006/main">
              <a:ext uri="{FF2B5EF4-FFF2-40B4-BE49-F238E27FC236}">
                <a16:creationId xmlns:a16="http://schemas.microsoft.com/office/drawing/2014/main" id="{7A5D7C47-7D56-40B4-98F6-48A878A4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1" name="milestone-number-166">
            <a:extLst xmlns:a="http://schemas.openxmlformats.org/drawingml/2006/main">
              <a:ext uri="{FF2B5EF4-FFF2-40B4-BE49-F238E27FC236}">
                <a16:creationId xmlns:a16="http://schemas.microsoft.com/office/drawing/2014/main" id="{8A449744-355A-47EB-A054-B1BF0E80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milestone-number-167">
            <a:extLst xmlns:a="http://schemas.openxmlformats.org/drawingml/2006/main">
              <a:ext uri="{FF2B5EF4-FFF2-40B4-BE49-F238E27FC236}">
                <a16:creationId xmlns:a16="http://schemas.microsoft.com/office/drawing/2014/main" id="{D1897327-9A68-4E07-B46A-BF10D195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62325"/>
            <a:ext cx="4191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3" name="phase-label-168">
            <a:extLst xmlns:a="http://schemas.openxmlformats.org/drawingml/2006/main">
              <a:ext uri="{FF2B5EF4-FFF2-40B4-BE49-F238E27FC236}">
                <a16:creationId xmlns:a16="http://schemas.microsoft.com/office/drawing/2014/main" id="{34DCF335-F227-4545-A586-07598225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0–2</a:t>
            </a:r>
          </a:p>
        </p:txBody>
      </p:sp>
      <p:sp>
        <p:nvSpPr>
          <p:cNvPr id="14" name="phase-title-169">
            <a:extLst xmlns:a="http://schemas.openxmlformats.org/drawingml/2006/main">
              <a:ext uri="{FF2B5EF4-FFF2-40B4-BE49-F238E27FC236}">
                <a16:creationId xmlns:a16="http://schemas.microsoft.com/office/drawing/2014/main" id="{AAE04ED9-7A22-4EAE-AB75-84011861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Align</a:t>
            </a:r>
          </a:p>
        </p:txBody>
      </p:sp>
      <p:sp>
        <p:nvSpPr>
          <p:cNvPr id="15" name="phase-copy-170">
            <a:extLst xmlns:a="http://schemas.openxmlformats.org/drawingml/2006/main">
              <a:ext uri="{FF2B5EF4-FFF2-40B4-BE49-F238E27FC236}">
                <a16:creationId xmlns:a16="http://schemas.microsoft.com/office/drawing/2014/main" id="{05EFD062-CDB7-40DE-A1AC-B2E8EBD3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Confirm local rules, source ownership, audit process, and pilot baseline.</a:t>
            </a:r>
          </a:p>
        </p:txBody>
      </p:sp>
      <p:sp>
        <p:nvSpPr>
          <p:cNvPr id="16" name="phase-label-171">
            <a:extLst xmlns:a="http://schemas.openxmlformats.org/drawingml/2006/main">
              <a:ext uri="{FF2B5EF4-FFF2-40B4-BE49-F238E27FC236}">
                <a16:creationId xmlns:a16="http://schemas.microsoft.com/office/drawing/2014/main" id="{10D25FBD-8D83-477F-A316-C07B51E7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3–6</a:t>
            </a:r>
          </a:p>
        </p:txBody>
      </p:sp>
      <p:sp>
        <p:nvSpPr>
          <p:cNvPr id="17" name="phase-title-172">
            <a:extLst xmlns:a="http://schemas.openxmlformats.org/drawingml/2006/main">
              <a:ext uri="{FF2B5EF4-FFF2-40B4-BE49-F238E27FC236}">
                <a16:creationId xmlns:a16="http://schemas.microsoft.com/office/drawing/2014/main" id="{3CE169EF-E4CB-47FD-808D-08C3F0D9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Integrate</a:t>
            </a:r>
          </a:p>
        </p:txBody>
      </p:sp>
      <p:sp>
        <p:nvSpPr>
          <p:cNvPr id="18" name="phase-copy-173">
            <a:extLst xmlns:a="http://schemas.openxmlformats.org/drawingml/2006/main">
              <a:ext uri="{FF2B5EF4-FFF2-40B4-BE49-F238E27FC236}">
                <a16:creationId xmlns:a16="http://schemas.microsoft.com/office/drawing/2014/main" id="{77A1A8E4-F70B-4405-AA93-FB2F59F7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Embed in one portal, onboard two pilot offices, and validate end-to-end operations.</a:t>
            </a:r>
          </a:p>
        </p:txBody>
      </p:sp>
      <p:sp>
        <p:nvSpPr>
          <p:cNvPr id="19" name="phase-label-174">
            <a:extLst xmlns:a="http://schemas.openxmlformats.org/drawingml/2006/main">
              <a:ext uri="{FF2B5EF4-FFF2-40B4-BE49-F238E27FC236}">
                <a16:creationId xmlns:a16="http://schemas.microsoft.com/office/drawing/2014/main" id="{DC5FC719-9880-4AE1-AC38-28E2E9F2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76475"/>
            <a:ext cx="2381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WEEKS 7–12</a:t>
            </a:r>
          </a:p>
        </p:txBody>
      </p:sp>
      <p:sp>
        <p:nvSpPr>
          <p:cNvPr id="20" name="phase-title-175">
            <a:extLst xmlns:a="http://schemas.openxmlformats.org/drawingml/2006/main">
              <a:ext uri="{FF2B5EF4-FFF2-40B4-BE49-F238E27FC236}">
                <a16:creationId xmlns:a16="http://schemas.microsoft.com/office/drawing/2014/main" id="{6C7796BA-7D92-4A9F-AA54-1FE6CA55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Measure</a:t>
            </a:r>
          </a:p>
        </p:txBody>
      </p:sp>
      <p:sp>
        <p:nvSpPr>
          <p:cNvPr id="21" name="phase-copy-176">
            <a:extLst xmlns:a="http://schemas.openxmlformats.org/drawingml/2006/main">
              <a:ext uri="{FF2B5EF4-FFF2-40B4-BE49-F238E27FC236}">
                <a16:creationId xmlns:a16="http://schemas.microsoft.com/office/drawing/2014/main" id="{3C295AC2-3C10-44E6-8311-412C7A04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Audit accuracy, citizen completion, preventable corrections, and officer workload.</a:t>
            </a:r>
          </a:p>
        </p:txBody>
      </p:sp>
      <p:sp>
        <p:nvSpPr>
          <p:cNvPr id="22" name="partners-177">
            <a:extLst xmlns:a="http://schemas.openxmlformats.org/drawingml/2006/main">
              <a:ext uri="{FF2B5EF4-FFF2-40B4-BE49-F238E27FC236}">
                <a16:creationId xmlns:a16="http://schemas.microsoft.com/office/drawing/2014/main" id="{93935C2D-BC7A-4824-AAAE-A8302BBC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76850"/>
            <a:ext cx="11087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rtners-label-178">
            <a:extLst xmlns:a="http://schemas.openxmlformats.org/drawingml/2006/main">
              <a:ext uri="{FF2B5EF4-FFF2-40B4-BE49-F238E27FC236}">
                <a16:creationId xmlns:a16="http://schemas.microsoft.com/office/drawing/2014/main" id="{14079B74-723E-4019-9416-47D0280E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95925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PILOT PARTNERS</a:t>
            </a:r>
          </a:p>
        </p:txBody>
      </p:sp>
      <p:sp>
        <p:nvSpPr>
          <p:cNvPr id="24" name="partners-copy-179">
            <a:extLst xmlns:a="http://schemas.openxmlformats.org/drawingml/2006/main">
              <a:ext uri="{FF2B5EF4-FFF2-40B4-BE49-F238E27FC236}">
                <a16:creationId xmlns:a16="http://schemas.microsoft.com/office/drawing/2014/main" id="{B4BA44AB-2DB8-42E0-9F44-FB58FAD5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28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1 portal owner   ·   2 pilot offices   ·   NIDit regulatory liaison</a:t>
            </a:r>
          </a:p>
        </p:txBody>
      </p:sp>
    </p:spTree>
    <p:extLst>
      <p:ext uri="{BB962C8B-B14F-4D97-AF65-F5344CB8AC3E}">
        <p14:creationId xmlns:p14="http://schemas.microsoft.com/office/powerpoint/2010/main" val="126366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181">
            <a:extLst xmlns:a="http://schemas.openxmlformats.org/drawingml/2006/main">
              <a:ext uri="{FF2B5EF4-FFF2-40B4-BE49-F238E27FC236}">
                <a16:creationId xmlns:a16="http://schemas.microsoft.com/office/drawing/2014/main" id="{144F1A7B-F11A-483B-8798-0D64AE1F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6667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PROPOSED DECISION GATES</a:t>
            </a:r>
          </a:p>
        </p:txBody>
      </p:sp>
      <p:sp>
        <p:nvSpPr>
          <p:cNvPr id="2" name="title-182">
            <a:extLst xmlns:a="http://schemas.openxmlformats.org/drawingml/2006/main">
              <a:ext uri="{FF2B5EF4-FFF2-40B4-BE49-F238E27FC236}">
                <a16:creationId xmlns:a16="http://schemas.microsoft.com/office/drawing/2014/main" id="{D40F2F2C-332B-4AFE-8166-DB2ADE92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76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Pilot success is measurable.</a:t>
            </a:r>
          </a:p>
        </p:txBody>
      </p:sp>
      <p:sp>
        <p:nvSpPr>
          <p:cNvPr id="3" name="footer-183">
            <a:extLst xmlns:a="http://schemas.openxmlformats.org/drawingml/2006/main">
              <a:ext uri="{FF2B5EF4-FFF2-40B4-BE49-F238E27FC236}">
                <a16:creationId xmlns:a16="http://schemas.microsoft.com/office/drawing/2014/main" id="{1524042B-DBEE-4373-8821-465FD804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CivicPath AI · Smart Government</a:t>
            </a:r>
          </a:p>
        </p:txBody>
      </p:sp>
      <p:sp>
        <p:nvSpPr>
          <p:cNvPr id="4" name="page-184">
            <a:extLst xmlns:a="http://schemas.openxmlformats.org/drawingml/2006/main">
              <a:ext uri="{FF2B5EF4-FFF2-40B4-BE49-F238E27FC236}">
                <a16:creationId xmlns:a16="http://schemas.microsoft.com/office/drawing/2014/main" id="{CAE27980-073F-4DCD-91D1-F42410E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target-note-185">
            <a:extLst xmlns:a="http://schemas.openxmlformats.org/drawingml/2006/main">
              <a:ext uri="{FF2B5EF4-FFF2-40B4-BE49-F238E27FC236}">
                <a16:creationId xmlns:a16="http://schemas.microsoft.com/office/drawing/2014/main" id="{2F318E3A-E437-4062-B1CA-A6A1C8F8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These are targets for the 90-day pilot—not claimed production results.</a:t>
            </a:r>
          </a:p>
        </p:txBody>
      </p:sp>
      <p:sp>
        <p:nvSpPr>
          <p:cNvPr id="6" name="target-186">
            <a:extLst xmlns:a="http://schemas.openxmlformats.org/drawingml/2006/main">
              <a:ext uri="{FF2B5EF4-FFF2-40B4-BE49-F238E27FC236}">
                <a16:creationId xmlns:a16="http://schemas.microsoft.com/office/drawing/2014/main" id="{E9FA2D28-09FA-42DE-A766-C1E2EF92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arget-187">
            <a:extLst xmlns:a="http://schemas.openxmlformats.org/drawingml/2006/main">
              <a:ext uri="{FF2B5EF4-FFF2-40B4-BE49-F238E27FC236}">
                <a16:creationId xmlns:a16="http://schemas.microsoft.com/office/drawing/2014/main" id="{AD92EBB6-EB51-448D-8206-53B1C66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8" name="target-188">
            <a:extLst xmlns:a="http://schemas.openxmlformats.org/drawingml/2006/main">
              <a:ext uri="{FF2B5EF4-FFF2-40B4-BE49-F238E27FC236}">
                <a16:creationId xmlns:a16="http://schemas.microsoft.com/office/drawing/2014/main" id="{BA70CF4D-62BA-4E1B-ADA4-9CE02C01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E5"/>
            </a:solidFill>
            <a:prstDash val="solid"/>
          </a:ln>
        </p:spPr>
      </p:sp>
      <p:sp>
        <p:nvSpPr>
          <p:cNvPr id="9" name="target-189">
            <a:extLst xmlns:a="http://schemas.openxmlformats.org/drawingml/2006/main">
              <a:ext uri="{FF2B5EF4-FFF2-40B4-BE49-F238E27FC236}">
                <a16:creationId xmlns:a16="http://schemas.microsoft.com/office/drawing/2014/main" id="{826DA48A-8C8B-4A5C-BA87-BB7FBFB7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52650"/>
            <a:ext cx="2543175" cy="33432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EA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190">
            <a:extLst xmlns:a="http://schemas.openxmlformats.org/drawingml/2006/main">
              <a:ext uri="{FF2B5EF4-FFF2-40B4-BE49-F238E27FC236}">
                <a16:creationId xmlns:a16="http://schemas.microsoft.com/office/drawing/2014/main" id="{F4D3D087-069C-4969-BABF-9B579DBA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≥95%</a:t>
            </a:r>
          </a:p>
        </p:txBody>
      </p:sp>
      <p:sp>
        <p:nvSpPr>
          <p:cNvPr id="11" name="metric-label-191">
            <a:extLst xmlns:a="http://schemas.openxmlformats.org/drawingml/2006/main">
              <a:ext uri="{FF2B5EF4-FFF2-40B4-BE49-F238E27FC236}">
                <a16:creationId xmlns:a16="http://schemas.microsoft.com/office/drawing/2014/main" id="{B2BBEE9E-087C-4F9A-BF24-9F5785B9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2095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Checklist alignment</a:t>
            </a:r>
          </a:p>
        </p:txBody>
      </p:sp>
      <p:sp>
        <p:nvSpPr>
          <p:cNvPr id="12" name="metric-copy-192">
            <a:extLst xmlns:a="http://schemas.openxmlformats.org/drawingml/2006/main">
              <a:ext uri="{FF2B5EF4-FFF2-40B4-BE49-F238E27FC236}">
                <a16:creationId xmlns:a16="http://schemas.microsoft.com/office/drawing/2014/main" id="{0D34F854-A2CB-4C07-A6A2-A6AF6DB0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2095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with current regulation in monthly expert audits</a:t>
            </a:r>
          </a:p>
        </p:txBody>
      </p:sp>
      <p:sp>
        <p:nvSpPr>
          <p:cNvPr id="13" name="metric-193">
            <a:extLst xmlns:a="http://schemas.openxmlformats.org/drawingml/2006/main">
              <a:ext uri="{FF2B5EF4-FFF2-40B4-BE49-F238E27FC236}">
                <a16:creationId xmlns:a16="http://schemas.microsoft.com/office/drawing/2014/main" id="{6AA41EFA-F706-48E0-83A3-89FEAF0F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≥30%</a:t>
            </a:r>
          </a:p>
        </p:txBody>
      </p:sp>
      <p:sp>
        <p:nvSpPr>
          <p:cNvPr id="14" name="metric-label-194">
            <a:extLst xmlns:a="http://schemas.openxmlformats.org/drawingml/2006/main">
              <a:ext uri="{FF2B5EF4-FFF2-40B4-BE49-F238E27FC236}">
                <a16:creationId xmlns:a16="http://schemas.microsoft.com/office/drawing/2014/main" id="{BA9E701A-D490-4F22-847F-5EC42CF5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preventable
corrections</a:t>
            </a:r>
          </a:p>
        </p:txBody>
      </p:sp>
      <p:sp>
        <p:nvSpPr>
          <p:cNvPr id="15" name="metric-copy-195">
            <a:extLst xmlns:a="http://schemas.openxmlformats.org/drawingml/2006/main">
              <a:ext uri="{FF2B5EF4-FFF2-40B4-BE49-F238E27FC236}">
                <a16:creationId xmlns:a16="http://schemas.microsoft.com/office/drawing/2014/main" id="{A1EE5FC6-95E1-4F33-96B4-DA11D379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versus the pilot baseline</a:t>
            </a:r>
          </a:p>
        </p:txBody>
      </p:sp>
      <p:sp>
        <p:nvSpPr>
          <p:cNvPr id="16" name="metric-196">
            <a:extLst xmlns:a="http://schemas.openxmlformats.org/drawingml/2006/main">
              <a:ext uri="{FF2B5EF4-FFF2-40B4-BE49-F238E27FC236}">
                <a16:creationId xmlns:a16="http://schemas.microsoft.com/office/drawing/2014/main" id="{0E1ED6A4-FA85-473A-A18A-3C7C5194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≥25%</a:t>
            </a:r>
          </a:p>
        </p:txBody>
      </p:sp>
      <p:sp>
        <p:nvSpPr>
          <p:cNvPr id="17" name="metric-label-197">
            <a:extLst xmlns:a="http://schemas.openxmlformats.org/drawingml/2006/main">
              <a:ext uri="{FF2B5EF4-FFF2-40B4-BE49-F238E27FC236}">
                <a16:creationId xmlns:a16="http://schemas.microsoft.com/office/drawing/2014/main" id="{3D17C44E-D14F-4A7F-AA3E-BF93A025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Fewer routine
clarification contacts</a:t>
            </a:r>
          </a:p>
        </p:txBody>
      </p:sp>
      <p:sp>
        <p:nvSpPr>
          <p:cNvPr id="18" name="metric-copy-198">
            <a:extLst xmlns:a="http://schemas.openxmlformats.org/drawingml/2006/main">
              <a:ext uri="{FF2B5EF4-FFF2-40B4-BE49-F238E27FC236}">
                <a16:creationId xmlns:a16="http://schemas.microsoft.com/office/drawing/2014/main" id="{4D7B4F5E-8739-469B-ACED-97EC9E7F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for questions covered by the guide</a:t>
            </a:r>
          </a:p>
        </p:txBody>
      </p:sp>
      <p:sp>
        <p:nvSpPr>
          <p:cNvPr id="19" name="metric-199">
            <a:extLst xmlns:a="http://schemas.openxmlformats.org/drawingml/2006/main">
              <a:ext uri="{FF2B5EF4-FFF2-40B4-BE49-F238E27FC236}">
                <a16:creationId xmlns:a16="http://schemas.microsoft.com/office/drawing/2014/main" id="{8B5937D5-A1C2-4F80-A5E2-358DDD75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486025"/>
            <a:ext cx="2095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5803D"/>
                </a:solidFill>
                <a:latin typeface="Arial"/>
                <a:ea typeface="Arial"/>
                <a:cs typeface="Arial"/>
              </a:defRPr>
            </a:pPr>
            <a:r>
              <a:t>≥80%</a:t>
            </a:r>
          </a:p>
        </p:txBody>
      </p:sp>
      <p:sp>
        <p:nvSpPr>
          <p:cNvPr id="20" name="metric-label-200">
            <a:extLst xmlns:a="http://schemas.openxmlformats.org/drawingml/2006/main">
              <a:ext uri="{FF2B5EF4-FFF2-40B4-BE49-F238E27FC236}">
                <a16:creationId xmlns:a16="http://schemas.microsoft.com/office/drawing/2014/main" id="{B0F26A68-AE2D-4635-ABC4-5774F294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19475"/>
            <a:ext cx="2095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Guided-flow
completion</a:t>
            </a:r>
          </a:p>
        </p:txBody>
      </p:sp>
      <p:sp>
        <p:nvSpPr>
          <p:cNvPr id="21" name="metric-copy-201">
            <a:extLst xmlns:a="http://schemas.openxmlformats.org/drawingml/2006/main">
              <a:ext uri="{FF2B5EF4-FFF2-40B4-BE49-F238E27FC236}">
                <a16:creationId xmlns:a16="http://schemas.microsoft.com/office/drawing/2014/main" id="{A9F8719F-30F4-4C19-AB90-46DBA9B3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4005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across mobile and desktop citizens</a:t>
            </a:r>
          </a:p>
        </p:txBody>
      </p:sp>
      <p:sp>
        <p:nvSpPr>
          <p:cNvPr id="22" name="decision-rule-202">
            <a:extLst xmlns:a="http://schemas.openxmlformats.org/drawingml/2006/main">
              <a:ext uri="{FF2B5EF4-FFF2-40B4-BE49-F238E27FC236}">
                <a16:creationId xmlns:a16="http://schemas.microsoft.com/office/drawing/2014/main" id="{3A15069A-607E-4AF2-89B5-BF86633B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1087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Scale only when accuracy and safety gates pass.</a:t>
            </a:r>
          </a:p>
        </p:txBody>
      </p:sp>
    </p:spTree>
    <p:extLst>
      <p:ext uri="{BB962C8B-B14F-4D97-AF65-F5344CB8AC3E}">
        <p14:creationId xmlns:p14="http://schemas.microsoft.com/office/powerpoint/2010/main" val="5496815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3B8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ox-204">
            <a:extLst xmlns:a="http://schemas.openxmlformats.org/drawingml/2006/main">
              <a:ext uri="{FF2B5EF4-FFF2-40B4-BE49-F238E27FC236}">
                <a16:creationId xmlns:a16="http://schemas.microsoft.com/office/drawing/2014/main" id="{4E750235-B285-4212-A64E-1784FB4F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ox-205">
            <a:extLst xmlns:a="http://schemas.openxmlformats.org/drawingml/2006/main">
              <a:ext uri="{FF2B5EF4-FFF2-40B4-BE49-F238E27FC236}">
                <a16:creationId xmlns:a16="http://schemas.microsoft.com/office/drawing/2014/main" id="{069D06A4-DD4A-4841-919E-CA6DD000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-206">
            <a:extLst xmlns:a="http://schemas.openxmlformats.org/drawingml/2006/main">
              <a:ext uri="{FF2B5EF4-FFF2-40B4-BE49-F238E27FC236}">
                <a16:creationId xmlns:a16="http://schemas.microsoft.com/office/drawing/2014/main" id="{27317AFF-7944-454C-B863-8B5EEAAD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3048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THE DECISION</a:t>
            </a:r>
          </a:p>
        </p:txBody>
      </p:sp>
      <p:sp>
        <p:nvSpPr>
          <p:cNvPr id="4" name="closing-title-207">
            <a:extLst xmlns:a="http://schemas.openxmlformats.org/drawingml/2006/main">
              <a:ext uri="{FF2B5EF4-FFF2-40B4-BE49-F238E27FC236}">
                <a16:creationId xmlns:a16="http://schemas.microsoft.com/office/drawing/2014/main" id="{340AA5B7-327C-496A-B2F9-572995F1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28700"/>
            <a:ext cx="6191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Let every citizen
arrive ready.</a:t>
            </a:r>
          </a:p>
        </p:txBody>
      </p:sp>
      <p:sp>
        <p:nvSpPr>
          <p:cNvPr id="5" name="closing-lede-208">
            <a:extLst xmlns:a="http://schemas.openxmlformats.org/drawingml/2006/main">
              <a:ext uri="{FF2B5EF4-FFF2-40B4-BE49-F238E27FC236}">
                <a16:creationId xmlns:a16="http://schemas.microsoft.com/office/drawing/2014/main" id="{8E3B09F5-B63B-4961-9FAD-92616B55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61912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E8FF"/>
                </a:solidFill>
                <a:latin typeface="Arial"/>
                <a:ea typeface="Arial"/>
                <a:cs typeface="Arial"/>
              </a:defRPr>
            </a:pPr>
            <a:r>
              <a:t>Launch a 90-day birth-registration pilot and prove that accurate guidance can be both safer for government and simpler for citizens.</a:t>
            </a:r>
          </a:p>
        </p:txBody>
      </p:sp>
      <p:sp>
        <p:nvSpPr>
          <p:cNvPr id="6" name="rule-209">
            <a:extLst xmlns:a="http://schemas.openxmlformats.org/drawingml/2006/main">
              <a:ext uri="{FF2B5EF4-FFF2-40B4-BE49-F238E27FC236}">
                <a16:creationId xmlns:a16="http://schemas.microsoft.com/office/drawing/2014/main" id="{CF6497D0-4781-4B26-9366-9F484B2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24325"/>
            <a:ext cx="6019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sk-number-210">
            <a:extLst xmlns:a="http://schemas.openxmlformats.org/drawingml/2006/main">
              <a:ext uri="{FF2B5EF4-FFF2-40B4-BE49-F238E27FC236}">
                <a16:creationId xmlns:a16="http://schemas.microsoft.com/office/drawing/2014/main" id="{BE42CA60-456A-421D-8E34-AE81C45D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6722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ask-211">
            <a:extLst xmlns:a="http://schemas.openxmlformats.org/drawingml/2006/main">
              <a:ext uri="{FF2B5EF4-FFF2-40B4-BE49-F238E27FC236}">
                <a16:creationId xmlns:a16="http://schemas.microsoft.com/office/drawing/2014/main" id="{8E944A90-161A-4D27-8A61-88604652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67225"/>
            <a:ext cx="2238375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Approve the pilot</a:t>
            </a:r>
          </a:p>
        </p:txBody>
      </p:sp>
      <p:sp>
        <p:nvSpPr>
          <p:cNvPr id="9" name="ask-number-212">
            <a:extLst xmlns:a="http://schemas.openxmlformats.org/drawingml/2006/main">
              <a:ext uri="{FF2B5EF4-FFF2-40B4-BE49-F238E27FC236}">
                <a16:creationId xmlns:a16="http://schemas.microsoft.com/office/drawing/2014/main" id="{F5F764BB-254E-4237-A5CE-16481C69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0" name="ask-213">
            <a:extLst xmlns:a="http://schemas.openxmlformats.org/drawingml/2006/main">
              <a:ext uri="{FF2B5EF4-FFF2-40B4-BE49-F238E27FC236}">
                <a16:creationId xmlns:a16="http://schemas.microsoft.com/office/drawing/2014/main" id="{E627F0EF-6371-4D83-976D-0C5E9859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33950"/>
            <a:ext cx="2952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Appoint a regulatory liaison</a:t>
            </a:r>
          </a:p>
        </p:txBody>
      </p:sp>
      <p:sp>
        <p:nvSpPr>
          <p:cNvPr id="11" name="ask-number-214">
            <a:extLst xmlns:a="http://schemas.openxmlformats.org/drawingml/2006/main">
              <a:ext uri="{FF2B5EF4-FFF2-40B4-BE49-F238E27FC236}">
                <a16:creationId xmlns:a16="http://schemas.microsoft.com/office/drawing/2014/main" id="{354D5DDA-F03D-419A-8F6D-E01BDA02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00675"/>
            <a:ext cx="438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2" name="ask-215">
            <a:extLst xmlns:a="http://schemas.openxmlformats.org/drawingml/2006/main">
              <a:ext uri="{FF2B5EF4-FFF2-40B4-BE49-F238E27FC236}">
                <a16:creationId xmlns:a16="http://schemas.microsoft.com/office/drawing/2014/main" id="{48F20BE2-9E8F-4EED-AD76-9163DF89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00675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Connect one portal and two offices</a:t>
            </a:r>
          </a:p>
        </p:txBody>
      </p:sp>
      <p:sp>
        <p:nvSpPr>
          <p:cNvPr id="13" name="closing-card-216">
            <a:extLst xmlns:a="http://schemas.openxmlformats.org/drawingml/2006/main">
              <a:ext uri="{FF2B5EF4-FFF2-40B4-BE49-F238E27FC236}">
                <a16:creationId xmlns:a16="http://schemas.microsoft.com/office/drawing/2014/main" id="{350ACCB7-1B7B-4EE1-8C88-AFABC29D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38200"/>
            <a:ext cx="3829050" cy="49339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rand-217">
            <a:extLst xmlns:a="http://schemas.openxmlformats.org/drawingml/2006/main">
              <a:ext uri="{FF2B5EF4-FFF2-40B4-BE49-F238E27FC236}">
                <a16:creationId xmlns:a16="http://schemas.microsoft.com/office/drawing/2014/main" id="{F7BBE096-5E20-454D-BBE0-461A5D1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CIVICPATH AI</a:t>
            </a:r>
          </a:p>
        </p:txBody>
      </p:sp>
      <p:sp>
        <p:nvSpPr>
          <p:cNvPr id="15" name="closing-product-218">
            <a:extLst xmlns:a="http://schemas.openxmlformats.org/drawingml/2006/main">
              <a:ext uri="{FF2B5EF4-FFF2-40B4-BE49-F238E27FC236}">
                <a16:creationId xmlns:a16="http://schemas.microsoft.com/office/drawing/2014/main" id="{DCBB0AEA-F503-487E-81EF-95382187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24125"/>
            <a:ext cx="2857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A1628"/>
                </a:solidFill>
                <a:latin typeface="Arial"/>
                <a:ea typeface="Arial"/>
                <a:cs typeface="Arial"/>
              </a:defRPr>
            </a:pPr>
            <a:r>
              <a:t>AI-guided public service procedures</a:t>
            </a:r>
          </a:p>
        </p:txBody>
      </p:sp>
      <p:sp>
        <p:nvSpPr>
          <p:cNvPr id="16" name="live-label-219">
            <a:extLst xmlns:a="http://schemas.openxmlformats.org/drawingml/2006/main">
              <a:ext uri="{FF2B5EF4-FFF2-40B4-BE49-F238E27FC236}">
                <a16:creationId xmlns:a16="http://schemas.microsoft.com/office/drawing/2014/main" id="{43ED40B1-D70D-4EDB-B0C9-330D5893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1950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5ED7"/>
                </a:solidFill>
                <a:latin typeface="Arial"/>
                <a:ea typeface="Arial"/>
                <a:cs typeface="Arial"/>
              </a:defRPr>
            </a:pPr>
            <a:r>
              <a:t>LIVE DEMO</a:t>
            </a:r>
          </a:p>
        </p:txBody>
      </p:sp>
      <p:sp>
        <p:nvSpPr>
          <p:cNvPr id="17" name="closing-url-220">
            <a:extLst xmlns:a="http://schemas.openxmlformats.org/drawingml/2006/main">
              <a:ext uri="{FF2B5EF4-FFF2-40B4-BE49-F238E27FC236}">
                <a16:creationId xmlns:a16="http://schemas.microsoft.com/office/drawing/2014/main" id="{4241733C-EC29-4470-B806-D7BCE7CC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2857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63B82"/>
                </a:solidFill>
                <a:latin typeface="Arial"/>
                <a:ea typeface="Arial"/>
                <a:cs typeface="Arial"/>
              </a:defRPr>
            </a:pPr>
            <a:r>
              <a:t>ai-guided-public-service-
procedures.vercel.app</a:t>
            </a:r>
          </a:p>
        </p:txBody>
      </p:sp>
      <p:sp>
        <p:nvSpPr>
          <p:cNvPr id="18" name="institute-221">
            <a:extLst xmlns:a="http://schemas.openxmlformats.org/drawingml/2006/main">
              <a:ext uri="{FF2B5EF4-FFF2-40B4-BE49-F238E27FC236}">
                <a16:creationId xmlns:a16="http://schemas.microsoft.com/office/drawing/2014/main" id="{95B92DE4-B3EF-4012-B175-43EEFD4C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2857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D6B80"/>
                </a:solidFill>
                <a:latin typeface="Arial"/>
                <a:ea typeface="Arial"/>
                <a:cs typeface="Arial"/>
              </a:defRPr>
            </a:pPr>
            <a:r>
              <a:t>National Institute for Digital Technologies
and Digital Transformation (NIDit)</a:t>
            </a:r>
          </a:p>
        </p:txBody>
      </p:sp>
      <p:sp>
        <p:nvSpPr>
          <p:cNvPr id="19" name="footer-222">
            <a:extLst xmlns:a="http://schemas.openxmlformats.org/drawingml/2006/main">
              <a:ext uri="{FF2B5EF4-FFF2-40B4-BE49-F238E27FC236}">
                <a16:creationId xmlns:a16="http://schemas.microsoft.com/office/drawing/2014/main" id="{9477637E-A500-4F3E-A2A3-0D198BA6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67475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Lonely Stone · Smart Government</a:t>
            </a:r>
          </a:p>
        </p:txBody>
      </p:sp>
      <p:sp>
        <p:nvSpPr>
          <p:cNvPr id="20" name="page-223">
            <a:extLst xmlns:a="http://schemas.openxmlformats.org/drawingml/2006/main">
              <a:ext uri="{FF2B5EF4-FFF2-40B4-BE49-F238E27FC236}">
                <a16:creationId xmlns:a16="http://schemas.microsoft.com/office/drawing/2014/main" id="{C7B57AFF-BB20-4356-A3F5-F7DD51D8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67475"/>
            <a:ext cx="5524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9CC3F5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02addd0f24375"/>
          <a:stretch xmlns:a="http://schemas.openxmlformats.org/drawingml/2006/main"/>
        </p:blipFill>
        <p:spPr>
          <a:xfrm xmlns:a="http://schemas.openxmlformats.org/drawingml/2006/main">
            <a:off x="9115425" y="1104900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</p:spPr>
      </p:pic>
    </p:spTree>
    <p:extLst>
      <p:ext uri="{BB962C8B-B14F-4D97-AF65-F5344CB8AC3E}">
        <p14:creationId xmlns:p14="http://schemas.microsoft.com/office/powerpoint/2010/main" val="1106344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2026-07-19T00:54:44.4890000Z</dcterms:created>
  <dcterms:modified xsi:type="dcterms:W3CDTF">2026-07-19T00:54:44.4890000Z</dcterms:modified>
</coreProperties>
</file>