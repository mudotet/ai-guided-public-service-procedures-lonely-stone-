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ee2328ad734d9b" /><Relationship Type="http://schemas.openxmlformats.org/officeDocument/2006/relationships/extended-properties" Target="/docProps/app.xml" Id="Ra2992ad3fa2b4816" /><Relationship Type="http://schemas.openxmlformats.org/officeDocument/2006/relationships/officeDocument" Target="/ppt/presentation.xml" Id="Ra7057ea32eb84a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fddd81a2b48bb"/>
  </p:sldMasterIdLst>
  <p:notesMasterIdLst>
    <p:notesMasterId xmlns:r="http://schemas.openxmlformats.org/officeDocument/2006/relationships" r:id="R81d440e35b3540d1"/>
  </p:notesMasterIdLst>
  <p:sldIdLst>
    <p:sldId xmlns:r="http://schemas.openxmlformats.org/officeDocument/2006/relationships" id="256" r:id="R4db5d12d3c504ebf"/>
    <p:sldId xmlns:r="http://schemas.openxmlformats.org/officeDocument/2006/relationships" id="257" r:id="R51d2a788ff734101"/>
    <p:sldId xmlns:r="http://schemas.openxmlformats.org/officeDocument/2006/relationships" id="258" r:id="R1f633e60aaf74be5"/>
    <p:sldId xmlns:r="http://schemas.openxmlformats.org/officeDocument/2006/relationships" id="259" r:id="Rda6305262c104e87"/>
    <p:sldId xmlns:r="http://schemas.openxmlformats.org/officeDocument/2006/relationships" id="260" r:id="R3c8ff461b3514823"/>
    <p:sldId xmlns:r="http://schemas.openxmlformats.org/officeDocument/2006/relationships" id="261" r:id="R3c5c129800454c3f"/>
    <p:sldId xmlns:r="http://schemas.openxmlformats.org/officeDocument/2006/relationships" id="262" r:id="R0052f2fd7aed4bba"/>
    <p:sldId xmlns:r="http://schemas.openxmlformats.org/officeDocument/2006/relationships" id="263" r:id="R9d5b04b513cf43fc"/>
    <p:sldId xmlns:r="http://schemas.openxmlformats.org/officeDocument/2006/relationships" id="264" r:id="R2ea75fd807cf4f2b"/>
    <p:sldId xmlns:r="http://schemas.openxmlformats.org/officeDocument/2006/relationships" id="265" r:id="R731f44c4934846e3"/>
    <p:sldId xmlns:r="http://schemas.openxmlformats.org/officeDocument/2006/relationships" id="266" r:id="R73fad5df8e9b46e0"/>
    <p:sldId xmlns:r="http://schemas.openxmlformats.org/officeDocument/2006/relationships" id="267" r:id="R9d047489056146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9df280449944e5" /><Relationship Type="http://schemas.openxmlformats.org/officeDocument/2006/relationships/slideMaster" Target="/ppt/slideMasters/slideMaster1.xml" Id="R4d0fddd81a2b48bb" /><Relationship Type="http://schemas.openxmlformats.org/officeDocument/2006/relationships/notesMaster" Target="/ppt/notesMasters/notesMaster1.xml" Id="R81d440e35b3540d1" /><Relationship Type="http://schemas.openxmlformats.org/officeDocument/2006/relationships/presProps" Target="/ppt/presProps.xml" Id="Rd988f48988624a1b" /><Relationship Type="http://schemas.openxmlformats.org/officeDocument/2006/relationships/tableStyles" Target="/ppt/tableStyles.xml" Id="R5f9597801d5c40d8" /><Relationship Type="http://schemas.openxmlformats.org/officeDocument/2006/relationships/slide" Target="/ppt/slides/slide1.xml" Id="R4db5d12d3c504ebf" /><Relationship Type="http://schemas.openxmlformats.org/officeDocument/2006/relationships/slide" Target="/ppt/slides/slide2.xml" Id="R51d2a788ff734101" /><Relationship Type="http://schemas.openxmlformats.org/officeDocument/2006/relationships/slide" Target="/ppt/slides/slide3.xml" Id="R1f633e60aaf74be5" /><Relationship Type="http://schemas.openxmlformats.org/officeDocument/2006/relationships/slide" Target="/ppt/slides/slide4.xml" Id="Rda6305262c104e87" /><Relationship Type="http://schemas.openxmlformats.org/officeDocument/2006/relationships/slide" Target="/ppt/slides/slide5.xml" Id="R3c8ff461b3514823" /><Relationship Type="http://schemas.openxmlformats.org/officeDocument/2006/relationships/slide" Target="/ppt/slides/slide6.xml" Id="R3c5c129800454c3f" /><Relationship Type="http://schemas.openxmlformats.org/officeDocument/2006/relationships/slide" Target="/ppt/slides/slide7.xml" Id="R0052f2fd7aed4bba" /><Relationship Type="http://schemas.openxmlformats.org/officeDocument/2006/relationships/slide" Target="/ppt/slides/slide8.xml" Id="R9d5b04b513cf43fc" /><Relationship Type="http://schemas.openxmlformats.org/officeDocument/2006/relationships/slide" Target="/ppt/slides/slide9.xml" Id="R2ea75fd807cf4f2b" /><Relationship Type="http://schemas.openxmlformats.org/officeDocument/2006/relationships/slide" Target="/ppt/slides/slide10.xml" Id="R731f44c4934846e3" /><Relationship Type="http://schemas.openxmlformats.org/officeDocument/2006/relationships/slide" Target="/ppt/slides/slide11.xml" Id="R73fad5df8e9b46e0" /><Relationship Type="http://schemas.openxmlformats.org/officeDocument/2006/relationships/slide" Target="/ppt/slides/slide12.xml" Id="R9d047489056146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72543a12a4a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c9c955ee7946b9" /><Relationship Type="http://schemas.openxmlformats.org/officeDocument/2006/relationships/notesMaster" Target="/ppt/notesMasters/notesMaster1.xml" Id="R82268c61d1af4c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eed795a67b4bc6" /><Relationship Type="http://schemas.openxmlformats.org/officeDocument/2006/relationships/notesMaster" Target="/ppt/notesMasters/notesMaster1.xml" Id="R9fb7ecf28a0744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7a1e7396c14351" /><Relationship Type="http://schemas.openxmlformats.org/officeDocument/2006/relationships/notesMaster" Target="/ppt/notesMasters/notesMaster1.xml" Id="Rd7f02b52c25542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516d149366470f" /><Relationship Type="http://schemas.openxmlformats.org/officeDocument/2006/relationships/notesMaster" Target="/ppt/notesMasters/notesMaster1.xml" Id="R4006525534e04c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554f39bc154af7" /><Relationship Type="http://schemas.openxmlformats.org/officeDocument/2006/relationships/notesMaster" Target="/ppt/notesMasters/notesMaster1.xml" Id="Rb3c6c136e3e14e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a8b55a80c74fd7" /><Relationship Type="http://schemas.openxmlformats.org/officeDocument/2006/relationships/notesMaster" Target="/ppt/notesMasters/notesMaster1.xml" Id="R8c0da2576c5049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5b55d1c1f44583" /><Relationship Type="http://schemas.openxmlformats.org/officeDocument/2006/relationships/notesMaster" Target="/ppt/notesMasters/notesMaster1.xml" Id="R5c04bb662b5e40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2839dbdad14ed3" /><Relationship Type="http://schemas.openxmlformats.org/officeDocument/2006/relationships/notesMaster" Target="/ppt/notesMasters/notesMaster1.xml" Id="R487fd23f24874a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9e13f7b8b94f58" /><Relationship Type="http://schemas.openxmlformats.org/officeDocument/2006/relationships/notesMaster" Target="/ppt/notesMasters/notesMaster1.xml" Id="R0468be9ca22b45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71ef203d344958" /><Relationship Type="http://schemas.openxmlformats.org/officeDocument/2006/relationships/notesMaster" Target="/ppt/notesMasters/notesMaster1.xml" Id="Rd34f3396fb6b4b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a43929bc964d5a" /><Relationship Type="http://schemas.openxmlformats.org/officeDocument/2006/relationships/notesMaster" Target="/ppt/notesMasters/notesMaster1.xml" Id="R0d773e6be72a40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d69b6a8fcc485a" /><Relationship Type="http://schemas.openxmlformats.org/officeDocument/2006/relationships/notesMaster" Target="/ppt/notesMasters/notesMaster1.xml" Id="R7ee5cfdd2603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387eda9234b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dfcdae1ca84a0b" /><Relationship Type="http://schemas.openxmlformats.org/officeDocument/2006/relationships/slideLayout" Target="/ppt/slideLayouts/slideLayout1.xml" Id="Ra434fc17fd8e4b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34fc17fd8e4b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a1843819148f5" /><Relationship Type="http://schemas.openxmlformats.org/officeDocument/2006/relationships/image" Target="/ppt/media/image.jpeg" Id="Rff7dfa8b44b842aa" /><Relationship Type="http://schemas.openxmlformats.org/officeDocument/2006/relationships/notesSlide" Target="/ppt/notesSlides/notesSlide1.xml" Id="Rb3e0daaf5608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a3ea184fc45e4" /><Relationship Type="http://schemas.openxmlformats.org/officeDocument/2006/relationships/notesSlide" Target="/ppt/notesSlides/notesSlide2.xml" Id="Rb3ccb28b188a48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7db609fc5475b" /><Relationship Type="http://schemas.openxmlformats.org/officeDocument/2006/relationships/notesSlide" Target="/ppt/notesSlides/notesSlide3.xml" Id="R2ec430deed6d42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3df6282e047b9" /><Relationship Type="http://schemas.openxmlformats.org/officeDocument/2006/relationships/image" Target="/ppt/media/image2.jpeg" Id="R4c88c9c078f74a81" /><Relationship Type="http://schemas.openxmlformats.org/officeDocument/2006/relationships/notesSlide" Target="/ppt/notesSlides/notesSlide4.xml" Id="Rfe4e0d1887374f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cc0a864454848" /><Relationship Type="http://schemas.openxmlformats.org/officeDocument/2006/relationships/image" Target="/ppt/media/image3.jpeg" Id="R842e74f2a4054b3d" /><Relationship Type="http://schemas.openxmlformats.org/officeDocument/2006/relationships/notesSlide" Target="/ppt/notesSlides/notesSlide5.xml" Id="R18cee6531f094c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8c81b5c95491e" /><Relationship Type="http://schemas.openxmlformats.org/officeDocument/2006/relationships/notesSlide" Target="/ppt/notesSlides/notesSlide6.xml" Id="R76bbabb55fd244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96ff253a741d9" /><Relationship Type="http://schemas.openxmlformats.org/officeDocument/2006/relationships/image" Target="/ppt/media/image.png" Id="Rf0f4a3a9c65342d3" /><Relationship Type="http://schemas.openxmlformats.org/officeDocument/2006/relationships/notesSlide" Target="/ppt/notesSlides/notesSlide7.xml" Id="R3ad4a772d74443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077bff8b74898" /><Relationship Type="http://schemas.openxmlformats.org/officeDocument/2006/relationships/notesSlide" Target="/ppt/notesSlides/notesSlide8.xml" Id="R498b40c67bc14e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c3eea50ac45ae" /><Relationship Type="http://schemas.openxmlformats.org/officeDocument/2006/relationships/image" Target="/ppt/media/image4.jpeg" Id="R6deff2f9fed040ae" /><Relationship Type="http://schemas.openxmlformats.org/officeDocument/2006/relationships/notesSlide" Target="/ppt/notesSlides/notesSlide9.xml" Id="R9e8f365e85da40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b1d2b41b74161" /><Relationship Type="http://schemas.openxmlformats.org/officeDocument/2006/relationships/notesSlide" Target="/ppt/notesSlides/notesSlide10.xml" Id="R18335453ad7e4a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11f5fb83148e5" /><Relationship Type="http://schemas.openxmlformats.org/officeDocument/2006/relationships/notesSlide" Target="/ppt/notesSlides/notesSlide11.xml" Id="Rec66c4b82a1c44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dd08d6d984b9f" /><Relationship Type="http://schemas.openxmlformats.org/officeDocument/2006/relationships/image" Target="/ppt/media/image5.jpeg" Id="Rca3628b7ead142d2" /><Relationship Type="http://schemas.openxmlformats.org/officeDocument/2006/relationships/notesSlide" Target="/ppt/notesSlides/notesSlide12.xml" Id="R0c3435914c4d42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ox-1">
            <a:extLst xmlns:a="http://schemas.openxmlformats.org/drawingml/2006/main">
              <a:ext uri="{FF2B5EF4-FFF2-40B4-BE49-F238E27FC236}">
                <a16:creationId xmlns:a16="http://schemas.microsoft.com/office/drawing/2014/main" id="{406AEA97-D990-4800-AF03-83BDF137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7EAA5572-31FC-4847-A69D-D5A9580F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42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SMART GOVERNMENT · NIDit · LONELY STONE</a:t>
            </a:r>
          </a:p>
        </p:txBody>
      </p:sp>
      <p:sp>
        <p:nvSpPr>
          <p:cNvPr id="3" name="brand-3">
            <a:extLst xmlns:a="http://schemas.openxmlformats.org/drawingml/2006/main">
              <a:ext uri="{FF2B5EF4-FFF2-40B4-BE49-F238E27FC236}">
                <a16:creationId xmlns:a16="http://schemas.microsoft.com/office/drawing/2014/main" id="{EC71C587-D65D-42F6-A87A-AFF43B05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466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CIVICPATH AI</a:t>
            </a:r>
          </a:p>
        </p:txBody>
      </p:sp>
      <p:sp>
        <p:nvSpPr>
          <p:cNvPr id="4" name="cover-title-4">
            <a:extLst xmlns:a="http://schemas.openxmlformats.org/drawingml/2006/main">
              <a:ext uri="{FF2B5EF4-FFF2-40B4-BE49-F238E27FC236}">
                <a16:creationId xmlns:a16="http://schemas.microsoft.com/office/drawing/2014/main" id="{B113F334-7D4A-485F-81FF-6FF7D144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5143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AI-guided public
service procedures</a:t>
            </a:r>
          </a:p>
        </p:txBody>
      </p:sp>
      <p:sp>
        <p:nvSpPr>
          <p:cNvPr id="5" name="cover-subtitle-5">
            <a:extLst xmlns:a="http://schemas.openxmlformats.org/drawingml/2006/main">
              <a:ext uri="{FF2B5EF4-FFF2-40B4-BE49-F238E27FC236}">
                <a16:creationId xmlns:a16="http://schemas.microsoft.com/office/drawing/2014/main" id="{77DF455B-E73A-484E-A264-6EFDDE82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Guidance citizens trust. Applications officers can process.</a:t>
            </a:r>
          </a:p>
        </p:txBody>
      </p:sp>
      <p:sp>
        <p:nvSpPr>
          <p:cNvPr id="6" name="scope-pill-6">
            <a:extLst xmlns:a="http://schemas.openxmlformats.org/drawingml/2006/main">
              <a:ext uri="{FF2B5EF4-FFF2-40B4-BE49-F238E27FC236}">
                <a16:creationId xmlns:a16="http://schemas.microsoft.com/office/drawing/2014/main" id="{AE2B6A89-4B01-4612-BDDE-01588807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pe-7">
            <a:extLst xmlns:a="http://schemas.openxmlformats.org/drawingml/2006/main">
              <a:ext uri="{FF2B5EF4-FFF2-40B4-BE49-F238E27FC236}">
                <a16:creationId xmlns:a16="http://schemas.microsoft.com/office/drawing/2014/main" id="{2CC4E52E-ED07-4453-80BD-757E6D9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2057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STARTING WITH BIRTH REGISTRATION</a:t>
            </a:r>
          </a:p>
        </p:txBody>
      </p:sp>
      <p:sp>
        <p:nvSpPr>
          <p:cNvPr id="8" name="live-label-8">
            <a:extLst xmlns:a="http://schemas.openxmlformats.org/drawingml/2006/main">
              <a:ext uri="{FF2B5EF4-FFF2-40B4-BE49-F238E27FC236}">
                <a16:creationId xmlns:a16="http://schemas.microsoft.com/office/drawing/2014/main" id="{2A5BCAC8-06F1-4DE6-867C-E5160E3E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Live demo</a:t>
            </a:r>
          </a:p>
        </p:txBody>
      </p:sp>
      <p:sp>
        <p:nvSpPr>
          <p:cNvPr id="9" name="url-9">
            <a:extLst xmlns:a="http://schemas.openxmlformats.org/drawingml/2006/main">
              <a:ext uri="{FF2B5EF4-FFF2-40B4-BE49-F238E27FC236}">
                <a16:creationId xmlns:a16="http://schemas.microsoft.com/office/drawing/2014/main" id="{8301D656-1F26-4358-872C-6281F41F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45243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ai-guided-public-service-procedures.vercel.app</a:t>
            </a:r>
          </a:p>
        </p:txBody>
      </p:sp>
      <p:sp>
        <p:nvSpPr>
          <p:cNvPr id="10" name="cover-media-frame-10">
            <a:extLst xmlns:a="http://schemas.openxmlformats.org/drawingml/2006/main">
              <a:ext uri="{FF2B5EF4-FFF2-40B4-BE49-F238E27FC236}">
                <a16:creationId xmlns:a16="http://schemas.microsoft.com/office/drawing/2014/main" id="{ADF82FE1-4D71-4C0D-9034-1F4DFB24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62075"/>
            <a:ext cx="56197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media-inner-11">
            <a:extLst xmlns:a="http://schemas.openxmlformats.org/drawingml/2006/main">
              <a:ext uri="{FF2B5EF4-FFF2-40B4-BE49-F238E27FC236}">
                <a16:creationId xmlns:a16="http://schemas.microsoft.com/office/drawing/2014/main" id="{2AE81404-8F1E-4378-A824-3DD3113C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14475"/>
            <a:ext cx="53149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proof-12">
            <a:extLst xmlns:a="http://schemas.openxmlformats.org/drawingml/2006/main">
              <a:ext uri="{FF2B5EF4-FFF2-40B4-BE49-F238E27FC236}">
                <a16:creationId xmlns:a16="http://schemas.microsoft.com/office/drawing/2014/main" id="{E293A3FB-1487-4125-83C4-05629D82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81575"/>
            <a:ext cx="501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GUIDED INTAKE · PRE-CHECK · PDF</a:t>
            </a:r>
          </a:p>
        </p:txBody>
      </p:sp>
      <p:sp>
        <p:nvSpPr>
          <p:cNvPr id="13" name="footer-13">
            <a:extLst xmlns:a="http://schemas.openxmlformats.org/drawingml/2006/main">
              <a:ext uri="{FF2B5EF4-FFF2-40B4-BE49-F238E27FC236}">
                <a16:creationId xmlns:a16="http://schemas.microsoft.com/office/drawing/2014/main" id="{C3BC9692-7D6B-4607-8A95-8CD7F3BF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National Institute for Digital Technologies and Digital Transformation</a:t>
            </a:r>
          </a:p>
        </p:txBody>
      </p:sp>
      <p:sp>
        <p:nvSpPr>
          <p:cNvPr id="14" name="page-14">
            <a:extLst xmlns:a="http://schemas.openxmlformats.org/drawingml/2006/main">
              <a:ext uri="{FF2B5EF4-FFF2-40B4-BE49-F238E27FC236}">
                <a16:creationId xmlns:a16="http://schemas.microsoft.com/office/drawing/2014/main" id="{304B452C-6F10-45F7-8308-D5DD9B70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dfa8b44b842aa"/>
          <a:stretch xmlns:a="http://schemas.openxmlformats.org/drawingml/2006/main"/>
        </p:blipFill>
        <p:spPr>
          <a:xfrm xmlns:a="http://schemas.openxmlformats.org/drawingml/2006/main">
            <a:off x="6342005" y="1571625"/>
            <a:ext cx="4975341" cy="280035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</p:spTree>
    <p:extLst>
      <p:ext uri="{BB962C8B-B14F-4D97-AF65-F5344CB8AC3E}">
        <p14:creationId xmlns:p14="http://schemas.microsoft.com/office/powerpoint/2010/main" val="1183952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6">
            <a:extLst xmlns:a="http://schemas.openxmlformats.org/drawingml/2006/main">
              <a:ext uri="{FF2B5EF4-FFF2-40B4-BE49-F238E27FC236}">
                <a16:creationId xmlns:a16="http://schemas.microsoft.com/office/drawing/2014/main" id="{87E4E1D0-1A54-4C90-AFAC-16D3086A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46CE1FCA-CBB9-49BD-9488-C49519D0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The failure happens before submission.</a:t>
            </a:r>
          </a:p>
        </p:txBody>
      </p:sp>
      <p:sp>
        <p:nvSpPr>
          <p:cNvPr id="3" name="footer-18">
            <a:extLst xmlns:a="http://schemas.openxmlformats.org/drawingml/2006/main">
              <a:ext uri="{FF2B5EF4-FFF2-40B4-BE49-F238E27FC236}">
                <a16:creationId xmlns:a16="http://schemas.microsoft.com/office/drawing/2014/main" id="{3E5CD012-A032-4750-82D5-C2493076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B0E511C3-DA14-4376-8584-269147CC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lede-20">
            <a:extLst xmlns:a="http://schemas.openxmlformats.org/drawingml/2006/main">
              <a:ext uri="{FF2B5EF4-FFF2-40B4-BE49-F238E27FC236}">
                <a16:creationId xmlns:a16="http://schemas.microsoft.com/office/drawing/2014/main" id="{6BEEA74B-ED87-4444-B5CF-12A3D0C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Citizens enter the process without certainty—and discover mistakes only after an official reviews the file.</a:t>
            </a:r>
          </a:p>
        </p:txBody>
      </p:sp>
      <p:sp>
        <p:nvSpPr>
          <p:cNvPr id="6" name="rule-21">
            <a:extLst xmlns:a="http://schemas.openxmlformats.org/drawingml/2006/main">
              <a:ext uri="{FF2B5EF4-FFF2-40B4-BE49-F238E27FC236}">
                <a16:creationId xmlns:a16="http://schemas.microsoft.com/office/drawing/2014/main" id="{5D71AC58-7AC4-445B-9CC9-33F1A4F7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-22">
            <a:extLst xmlns:a="http://schemas.openxmlformats.org/drawingml/2006/main">
              <a:ext uri="{FF2B5EF4-FFF2-40B4-BE49-F238E27FC236}">
                <a16:creationId xmlns:a16="http://schemas.microsoft.com/office/drawing/2014/main" id="{768B20F2-F8D6-4068-A6CB-22B58F84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62225"/>
            <a:ext cx="95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ule-23">
            <a:extLst xmlns:a="http://schemas.openxmlformats.org/drawingml/2006/main">
              <a:ext uri="{FF2B5EF4-FFF2-40B4-BE49-F238E27FC236}">
                <a16:creationId xmlns:a16="http://schemas.microsoft.com/office/drawing/2014/main" id="{93C32F70-64BE-45FA-87F8-14D934B5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62225"/>
            <a:ext cx="95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ber-24">
            <a:extLst xmlns:a="http://schemas.openxmlformats.org/drawingml/2006/main">
              <a:ext uri="{FF2B5EF4-FFF2-40B4-BE49-F238E27FC236}">
                <a16:creationId xmlns:a16="http://schemas.microsoft.com/office/drawing/2014/main" id="{EA2D89AD-170B-4A2F-A245-200D2599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problem-25">
            <a:extLst xmlns:a="http://schemas.openxmlformats.org/drawingml/2006/main">
              <a:ext uri="{FF2B5EF4-FFF2-40B4-BE49-F238E27FC236}">
                <a16:creationId xmlns:a16="http://schemas.microsoft.com/office/drawing/2014/main" id="{941B3E4C-4D22-4198-A8EF-B1A5C2CE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285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What do I
prepare?</a:t>
            </a:r>
          </a:p>
        </p:txBody>
      </p:sp>
      <p:sp>
        <p:nvSpPr>
          <p:cNvPr id="11" name="problem-copy-26">
            <a:extLst xmlns:a="http://schemas.openxmlformats.org/drawingml/2006/main">
              <a:ext uri="{FF2B5EF4-FFF2-40B4-BE49-F238E27FC236}">
                <a16:creationId xmlns:a16="http://schemas.microsoft.com/office/drawing/2014/main" id="{E1457CD0-4B5C-4DA5-8F61-2C7EEE80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Documents, forms, office, order of steps—information is fragmented and hard to interpret.</a:t>
            </a:r>
          </a:p>
        </p:txBody>
      </p:sp>
      <p:sp>
        <p:nvSpPr>
          <p:cNvPr id="12" name="number-27">
            <a:extLst xmlns:a="http://schemas.openxmlformats.org/drawingml/2006/main">
              <a:ext uri="{FF2B5EF4-FFF2-40B4-BE49-F238E27FC236}">
                <a16:creationId xmlns:a16="http://schemas.microsoft.com/office/drawing/2014/main" id="{D68D326F-0583-4E54-B464-ECE34A13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problem-28">
            <a:extLst xmlns:a="http://schemas.openxmlformats.org/drawingml/2006/main">
              <a:ext uri="{FF2B5EF4-FFF2-40B4-BE49-F238E27FC236}">
                <a16:creationId xmlns:a16="http://schemas.microsoft.com/office/drawing/2014/main" id="{13162AE9-4A69-413A-8935-C9F5DCE9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52775"/>
            <a:ext cx="28956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Did I fill it
in correctly?</a:t>
            </a:r>
          </a:p>
        </p:txBody>
      </p:sp>
      <p:sp>
        <p:nvSpPr>
          <p:cNvPr id="14" name="problem-copy-29">
            <a:extLst xmlns:a="http://schemas.openxmlformats.org/drawingml/2006/main">
              <a:ext uri="{FF2B5EF4-FFF2-40B4-BE49-F238E27FC236}">
                <a16:creationId xmlns:a16="http://schemas.microsoft.com/office/drawing/2014/main" id="{37C05DF2-ABEA-4F8D-8471-50F50216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Missing fields and conflicts surface late—after time has already been spent submitting or traveling.</a:t>
            </a:r>
          </a:p>
        </p:txBody>
      </p:sp>
      <p:sp>
        <p:nvSpPr>
          <p:cNvPr id="15" name="number-30">
            <a:extLst xmlns:a="http://schemas.openxmlformats.org/drawingml/2006/main">
              <a:ext uri="{FF2B5EF4-FFF2-40B4-BE49-F238E27FC236}">
                <a16:creationId xmlns:a16="http://schemas.microsoft.com/office/drawing/2014/main" id="{B771CD93-18DE-4F31-A011-41E97754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problem-31">
            <a:extLst xmlns:a="http://schemas.openxmlformats.org/drawingml/2006/main">
              <a:ext uri="{FF2B5EF4-FFF2-40B4-BE49-F238E27FC236}">
                <a16:creationId xmlns:a16="http://schemas.microsoft.com/office/drawing/2014/main" id="{FC43564F-876B-4907-AF98-27A74EBB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52775"/>
            <a:ext cx="2933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Who can
answer now?</a:t>
            </a:r>
          </a:p>
        </p:txBody>
      </p:sp>
      <p:sp>
        <p:nvSpPr>
          <p:cNvPr id="17" name="problem-copy-32">
            <a:extLst xmlns:a="http://schemas.openxmlformats.org/drawingml/2006/main">
              <a:ext uri="{FF2B5EF4-FFF2-40B4-BE49-F238E27FC236}">
                <a16:creationId xmlns:a16="http://schemas.microsoft.com/office/drawing/2014/main" id="{6BA17522-69C1-41C8-B6A2-BF7D22F4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Too many repeat questions, too few officers—and citizens make avoidable in-person trips.</a:t>
            </a:r>
          </a:p>
        </p:txBody>
      </p:sp>
    </p:spTree>
    <p:extLst>
      <p:ext uri="{BB962C8B-B14F-4D97-AF65-F5344CB8AC3E}">
        <p14:creationId xmlns:p14="http://schemas.microsoft.com/office/powerpoint/2010/main" val="640732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34">
            <a:extLst xmlns:a="http://schemas.openxmlformats.org/drawingml/2006/main">
              <a:ext uri="{FF2B5EF4-FFF2-40B4-BE49-F238E27FC236}">
                <a16:creationId xmlns:a16="http://schemas.microsoft.com/office/drawing/2014/main" id="{B464B2F3-7DE2-4150-9CA7-D4567C73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THE SOLUTION</a:t>
            </a:r>
          </a:p>
        </p:txBody>
      </p:sp>
      <p:sp>
        <p:nvSpPr>
          <p:cNvPr id="2" name="title-35">
            <a:extLst xmlns:a="http://schemas.openxmlformats.org/drawingml/2006/main">
              <a:ext uri="{FF2B5EF4-FFF2-40B4-BE49-F238E27FC236}">
                <a16:creationId xmlns:a16="http://schemas.microsoft.com/office/drawing/2014/main" id="{71450CB3-ABA7-49AC-93CF-0F647ED2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One guided flow turns uncertainty into action.</a:t>
            </a:r>
          </a:p>
        </p:txBody>
      </p:sp>
      <p:sp>
        <p:nvSpPr>
          <p:cNvPr id="3" name="footer-36">
            <a:extLst xmlns:a="http://schemas.openxmlformats.org/drawingml/2006/main">
              <a:ext uri="{FF2B5EF4-FFF2-40B4-BE49-F238E27FC236}">
                <a16:creationId xmlns:a16="http://schemas.microsoft.com/office/drawing/2014/main" id="{6AAF4F35-B398-484C-8BB6-52C2CAF0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37">
            <a:extLst xmlns:a="http://schemas.openxmlformats.org/drawingml/2006/main">
              <a:ext uri="{FF2B5EF4-FFF2-40B4-BE49-F238E27FC236}">
                <a16:creationId xmlns:a16="http://schemas.microsoft.com/office/drawing/2014/main" id="{B3D78CBB-0E3C-4830-9D71-A3A07BBE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lede-38">
            <a:extLst xmlns:a="http://schemas.openxmlformats.org/drawingml/2006/main">
              <a:ext uri="{FF2B5EF4-FFF2-40B4-BE49-F238E27FC236}">
                <a16:creationId xmlns:a16="http://schemas.microsoft.com/office/drawing/2014/main" id="{2D2CB8F4-6EB1-480A-ADC2-30EF40D5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 citizen describes the need once. CivicPath AI clarifies, prepares, and checks—inside the portal they already use.</a:t>
            </a:r>
          </a:p>
        </p:txBody>
      </p:sp>
      <p:sp>
        <p:nvSpPr>
          <p:cNvPr id="6" name="rule-39">
            <a:extLst xmlns:a="http://schemas.openxmlformats.org/drawingml/2006/main">
              <a:ext uri="{FF2B5EF4-FFF2-40B4-BE49-F238E27FC236}">
                <a16:creationId xmlns:a16="http://schemas.microsoft.com/office/drawing/2014/main" id="{9CF4B2AD-1B03-4E06-8727-399E4183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ode-40">
            <a:extLst xmlns:a="http://schemas.openxmlformats.org/drawingml/2006/main">
              <a:ext uri="{FF2B5EF4-FFF2-40B4-BE49-F238E27FC236}">
                <a16:creationId xmlns:a16="http://schemas.microsoft.com/office/drawing/2014/main" id="{47182B71-9B8A-4432-93C5-69852595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ode-41">
            <a:extLst xmlns:a="http://schemas.openxmlformats.org/drawingml/2006/main">
              <a:ext uri="{FF2B5EF4-FFF2-40B4-BE49-F238E27FC236}">
                <a16:creationId xmlns:a16="http://schemas.microsoft.com/office/drawing/2014/main" id="{056AE414-4212-4E4F-B99C-7F56F0BC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ode-42">
            <a:extLst xmlns:a="http://schemas.openxmlformats.org/drawingml/2006/main">
              <a:ext uri="{FF2B5EF4-FFF2-40B4-BE49-F238E27FC236}">
                <a16:creationId xmlns:a16="http://schemas.microsoft.com/office/drawing/2014/main" id="{1FB3E742-7449-4C67-A2E4-4B2430EA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ode-43">
            <a:extLst xmlns:a="http://schemas.openxmlformats.org/drawingml/2006/main">
              <a:ext uri="{FF2B5EF4-FFF2-40B4-BE49-F238E27FC236}">
                <a16:creationId xmlns:a16="http://schemas.microsoft.com/office/drawing/2014/main" id="{475C842D-20B0-424F-B746-094AA21D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44">
            <a:extLst xmlns:a="http://schemas.openxmlformats.org/drawingml/2006/main">
              <a:ext uri="{FF2B5EF4-FFF2-40B4-BE49-F238E27FC236}">
                <a16:creationId xmlns:a16="http://schemas.microsoft.com/office/drawing/2014/main" id="{D33B0696-D40C-4C78-9408-04BE02FF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2" name="step-number-45">
            <a:extLst xmlns:a="http://schemas.openxmlformats.org/drawingml/2006/main">
              <a:ext uri="{FF2B5EF4-FFF2-40B4-BE49-F238E27FC236}">
                <a16:creationId xmlns:a16="http://schemas.microsoft.com/office/drawing/2014/main" id="{B91DA87B-5696-4C39-A068-E9E366ED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step-number-46">
            <a:extLst xmlns:a="http://schemas.openxmlformats.org/drawingml/2006/main">
              <a:ext uri="{FF2B5EF4-FFF2-40B4-BE49-F238E27FC236}">
                <a16:creationId xmlns:a16="http://schemas.microsoft.com/office/drawing/2014/main" id="{F02E3934-8153-48F3-87DF-0254C451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4" name="step-number-47">
            <a:extLst xmlns:a="http://schemas.openxmlformats.org/drawingml/2006/main">
              <a:ext uri="{FF2B5EF4-FFF2-40B4-BE49-F238E27FC236}">
                <a16:creationId xmlns:a16="http://schemas.microsoft.com/office/drawing/2014/main" id="{1A0EBBF0-ADBE-4A99-8FA9-17EB0A0A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5" name="step-title-48">
            <a:extLst xmlns:a="http://schemas.openxmlformats.org/drawingml/2006/main">
              <a:ext uri="{FF2B5EF4-FFF2-40B4-BE49-F238E27FC236}">
                <a16:creationId xmlns:a16="http://schemas.microsoft.com/office/drawing/2014/main" id="{D7893E2B-2D2E-4F62-9D7F-878FCC2E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Speak or type</a:t>
            </a:r>
          </a:p>
        </p:txBody>
      </p:sp>
      <p:sp>
        <p:nvSpPr>
          <p:cNvPr id="16" name="step-copy-49">
            <a:extLst xmlns:a="http://schemas.openxmlformats.org/drawingml/2006/main">
              <a:ext uri="{FF2B5EF4-FFF2-40B4-BE49-F238E27FC236}">
                <a16:creationId xmlns:a16="http://schemas.microsoft.com/office/drawing/2014/main" id="{FFFF9AEA-B242-4E9E-A90D-B64D2C5B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286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Describe the situation in everyday language.</a:t>
            </a:r>
          </a:p>
        </p:txBody>
      </p:sp>
      <p:sp>
        <p:nvSpPr>
          <p:cNvPr id="17" name="step-title-50">
            <a:extLst xmlns:a="http://schemas.openxmlformats.org/drawingml/2006/main">
              <a:ext uri="{FF2B5EF4-FFF2-40B4-BE49-F238E27FC236}">
                <a16:creationId xmlns:a16="http://schemas.microsoft.com/office/drawing/2014/main" id="{60FF81B2-3299-4603-A0C3-9254C9B5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Clarify</a:t>
            </a:r>
          </a:p>
        </p:txBody>
      </p:sp>
      <p:sp>
        <p:nvSpPr>
          <p:cNvPr id="18" name="step-copy-51">
            <a:extLst xmlns:a="http://schemas.openxmlformats.org/drawingml/2006/main">
              <a:ext uri="{FF2B5EF4-FFF2-40B4-BE49-F238E27FC236}">
                <a16:creationId xmlns:a16="http://schemas.microsoft.com/office/drawing/2014/main" id="{ACA740A5-B291-4B8D-8487-FF5846D3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AI asks the next best question and detects applicable cases.</a:t>
            </a:r>
          </a:p>
        </p:txBody>
      </p:sp>
      <p:sp>
        <p:nvSpPr>
          <p:cNvPr id="19" name="step-title-52">
            <a:extLst xmlns:a="http://schemas.openxmlformats.org/drawingml/2006/main">
              <a:ext uri="{FF2B5EF4-FFF2-40B4-BE49-F238E27FC236}">
                <a16:creationId xmlns:a16="http://schemas.microsoft.com/office/drawing/2014/main" id="{13E4ACF3-60D2-414C-B766-02FC428A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Prepare</a:t>
            </a:r>
          </a:p>
        </p:txBody>
      </p:sp>
      <p:sp>
        <p:nvSpPr>
          <p:cNvPr id="20" name="step-copy-53">
            <a:extLst xmlns:a="http://schemas.openxmlformats.org/drawingml/2006/main">
              <a:ext uri="{FF2B5EF4-FFF2-40B4-BE49-F238E27FC236}">
                <a16:creationId xmlns:a16="http://schemas.microsoft.com/office/drawing/2014/main" id="{3C6FC4E3-7046-4F0F-9BDA-017F3290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Receive a case-aware checklist, steps, examples, and legal basis.</a:t>
            </a:r>
          </a:p>
        </p:txBody>
      </p:sp>
      <p:sp>
        <p:nvSpPr>
          <p:cNvPr id="21" name="step-title-54">
            <a:extLst xmlns:a="http://schemas.openxmlformats.org/drawingml/2006/main">
              <a:ext uri="{FF2B5EF4-FFF2-40B4-BE49-F238E27FC236}">
                <a16:creationId xmlns:a16="http://schemas.microsoft.com/office/drawing/2014/main" id="{B8C985BB-26D8-4B93-A7F8-A53B1824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Check</a:t>
            </a:r>
          </a:p>
        </p:txBody>
      </p:sp>
      <p:sp>
        <p:nvSpPr>
          <p:cNvPr id="22" name="step-copy-55">
            <a:extLst xmlns:a="http://schemas.openxmlformats.org/drawingml/2006/main">
              <a:ext uri="{FF2B5EF4-FFF2-40B4-BE49-F238E27FC236}">
                <a16:creationId xmlns:a16="http://schemas.microsoft.com/office/drawing/2014/main" id="{9B425A7E-0751-4BEC-8A29-97785D66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Catch missing fields and conflicts before submission.</a:t>
            </a:r>
          </a:p>
        </p:txBody>
      </p:sp>
      <p:sp>
        <p:nvSpPr>
          <p:cNvPr id="23" name="takeaway-56">
            <a:extLst xmlns:a="http://schemas.openxmlformats.org/drawingml/2006/main">
              <a:ext uri="{FF2B5EF4-FFF2-40B4-BE49-F238E27FC236}">
                <a16:creationId xmlns:a16="http://schemas.microsoft.com/office/drawing/2014/main" id="{0B8F15B4-607C-42C4-B4C5-40E0DC40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87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-copy-57">
            <a:extLst xmlns:a="http://schemas.openxmlformats.org/drawingml/2006/main">
              <a:ext uri="{FF2B5EF4-FFF2-40B4-BE49-F238E27FC236}">
                <a16:creationId xmlns:a16="http://schemas.microsoft.com/office/drawing/2014/main" id="{993FA6D0-7A80-465D-B882-BD1060B6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00700"/>
            <a:ext cx="10525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 new app. No new portal. Embedded where citizens already are.</a:t>
            </a:r>
          </a:p>
        </p:txBody>
      </p:sp>
    </p:spTree>
    <p:extLst>
      <p:ext uri="{BB962C8B-B14F-4D97-AF65-F5344CB8AC3E}">
        <p14:creationId xmlns:p14="http://schemas.microsoft.com/office/powerpoint/2010/main" val="995233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59">
            <a:extLst xmlns:a="http://schemas.openxmlformats.org/drawingml/2006/main">
              <a:ext uri="{FF2B5EF4-FFF2-40B4-BE49-F238E27FC236}">
                <a16:creationId xmlns:a16="http://schemas.microsoft.com/office/drawing/2014/main" id="{39370539-AB21-4E08-8D81-00111B21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1</a:t>
            </a:r>
          </a:p>
        </p:txBody>
      </p:sp>
      <p:sp>
        <p:nvSpPr>
          <p:cNvPr id="2" name="title-60">
            <a:extLst xmlns:a="http://schemas.openxmlformats.org/drawingml/2006/main">
              <a:ext uri="{FF2B5EF4-FFF2-40B4-BE49-F238E27FC236}">
                <a16:creationId xmlns:a16="http://schemas.microsoft.com/office/drawing/2014/main" id="{F34D879C-D7AC-42BF-973D-288F758D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Guided intake makes the right procedure obvious.</a:t>
            </a:r>
          </a:p>
        </p:txBody>
      </p:sp>
      <p:sp>
        <p:nvSpPr>
          <p:cNvPr id="3" name="footer-61">
            <a:extLst xmlns:a="http://schemas.openxmlformats.org/drawingml/2006/main">
              <a:ext uri="{FF2B5EF4-FFF2-40B4-BE49-F238E27FC236}">
                <a16:creationId xmlns:a16="http://schemas.microsoft.com/office/drawing/2014/main" id="{D04BAACB-F5AB-4A05-A795-81628344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62">
            <a:extLst xmlns:a="http://schemas.openxmlformats.org/drawingml/2006/main">
              <a:ext uri="{FF2B5EF4-FFF2-40B4-BE49-F238E27FC236}">
                <a16:creationId xmlns:a16="http://schemas.microsoft.com/office/drawing/2014/main" id="{C9EC3CC4-A124-4812-AD6C-21BC1197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screenshot-frame-63">
            <a:extLst xmlns:a="http://schemas.openxmlformats.org/drawingml/2006/main">
              <a:ext uri="{FF2B5EF4-FFF2-40B4-BE49-F238E27FC236}">
                <a16:creationId xmlns:a16="http://schemas.microsoft.com/office/drawing/2014/main" id="{F9B941C6-3B54-4CC4-8C98-4A5CAC66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00087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aim-64">
            <a:extLst xmlns:a="http://schemas.openxmlformats.org/drawingml/2006/main">
              <a:ext uri="{FF2B5EF4-FFF2-40B4-BE49-F238E27FC236}">
                <a16:creationId xmlns:a16="http://schemas.microsoft.com/office/drawing/2014/main" id="{6893C838-4BB0-44DB-91B6-CABFDD8D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429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Plain-language in.
Case-aware guidance out.</a:t>
            </a:r>
          </a:p>
        </p:txBody>
      </p:sp>
      <p:sp>
        <p:nvSpPr>
          <p:cNvPr id="7" name="rule-65">
            <a:extLst xmlns:a="http://schemas.openxmlformats.org/drawingml/2006/main">
              <a:ext uri="{FF2B5EF4-FFF2-40B4-BE49-F238E27FC236}">
                <a16:creationId xmlns:a16="http://schemas.microsoft.com/office/drawing/2014/main" id="{5BAFCCB8-5D0B-4CFA-9447-1C046CE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eature-label-66">
            <a:extLst xmlns:a="http://schemas.openxmlformats.org/drawingml/2006/main">
              <a:ext uri="{FF2B5EF4-FFF2-40B4-BE49-F238E27FC236}">
                <a16:creationId xmlns:a16="http://schemas.microsoft.com/office/drawing/2014/main" id="{8A065F49-9B3F-49D8-A631-3BB05C60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VIETNAMESE VOICE + TEXT</a:t>
            </a:r>
          </a:p>
        </p:txBody>
      </p:sp>
      <p:sp>
        <p:nvSpPr>
          <p:cNvPr id="9" name="feature-copy-67">
            <a:extLst xmlns:a="http://schemas.openxmlformats.org/drawingml/2006/main">
              <a:ext uri="{FF2B5EF4-FFF2-40B4-BE49-F238E27FC236}">
                <a16:creationId xmlns:a16="http://schemas.microsoft.com/office/drawing/2014/main" id="{E7D87209-8FE3-424C-9397-51EF0C1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3219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Citizens speak naturally, review the transcript, and edit before sending.</a:t>
            </a:r>
          </a:p>
        </p:txBody>
      </p:sp>
      <p:sp>
        <p:nvSpPr>
          <p:cNvPr id="10" name="feature-label-68">
            <a:extLst xmlns:a="http://schemas.openxmlformats.org/drawingml/2006/main">
              <a:ext uri="{FF2B5EF4-FFF2-40B4-BE49-F238E27FC236}">
                <a16:creationId xmlns:a16="http://schemas.microsoft.com/office/drawing/2014/main" id="{38C8236D-F7D8-42D3-A0A8-3F2E7FF6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95775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MULTI-CASE CLASSIFICATION</a:t>
            </a:r>
          </a:p>
        </p:txBody>
      </p:sp>
      <p:sp>
        <p:nvSpPr>
          <p:cNvPr id="11" name="feature-copy-69">
            <a:extLst xmlns:a="http://schemas.openxmlformats.org/drawingml/2006/main">
              <a:ext uri="{FF2B5EF4-FFF2-40B4-BE49-F238E27FC236}">
                <a16:creationId xmlns:a16="http://schemas.microsoft.com/office/drawing/2014/main" id="{6871D02E-E440-4C28-A6ED-AB4A0575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81525"/>
            <a:ext cx="32194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One session can combine out-of-wedlock, overdue, foreign-element, and exceptional cases.</a:t>
            </a:r>
          </a:p>
        </p:txBody>
      </p:sp>
      <p:sp>
        <p:nvSpPr>
          <p:cNvPr id="12" name="evidence-70">
            <a:extLst xmlns:a="http://schemas.openxmlformats.org/drawingml/2006/main">
              <a:ext uri="{FF2B5EF4-FFF2-40B4-BE49-F238E27FC236}">
                <a16:creationId xmlns:a16="http://schemas.microsoft.com/office/drawing/2014/main" id="{ABCA6ED6-EA9B-4242-A260-018C70AD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67375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LIVE DEMO · 19 JUL 2026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8c9c078f74a81"/>
          <a:stretch xmlns:a="http://schemas.openxmlformats.org/drawingml/2006/main"/>
        </p:blipFill>
        <p:spPr>
          <a:xfrm xmlns:a="http://schemas.openxmlformats.org/drawingml/2006/main">
            <a:off x="651379" y="1809750"/>
            <a:ext cx="6803017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</p:spTree>
    <p:extLst>
      <p:ext uri="{BB962C8B-B14F-4D97-AF65-F5344CB8AC3E}">
        <p14:creationId xmlns:p14="http://schemas.microsoft.com/office/powerpoint/2010/main" val="614258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72">
            <a:extLst xmlns:a="http://schemas.openxmlformats.org/drawingml/2006/main">
              <a:ext uri="{FF2B5EF4-FFF2-40B4-BE49-F238E27FC236}">
                <a16:creationId xmlns:a16="http://schemas.microsoft.com/office/drawing/2014/main" id="{8FC29348-C970-4F10-8494-33830C3D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2</a:t>
            </a:r>
          </a:p>
        </p:txBody>
      </p:sp>
      <p:sp>
        <p:nvSpPr>
          <p:cNvPr id="2" name="title-73">
            <a:extLst xmlns:a="http://schemas.openxmlformats.org/drawingml/2006/main">
              <a:ext uri="{FF2B5EF4-FFF2-40B4-BE49-F238E27FC236}">
                <a16:creationId xmlns:a16="http://schemas.microsoft.com/office/drawing/2014/main" id="{457E9494-DCE8-477D-A68B-1794A42D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Pre-check catches what citizens and portals miss.</a:t>
            </a:r>
          </a:p>
        </p:txBody>
      </p:sp>
      <p:sp>
        <p:nvSpPr>
          <p:cNvPr id="3" name="footer-74">
            <a:extLst xmlns:a="http://schemas.openxmlformats.org/drawingml/2006/main">
              <a:ext uri="{FF2B5EF4-FFF2-40B4-BE49-F238E27FC236}">
                <a16:creationId xmlns:a16="http://schemas.microsoft.com/office/drawing/2014/main" id="{7238CD1F-1072-4A04-B443-939CDF63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0DCD41AC-66FA-4A5B-9CE9-0896FDB5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live-number-76">
            <a:extLst xmlns:a="http://schemas.openxmlformats.org/drawingml/2006/main">
              <a:ext uri="{FF2B5EF4-FFF2-40B4-BE49-F238E27FC236}">
                <a16:creationId xmlns:a16="http://schemas.microsoft.com/office/drawing/2014/main" id="{308FA0F9-261A-4A71-98C5-DD3D914E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428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6" name="live-label-77">
            <a:extLst xmlns:a="http://schemas.openxmlformats.org/drawingml/2006/main">
              <a:ext uri="{FF2B5EF4-FFF2-40B4-BE49-F238E27FC236}">
                <a16:creationId xmlns:a16="http://schemas.microsoft.com/office/drawing/2014/main" id="{8BDA4FCA-AFBF-495A-B74A-4E9CADB3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errors caught in the live demo</a:t>
            </a:r>
          </a:p>
        </p:txBody>
      </p:sp>
      <p:sp>
        <p:nvSpPr>
          <p:cNvPr id="7" name="explanation-78">
            <a:extLst xmlns:a="http://schemas.openxmlformats.org/drawingml/2006/main">
              <a:ext uri="{FF2B5EF4-FFF2-40B4-BE49-F238E27FC236}">
                <a16:creationId xmlns:a16="http://schemas.microsoft.com/office/drawing/2014/main" id="{59730313-05D2-4D13-97F9-3DD44254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1051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Mandatory errors come from deterministic rules. AI only adds clearly separated warnings for uncertain exceptions.</a:t>
            </a:r>
          </a:p>
        </p:txBody>
      </p:sp>
      <p:sp>
        <p:nvSpPr>
          <p:cNvPr id="8" name="rule-79">
            <a:extLst xmlns:a="http://schemas.openxmlformats.org/drawingml/2006/main">
              <a:ext uri="{FF2B5EF4-FFF2-40B4-BE49-F238E27FC236}">
                <a16:creationId xmlns:a16="http://schemas.microsoft.com/office/drawing/2014/main" id="{4B4C63CF-F06A-4A82-8D3E-8D548EC0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le-types-80">
            <a:extLst xmlns:a="http://schemas.openxmlformats.org/drawingml/2006/main">
              <a:ext uri="{FF2B5EF4-FFF2-40B4-BE49-F238E27FC236}">
                <a16:creationId xmlns:a16="http://schemas.microsoft.com/office/drawing/2014/main" id="{31F21EC1-F56D-4288-8AD0-7BD54AD2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3190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REQUIRED · CONDITIONAL · CROSS-FIELD</a:t>
            </a:r>
          </a:p>
        </p:txBody>
      </p:sp>
      <p:sp>
        <p:nvSpPr>
          <p:cNvPr id="10" name="rule-copy-81">
            <a:extLst xmlns:a="http://schemas.openxmlformats.org/drawingml/2006/main">
              <a:ext uri="{FF2B5EF4-FFF2-40B4-BE49-F238E27FC236}">
                <a16:creationId xmlns:a16="http://schemas.microsoft.com/office/drawing/2014/main" id="{178325FE-184B-4797-B098-D376E263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304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Each issue includes a suggested fix and traceable legal basis.</a:t>
            </a:r>
          </a:p>
        </p:txBody>
      </p:sp>
      <p:sp>
        <p:nvSpPr>
          <p:cNvPr id="11" name="screenshot-frame-82">
            <a:extLst xmlns:a="http://schemas.openxmlformats.org/drawingml/2006/main">
              <a:ext uri="{FF2B5EF4-FFF2-40B4-BE49-F238E27FC236}">
                <a16:creationId xmlns:a16="http://schemas.microsoft.com/office/drawing/2014/main" id="{CC762896-0A6E-45A7-AE53-D916A903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790700"/>
            <a:ext cx="7553325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e74f2a4054b3d"/>
          <a:stretch xmlns:a="http://schemas.openxmlformats.org/drawingml/2006/main"/>
        </p:blipFill>
        <p:spPr>
          <a:xfrm xmlns:a="http://schemas.openxmlformats.org/drawingml/2006/main">
            <a:off x="4190612" y="1847850"/>
            <a:ext cx="7344551" cy="4133850"/>
          </a:xfrm>
          <a:prstGeom xmlns:a="http://schemas.openxmlformats.org/drawingml/2006/main" prst="roundRect">
            <a:avLst>
              <a:gd name="adj" fmla="val 2765"/>
            </a:avLst>
          </a:prstGeom>
        </p:spPr>
      </p:pic>
    </p:spTree>
    <p:extLst>
      <p:ext uri="{BB962C8B-B14F-4D97-AF65-F5344CB8AC3E}">
        <p14:creationId xmlns:p14="http://schemas.microsoft.com/office/powerpoint/2010/main" val="1177002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84">
            <a:extLst xmlns:a="http://schemas.openxmlformats.org/drawingml/2006/main">
              <a:ext uri="{FF2B5EF4-FFF2-40B4-BE49-F238E27FC236}">
                <a16:creationId xmlns:a16="http://schemas.microsoft.com/office/drawing/2014/main" id="{6E70548E-D2C8-4EE3-AD3B-4F3E33D6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ACCURACY + SAFETY</a:t>
            </a:r>
          </a:p>
        </p:txBody>
      </p:sp>
      <p:sp>
        <p:nvSpPr>
          <p:cNvPr id="2" name="title-85">
            <a:extLst xmlns:a="http://schemas.openxmlformats.org/drawingml/2006/main">
              <a:ext uri="{FF2B5EF4-FFF2-40B4-BE49-F238E27FC236}">
                <a16:creationId xmlns:a16="http://schemas.microsoft.com/office/drawing/2014/main" id="{29F09EF2-69BB-43E7-8CE8-0F6AB5F5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Trust is engineered into the decision path.</a:t>
            </a:r>
          </a:p>
        </p:txBody>
      </p:sp>
      <p:sp>
        <p:nvSpPr>
          <p:cNvPr id="3" name="footer-86">
            <a:extLst xmlns:a="http://schemas.openxmlformats.org/drawingml/2006/main">
              <a:ext uri="{FF2B5EF4-FFF2-40B4-BE49-F238E27FC236}">
                <a16:creationId xmlns:a16="http://schemas.microsoft.com/office/drawing/2014/main" id="{FC32DA88-AFAB-42FD-AF1C-E1ECC291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87">
            <a:extLst xmlns:a="http://schemas.openxmlformats.org/drawingml/2006/main">
              <a:ext uri="{FF2B5EF4-FFF2-40B4-BE49-F238E27FC236}">
                <a16:creationId xmlns:a16="http://schemas.microsoft.com/office/drawing/2014/main" id="{EC029C6A-CA37-4C55-9C6F-EDF4D803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lede-88">
            <a:extLst xmlns:a="http://schemas.openxmlformats.org/drawingml/2006/main">
              <a:ext uri="{FF2B5EF4-FFF2-40B4-BE49-F238E27FC236}">
                <a16:creationId xmlns:a16="http://schemas.microsoft.com/office/drawing/2014/main" id="{913CDD21-B2B2-4698-A7E8-6663ABF6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AI interprets. Rules validate. Officers decide exceptions.</a:t>
            </a:r>
          </a:p>
        </p:txBody>
      </p:sp>
      <p:sp>
        <p:nvSpPr>
          <p:cNvPr id="6" name="rule-89">
            <a:extLst xmlns:a="http://schemas.openxmlformats.org/drawingml/2006/main">
              <a:ext uri="{FF2B5EF4-FFF2-40B4-BE49-F238E27FC236}">
                <a16:creationId xmlns:a16="http://schemas.microsoft.com/office/drawing/2014/main" id="{80E7B73C-FFF9-4F53-A0B2-5B241F5C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52800"/>
            <a:ext cx="741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ust-panel-90">
            <a:extLst xmlns:a="http://schemas.openxmlformats.org/drawingml/2006/main">
              <a:ext uri="{FF2B5EF4-FFF2-40B4-BE49-F238E27FC236}">
                <a16:creationId xmlns:a16="http://schemas.microsoft.com/office/drawing/2014/main" id="{BB4CCC60-C839-45FE-8D68-3A8811A4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ust-panel-91">
            <a:extLst xmlns:a="http://schemas.openxmlformats.org/drawingml/2006/main">
              <a:ext uri="{FF2B5EF4-FFF2-40B4-BE49-F238E27FC236}">
                <a16:creationId xmlns:a16="http://schemas.microsoft.com/office/drawing/2014/main" id="{5197DD30-3400-4F6C-979D-DDC898E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9" name="trust-panel-92">
            <a:extLst xmlns:a="http://schemas.openxmlformats.org/drawingml/2006/main">
              <a:ext uri="{FF2B5EF4-FFF2-40B4-BE49-F238E27FC236}">
                <a16:creationId xmlns:a16="http://schemas.microsoft.com/office/drawing/2014/main" id="{0A973A10-2204-40D6-BA96-20172607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10" name="arrow-node-93">
            <a:extLst xmlns:a="http://schemas.openxmlformats.org/drawingml/2006/main">
              <a:ext uri="{FF2B5EF4-FFF2-40B4-BE49-F238E27FC236}">
                <a16:creationId xmlns:a16="http://schemas.microsoft.com/office/drawing/2014/main" id="{05AE302B-98E7-454F-9E90-9FE5AB38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row-node-94">
            <a:extLst xmlns:a="http://schemas.openxmlformats.org/drawingml/2006/main">
              <a:ext uri="{FF2B5EF4-FFF2-40B4-BE49-F238E27FC236}">
                <a16:creationId xmlns:a16="http://schemas.microsoft.com/office/drawing/2014/main" id="{951EEDF9-F867-4E02-872E-2BC6BE77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row-95">
            <a:extLst xmlns:a="http://schemas.openxmlformats.org/drawingml/2006/main">
              <a:ext uri="{FF2B5EF4-FFF2-40B4-BE49-F238E27FC236}">
                <a16:creationId xmlns:a16="http://schemas.microsoft.com/office/drawing/2014/main" id="{8E29770A-8000-478C-B460-46AAA732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3" name="arrow-96">
            <a:extLst xmlns:a="http://schemas.openxmlformats.org/drawingml/2006/main">
              <a:ext uri="{FF2B5EF4-FFF2-40B4-BE49-F238E27FC236}">
                <a16:creationId xmlns:a16="http://schemas.microsoft.com/office/drawing/2014/main" id="{677CC172-B568-4034-AF56-9E93A6D9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19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layer-label-97">
            <a:extLst xmlns:a="http://schemas.openxmlformats.org/drawingml/2006/main">
              <a:ext uri="{FF2B5EF4-FFF2-40B4-BE49-F238E27FC236}">
                <a16:creationId xmlns:a16="http://schemas.microsoft.com/office/drawing/2014/main" id="{97A7C032-45CE-469F-9AB0-14E8989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01 · AI LAYER</a:t>
            </a:r>
          </a:p>
        </p:txBody>
      </p:sp>
      <p:sp>
        <p:nvSpPr>
          <p:cNvPr id="15" name="layer-title-98">
            <a:extLst xmlns:a="http://schemas.openxmlformats.org/drawingml/2006/main">
              <a:ext uri="{FF2B5EF4-FFF2-40B4-BE49-F238E27FC236}">
                <a16:creationId xmlns:a16="http://schemas.microsoft.com/office/drawing/2014/main" id="{E467C631-4327-4858-9C75-88416070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Understand
the situation</a:t>
            </a:r>
          </a:p>
        </p:txBody>
      </p:sp>
      <p:sp>
        <p:nvSpPr>
          <p:cNvPr id="16" name="layer-copy-99">
            <a:extLst xmlns:a="http://schemas.openxmlformats.org/drawingml/2006/main">
              <a:ext uri="{FF2B5EF4-FFF2-40B4-BE49-F238E27FC236}">
                <a16:creationId xmlns:a16="http://schemas.microsoft.com/office/drawing/2014/main" id="{A8125204-227D-4D01-831C-3A1FBB27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Extract facts, classify cases, and explain the next step in plain Vietnamese.</a:t>
            </a:r>
          </a:p>
        </p:txBody>
      </p:sp>
      <p:sp>
        <p:nvSpPr>
          <p:cNvPr id="17" name="layer-label-100">
            <a:extLst xmlns:a="http://schemas.openxmlformats.org/drawingml/2006/main">
              <a:ext uri="{FF2B5EF4-FFF2-40B4-BE49-F238E27FC236}">
                <a16:creationId xmlns:a16="http://schemas.microsoft.com/office/drawing/2014/main" id="{B25DA54A-FEC1-473F-825E-2C523DF4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02 · RULE LAYER</a:t>
            </a:r>
          </a:p>
        </p:txBody>
      </p:sp>
      <p:sp>
        <p:nvSpPr>
          <p:cNvPr id="18" name="layer-title-101">
            <a:extLst xmlns:a="http://schemas.openxmlformats.org/drawingml/2006/main">
              <a:ext uri="{FF2B5EF4-FFF2-40B4-BE49-F238E27FC236}">
                <a16:creationId xmlns:a16="http://schemas.microsoft.com/office/drawing/2014/main" id="{92439F97-A9A2-40D9-9A4C-00D07925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Validate
what matters</a:t>
            </a:r>
          </a:p>
        </p:txBody>
      </p:sp>
      <p:sp>
        <p:nvSpPr>
          <p:cNvPr id="19" name="layer-copy-102">
            <a:extLst xmlns:a="http://schemas.openxmlformats.org/drawingml/2006/main">
              <a:ext uri="{FF2B5EF4-FFF2-40B4-BE49-F238E27FC236}">
                <a16:creationId xmlns:a16="http://schemas.microsoft.com/office/drawing/2014/main" id="{3137A765-D294-4FEA-AA93-C44BBCFA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Versioned checklists, validation rules, documents, and legal references live in the backend.</a:t>
            </a:r>
          </a:p>
        </p:txBody>
      </p:sp>
      <p:sp>
        <p:nvSpPr>
          <p:cNvPr id="20" name="layer-label-103">
            <a:extLst xmlns:a="http://schemas.openxmlformats.org/drawingml/2006/main">
              <a:ext uri="{FF2B5EF4-FFF2-40B4-BE49-F238E27FC236}">
                <a16:creationId xmlns:a16="http://schemas.microsoft.com/office/drawing/2014/main" id="{E343AC38-F63C-4E9C-8BC3-D0DEF867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03 · HUMAN LAYER</a:t>
            </a:r>
          </a:p>
        </p:txBody>
      </p:sp>
      <p:sp>
        <p:nvSpPr>
          <p:cNvPr id="21" name="layer-title-104">
            <a:extLst xmlns:a="http://schemas.openxmlformats.org/drawingml/2006/main">
              <a:ext uri="{FF2B5EF4-FFF2-40B4-BE49-F238E27FC236}">
                <a16:creationId xmlns:a16="http://schemas.microsoft.com/office/drawing/2014/main" id="{B78380E2-7E4A-4FF6-B26D-331A2E3F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Handle
exceptions</a:t>
            </a:r>
          </a:p>
        </p:txBody>
      </p:sp>
      <p:sp>
        <p:nvSpPr>
          <p:cNvPr id="22" name="layer-copy-105">
            <a:extLst xmlns:a="http://schemas.openxmlformats.org/drawingml/2006/main">
              <a:ext uri="{FF2B5EF4-FFF2-40B4-BE49-F238E27FC236}">
                <a16:creationId xmlns:a16="http://schemas.microsoft.com/office/drawing/2014/main" id="{2E6AACFF-6934-4664-ABA6-BE21FCF9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Rare, conflicting, or uncertain cases are escalated for civil-status officer confirmation.</a:t>
            </a:r>
          </a:p>
        </p:txBody>
      </p:sp>
      <p:sp>
        <p:nvSpPr>
          <p:cNvPr id="23" name="source-band-106">
            <a:extLst xmlns:a="http://schemas.openxmlformats.org/drawingml/2006/main">
              <a:ext uri="{FF2B5EF4-FFF2-40B4-BE49-F238E27FC236}">
                <a16:creationId xmlns:a16="http://schemas.microsoft.com/office/drawing/2014/main" id="{38B9A78E-7B75-4B04-8A44-C07DD3DA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copy-107">
            <a:extLst xmlns:a="http://schemas.openxmlformats.org/drawingml/2006/main">
              <a:ext uri="{FF2B5EF4-FFF2-40B4-BE49-F238E27FC236}">
                <a16:creationId xmlns:a16="http://schemas.microsoft.com/office/drawing/2014/main" id="{B9E2AFE6-D222-4350-B38F-C2E7DBD4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48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06 official National Public Service Portal links are exposed by the live /trust endpoint for direct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319206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09">
            <a:extLst xmlns:a="http://schemas.openxmlformats.org/drawingml/2006/main">
              <a:ext uri="{FF2B5EF4-FFF2-40B4-BE49-F238E27FC236}">
                <a16:creationId xmlns:a16="http://schemas.microsoft.com/office/drawing/2014/main" id="{FB2B1882-8DF9-4D03-944C-2CD2C6EB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SYSTEM DESIGN</a:t>
            </a:r>
          </a:p>
        </p:txBody>
      </p:sp>
      <p:sp>
        <p:nvSpPr>
          <p:cNvPr id="2" name="title-110">
            <a:extLst xmlns:a="http://schemas.openxmlformats.org/drawingml/2006/main">
              <a:ext uri="{FF2B5EF4-FFF2-40B4-BE49-F238E27FC236}">
                <a16:creationId xmlns:a16="http://schemas.microsoft.com/office/drawing/2014/main" id="{3A0ED4A1-491F-4702-AE25-19A70CBC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 production-shaped architecture, not a mockup.</a:t>
            </a:r>
          </a:p>
        </p:txBody>
      </p:sp>
      <p:sp>
        <p:nvSpPr>
          <p:cNvPr id="3" name="footer-111">
            <a:extLst xmlns:a="http://schemas.openxmlformats.org/drawingml/2006/main">
              <a:ext uri="{FF2B5EF4-FFF2-40B4-BE49-F238E27FC236}">
                <a16:creationId xmlns:a16="http://schemas.microsoft.com/office/drawing/2014/main" id="{CFEC0287-DCD5-4ABD-8411-B1F894B4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12">
            <a:extLst xmlns:a="http://schemas.openxmlformats.org/drawingml/2006/main">
              <a:ext uri="{FF2B5EF4-FFF2-40B4-BE49-F238E27FC236}">
                <a16:creationId xmlns:a16="http://schemas.microsoft.com/office/drawing/2014/main" id="{E5262E4B-96AB-4D35-95D6-4036814B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architecture-frame-113">
            <a:extLst xmlns:a="http://schemas.openxmlformats.org/drawingml/2006/main">
              <a:ext uri="{FF2B5EF4-FFF2-40B4-BE49-F238E27FC236}">
                <a16:creationId xmlns:a16="http://schemas.microsoft.com/office/drawing/2014/main" id="{A139E7D1-6EC0-440B-99F0-9ED07B5E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2390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6" name="stack-label-114">
            <a:extLst xmlns:a="http://schemas.openxmlformats.org/drawingml/2006/main">
              <a:ext uri="{FF2B5EF4-FFF2-40B4-BE49-F238E27FC236}">
                <a16:creationId xmlns:a16="http://schemas.microsoft.com/office/drawing/2014/main" id="{88E96B62-D2AE-4C38-97EF-1002FF0B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CITIZEN + OFFICER UX</a:t>
            </a:r>
          </a:p>
        </p:txBody>
      </p:sp>
      <p:sp>
        <p:nvSpPr>
          <p:cNvPr id="7" name="stack-value-115">
            <a:extLst xmlns:a="http://schemas.openxmlformats.org/drawingml/2006/main">
              <a:ext uri="{FF2B5EF4-FFF2-40B4-BE49-F238E27FC236}">
                <a16:creationId xmlns:a16="http://schemas.microsoft.com/office/drawing/2014/main" id="{68535578-CD1E-4235-82E6-4A628EF1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Next.js 16 · Tailwind CSS 4</a:t>
            </a:r>
          </a:p>
        </p:txBody>
      </p:sp>
      <p:sp>
        <p:nvSpPr>
          <p:cNvPr id="8" name="rule-116">
            <a:extLst xmlns:a="http://schemas.openxmlformats.org/drawingml/2006/main">
              <a:ext uri="{FF2B5EF4-FFF2-40B4-BE49-F238E27FC236}">
                <a16:creationId xmlns:a16="http://schemas.microsoft.com/office/drawing/2014/main" id="{5C496638-2A42-408C-ACEE-BE73D4FA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ck-label-117">
            <a:extLst xmlns:a="http://schemas.openxmlformats.org/drawingml/2006/main">
              <a:ext uri="{FF2B5EF4-FFF2-40B4-BE49-F238E27FC236}">
                <a16:creationId xmlns:a16="http://schemas.microsoft.com/office/drawing/2014/main" id="{87CB2D40-DD1F-4340-BD82-010DB0B0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TRUSTED SERVICE LAYER</a:t>
            </a:r>
          </a:p>
        </p:txBody>
      </p:sp>
      <p:sp>
        <p:nvSpPr>
          <p:cNvPr id="10" name="stack-value-118">
            <a:extLst xmlns:a="http://schemas.openxmlformats.org/drawingml/2006/main">
              <a:ext uri="{FF2B5EF4-FFF2-40B4-BE49-F238E27FC236}">
                <a16:creationId xmlns:a16="http://schemas.microsoft.com/office/drawing/2014/main" id="{FB92B386-FE48-436A-8C6B-BDC1F640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FastAPI · SQLAlchemy · rule engine · PDF</a:t>
            </a:r>
          </a:p>
        </p:txBody>
      </p:sp>
      <p:sp>
        <p:nvSpPr>
          <p:cNvPr id="11" name="rule-119">
            <a:extLst xmlns:a="http://schemas.openxmlformats.org/drawingml/2006/main">
              <a:ext uri="{FF2B5EF4-FFF2-40B4-BE49-F238E27FC236}">
                <a16:creationId xmlns:a16="http://schemas.microsoft.com/office/drawing/2014/main" id="{4784C731-4087-46A9-8F92-78478A0E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9975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ck-label-120">
            <a:extLst xmlns:a="http://schemas.openxmlformats.org/drawingml/2006/main">
              <a:ext uri="{FF2B5EF4-FFF2-40B4-BE49-F238E27FC236}">
                <a16:creationId xmlns:a16="http://schemas.microsoft.com/office/drawing/2014/main" id="{D4612852-D423-4634-AF85-E484374C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EVIDENCE + AI</a:t>
            </a:r>
          </a:p>
        </p:txBody>
      </p:sp>
      <p:sp>
        <p:nvSpPr>
          <p:cNvPr id="13" name="stack-value-121">
            <a:extLst xmlns:a="http://schemas.openxmlformats.org/drawingml/2006/main">
              <a:ext uri="{FF2B5EF4-FFF2-40B4-BE49-F238E27FC236}">
                <a16:creationId xmlns:a16="http://schemas.microsoft.com/office/drawing/2014/main" id="{8AF67B33-5043-444F-9760-95ED37A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24325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Neon Postgres · official sources · OpenAI API</a:t>
            </a:r>
          </a:p>
        </p:txBody>
      </p:sp>
      <p:sp>
        <p:nvSpPr>
          <p:cNvPr id="14" name="models-122">
            <a:extLst xmlns:a="http://schemas.openxmlformats.org/drawingml/2006/main">
              <a:ext uri="{FF2B5EF4-FFF2-40B4-BE49-F238E27FC236}">
                <a16:creationId xmlns:a16="http://schemas.microsoft.com/office/drawing/2014/main" id="{3A3C7FE6-2618-498F-9AC8-461A225D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3219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dels-label-123">
            <a:extLst xmlns:a="http://schemas.openxmlformats.org/drawingml/2006/main">
              <a:ext uri="{FF2B5EF4-FFF2-40B4-BE49-F238E27FC236}">
                <a16:creationId xmlns:a16="http://schemas.microsoft.com/office/drawing/2014/main" id="{1BAE4025-2B48-445E-8182-7CF46EBD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95850"/>
            <a:ext cx="2762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MODELS</a:t>
            </a:r>
          </a:p>
        </p:txBody>
      </p:sp>
      <p:sp>
        <p:nvSpPr>
          <p:cNvPr id="16" name="models-copy-124">
            <a:extLst xmlns:a="http://schemas.openxmlformats.org/drawingml/2006/main">
              <a:ext uri="{FF2B5EF4-FFF2-40B4-BE49-F238E27FC236}">
                <a16:creationId xmlns:a16="http://schemas.microsoft.com/office/drawing/2014/main" id="{4527DE0D-0AB1-433D-B4DB-9D92D868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62550"/>
            <a:ext cx="2762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gpt-4.1-mini · classification + conversation
gpt-4o-transcribe · Vietnamese speech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4a3a9c65342d3"/>
          <a:stretch xmlns:a="http://schemas.openxmlformats.org/drawingml/2006/main"/>
        </p:blipFill>
        <p:spPr>
          <a:xfrm xmlns:a="http://schemas.openxmlformats.org/drawingml/2006/main">
            <a:off x="727968" y="1657350"/>
            <a:ext cx="6887963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</p:spTree>
    <p:extLst>
      <p:ext uri="{BB962C8B-B14F-4D97-AF65-F5344CB8AC3E}">
        <p14:creationId xmlns:p14="http://schemas.microsoft.com/office/powerpoint/2010/main" val="1646114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126">
            <a:extLst xmlns:a="http://schemas.openxmlformats.org/drawingml/2006/main">
              <a:ext uri="{FF2B5EF4-FFF2-40B4-BE49-F238E27FC236}">
                <a16:creationId xmlns:a16="http://schemas.microsoft.com/office/drawing/2014/main" id="{DE5ADE5D-7190-4773-99BD-FF410F66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3</a:t>
            </a:r>
          </a:p>
        </p:txBody>
      </p:sp>
      <p:sp>
        <p:nvSpPr>
          <p:cNvPr id="2" name="title-127">
            <a:extLst xmlns:a="http://schemas.openxmlformats.org/drawingml/2006/main">
              <a:ext uri="{FF2B5EF4-FFF2-40B4-BE49-F238E27FC236}">
                <a16:creationId xmlns:a16="http://schemas.microsoft.com/office/drawing/2014/main" id="{5A30F838-A943-40F3-9514-C3F5ACF8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Built for current portals—not another app.</a:t>
            </a:r>
          </a:p>
        </p:txBody>
      </p:sp>
      <p:sp>
        <p:nvSpPr>
          <p:cNvPr id="3" name="footer-128">
            <a:extLst xmlns:a="http://schemas.openxmlformats.org/drawingml/2006/main">
              <a:ext uri="{FF2B5EF4-FFF2-40B4-BE49-F238E27FC236}">
                <a16:creationId xmlns:a16="http://schemas.microsoft.com/office/drawing/2014/main" id="{B56BE75E-2737-4D44-9A45-3DC4DF84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29">
            <a:extLst xmlns:a="http://schemas.openxmlformats.org/drawingml/2006/main">
              <a:ext uri="{FF2B5EF4-FFF2-40B4-BE49-F238E27FC236}">
                <a16:creationId xmlns:a16="http://schemas.microsoft.com/office/drawing/2014/main" id="{A7C25D5B-743F-41F5-A2A9-00170D4B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lede-130">
            <a:extLst xmlns:a="http://schemas.openxmlformats.org/drawingml/2006/main">
              <a:ext uri="{FF2B5EF4-FFF2-40B4-BE49-F238E27FC236}">
                <a16:creationId xmlns:a16="http://schemas.microsoft.com/office/drawing/2014/main" id="{7F582483-A92C-4AF6-AA49-9450EFD7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Embed the same trusted workflow through an API, widget, or chatbot while keeping data and AI keys server-side.</a:t>
            </a:r>
          </a:p>
        </p:txBody>
      </p:sp>
      <p:sp>
        <p:nvSpPr>
          <p:cNvPr id="6" name="integration-claim-131">
            <a:extLst xmlns:a="http://schemas.openxmlformats.org/drawingml/2006/main">
              <a:ext uri="{FF2B5EF4-FFF2-40B4-BE49-F238E27FC236}">
                <a16:creationId xmlns:a16="http://schemas.microsoft.com/office/drawing/2014/main" id="{EAE5F6AE-CAB7-47B6-9A23-B6B02644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3714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Drop-in
integration</a:t>
            </a:r>
          </a:p>
        </p:txBody>
      </p:sp>
      <p:sp>
        <p:nvSpPr>
          <p:cNvPr id="7" name="mode-132">
            <a:extLst xmlns:a="http://schemas.openxmlformats.org/drawingml/2006/main">
              <a:ext uri="{FF2B5EF4-FFF2-40B4-BE49-F238E27FC236}">
                <a16:creationId xmlns:a16="http://schemas.microsoft.com/office/drawing/2014/main" id="{EDADB018-22AC-49AE-826A-F105B319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24275"/>
            <a:ext cx="1028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API</a:t>
            </a:r>
          </a:p>
        </p:txBody>
      </p:sp>
      <p:sp>
        <p:nvSpPr>
          <p:cNvPr id="8" name="mode-133">
            <a:extLst xmlns:a="http://schemas.openxmlformats.org/drawingml/2006/main">
              <a:ext uri="{FF2B5EF4-FFF2-40B4-BE49-F238E27FC236}">
                <a16:creationId xmlns:a16="http://schemas.microsoft.com/office/drawing/2014/main" id="{BB2137D6-F15D-41CF-990E-F90E8F4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2076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Portal widget</a:t>
            </a:r>
          </a:p>
        </p:txBody>
      </p:sp>
      <p:sp>
        <p:nvSpPr>
          <p:cNvPr id="9" name="mode-134">
            <a:extLst xmlns:a="http://schemas.openxmlformats.org/drawingml/2006/main">
              <a:ext uri="{FF2B5EF4-FFF2-40B4-BE49-F238E27FC236}">
                <a16:creationId xmlns:a16="http://schemas.microsoft.com/office/drawing/2014/main" id="{61968E6E-C479-4FEB-BE3F-F5F5AC3A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67275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Chatbot</a:t>
            </a:r>
          </a:p>
        </p:txBody>
      </p:sp>
      <p:sp>
        <p:nvSpPr>
          <p:cNvPr id="10" name="integration-note-135">
            <a:extLst xmlns:a="http://schemas.openxmlformats.org/drawingml/2006/main">
              <a:ext uri="{FF2B5EF4-FFF2-40B4-BE49-F238E27FC236}">
                <a16:creationId xmlns:a16="http://schemas.microsoft.com/office/drawing/2014/main" id="{D4B79E7A-5CDD-4DF2-A77B-5C1E1F09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One backend contract. Multiple citizen touchpoints.</a:t>
            </a:r>
          </a:p>
        </p:txBody>
      </p:sp>
      <p:sp>
        <p:nvSpPr>
          <p:cNvPr id="11" name="api-panel-136">
            <a:extLst xmlns:a="http://schemas.openxmlformats.org/drawingml/2006/main">
              <a:ext uri="{FF2B5EF4-FFF2-40B4-BE49-F238E27FC236}">
                <a16:creationId xmlns:a16="http://schemas.microsoft.com/office/drawing/2014/main" id="{ED457AC9-E895-408D-9D67-716F8130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05025"/>
            <a:ext cx="6772275" cy="3971925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i-label-137">
            <a:extLst xmlns:a="http://schemas.openxmlformats.org/drawingml/2006/main">
              <a:ext uri="{FF2B5EF4-FFF2-40B4-BE49-F238E27FC236}">
                <a16:creationId xmlns:a16="http://schemas.microsoft.com/office/drawing/2014/main" id="{2932AEE3-4896-425D-AE97-7145DFCF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9825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CORE API</a:t>
            </a:r>
          </a:p>
        </p:txBody>
      </p:sp>
      <p:sp>
        <p:nvSpPr>
          <p:cNvPr id="13" name="rule-138">
            <a:extLst xmlns:a="http://schemas.openxmlformats.org/drawingml/2006/main">
              <a:ext uri="{FF2B5EF4-FFF2-40B4-BE49-F238E27FC236}">
                <a16:creationId xmlns:a16="http://schemas.microsoft.com/office/drawing/2014/main" id="{1054AAC5-9E8C-40F5-9768-622B7CAE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62250"/>
            <a:ext cx="6067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erb-139">
            <a:extLst xmlns:a="http://schemas.openxmlformats.org/drawingml/2006/main">
              <a:ext uri="{FF2B5EF4-FFF2-40B4-BE49-F238E27FC236}">
                <a16:creationId xmlns:a16="http://schemas.microsoft.com/office/drawing/2014/main" id="{3C9DB927-6E6E-419A-8D95-03064ABA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15" name="endpoint-140">
            <a:extLst xmlns:a="http://schemas.openxmlformats.org/drawingml/2006/main">
              <a:ext uri="{FF2B5EF4-FFF2-40B4-BE49-F238E27FC236}">
                <a16:creationId xmlns:a16="http://schemas.microsoft.com/office/drawing/2014/main" id="{FB7162B0-3888-459A-8396-6A80B571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/sessions</a:t>
            </a:r>
          </a:p>
        </p:txBody>
      </p:sp>
      <p:sp>
        <p:nvSpPr>
          <p:cNvPr id="16" name="verb-141">
            <a:extLst xmlns:a="http://schemas.openxmlformats.org/drawingml/2006/main">
              <a:ext uri="{FF2B5EF4-FFF2-40B4-BE49-F238E27FC236}">
                <a16:creationId xmlns:a16="http://schemas.microsoft.com/office/drawing/2014/main" id="{63042433-4275-459C-8F15-8684CD6C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9567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17" name="endpoint-142">
            <a:extLst xmlns:a="http://schemas.openxmlformats.org/drawingml/2006/main">
              <a:ext uri="{FF2B5EF4-FFF2-40B4-BE49-F238E27FC236}">
                <a16:creationId xmlns:a16="http://schemas.microsoft.com/office/drawing/2014/main" id="{E02AAE7B-1EC9-4405-843F-57B94FDB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9567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/intake/message</a:t>
            </a:r>
          </a:p>
        </p:txBody>
      </p:sp>
      <p:sp>
        <p:nvSpPr>
          <p:cNvPr id="18" name="verb-143">
            <a:extLst xmlns:a="http://schemas.openxmlformats.org/drawingml/2006/main">
              <a:ext uri="{FF2B5EF4-FFF2-40B4-BE49-F238E27FC236}">
                <a16:creationId xmlns:a16="http://schemas.microsoft.com/office/drawing/2014/main" id="{EFA5195A-220E-42A6-AC12-741A3D26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19" name="endpoint-144">
            <a:extLst xmlns:a="http://schemas.openxmlformats.org/drawingml/2006/main">
              <a:ext uri="{FF2B5EF4-FFF2-40B4-BE49-F238E27FC236}">
                <a16:creationId xmlns:a16="http://schemas.microsoft.com/office/drawing/2014/main" id="{5B865B2D-29A0-4A68-9B9E-9CCE6D71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624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/checklist/{session_id}</a:t>
            </a:r>
          </a:p>
        </p:txBody>
      </p:sp>
      <p:sp>
        <p:nvSpPr>
          <p:cNvPr id="20" name="verb-145">
            <a:extLst xmlns:a="http://schemas.openxmlformats.org/drawingml/2006/main">
              <a:ext uri="{FF2B5EF4-FFF2-40B4-BE49-F238E27FC236}">
                <a16:creationId xmlns:a16="http://schemas.microsoft.com/office/drawing/2014/main" id="{60D4E83C-8D58-442D-A56B-A7E9E1ED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2912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21" name="endpoint-146">
            <a:extLst xmlns:a="http://schemas.openxmlformats.org/drawingml/2006/main">
              <a:ext uri="{FF2B5EF4-FFF2-40B4-BE49-F238E27FC236}">
                <a16:creationId xmlns:a16="http://schemas.microsoft.com/office/drawing/2014/main" id="{3B555566-84FE-482E-96DC-0CEF0AAA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2912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/precheck</a:t>
            </a:r>
          </a:p>
        </p:txBody>
      </p:sp>
      <p:sp>
        <p:nvSpPr>
          <p:cNvPr id="22" name="verb-147">
            <a:extLst xmlns:a="http://schemas.openxmlformats.org/drawingml/2006/main">
              <a:ext uri="{FF2B5EF4-FFF2-40B4-BE49-F238E27FC236}">
                <a16:creationId xmlns:a16="http://schemas.microsoft.com/office/drawing/2014/main" id="{004EC1DD-4682-41B9-903D-52AA423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958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23" name="endpoint-148">
            <a:extLst xmlns:a="http://schemas.openxmlformats.org/drawingml/2006/main">
              <a:ext uri="{FF2B5EF4-FFF2-40B4-BE49-F238E27FC236}">
                <a16:creationId xmlns:a16="http://schemas.microsoft.com/office/drawing/2014/main" id="{D3E88EE6-1460-4BBC-8925-A8C4107C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958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/sessions/{id}/birth-registration.pdf</a:t>
            </a:r>
          </a:p>
        </p:txBody>
      </p:sp>
      <p:sp>
        <p:nvSpPr>
          <p:cNvPr id="24" name="verb-149">
            <a:extLst xmlns:a="http://schemas.openxmlformats.org/drawingml/2006/main">
              <a:ext uri="{FF2B5EF4-FFF2-40B4-BE49-F238E27FC236}">
                <a16:creationId xmlns:a16="http://schemas.microsoft.com/office/drawing/2014/main" id="{319EC6D6-1613-4CC8-94AB-8D23F379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6257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25" name="endpoint-150">
            <a:extLst xmlns:a="http://schemas.openxmlformats.org/drawingml/2006/main">
              <a:ext uri="{FF2B5EF4-FFF2-40B4-BE49-F238E27FC236}">
                <a16:creationId xmlns:a16="http://schemas.microsoft.com/office/drawing/2014/main" id="{C3A1D174-9A98-4CB5-AE30-2F3F1D66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6257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/trust</a:t>
            </a:r>
          </a:p>
        </p:txBody>
      </p:sp>
    </p:spTree>
    <p:extLst>
      <p:ext uri="{BB962C8B-B14F-4D97-AF65-F5344CB8AC3E}">
        <p14:creationId xmlns:p14="http://schemas.microsoft.com/office/powerpoint/2010/main" val="880569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oof-header-152">
            <a:extLst xmlns:a="http://schemas.openxmlformats.org/drawingml/2006/main">
              <a:ext uri="{FF2B5EF4-FFF2-40B4-BE49-F238E27FC236}">
                <a16:creationId xmlns:a16="http://schemas.microsoft.com/office/drawing/2014/main" id="{C7295513-5DAE-4BEB-AC0F-BF44BDAD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oof-title-153">
            <a:extLst xmlns:a="http://schemas.openxmlformats.org/drawingml/2006/main">
              <a:ext uri="{FF2B5EF4-FFF2-40B4-BE49-F238E27FC236}">
                <a16:creationId xmlns:a16="http://schemas.microsoft.com/office/drawing/2014/main" id="{B456846B-48F7-4832-9444-61054ECC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857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LIVE PRODUCT · FULL-SIZE PDF PREVIEW</a:t>
            </a:r>
          </a:p>
        </p:txBody>
      </p:sp>
      <p:sp>
        <p:nvSpPr>
          <p:cNvPr id="3" name="page-154">
            <a:extLst xmlns:a="http://schemas.openxmlformats.org/drawingml/2006/main">
              <a:ext uri="{FF2B5EF4-FFF2-40B4-BE49-F238E27FC236}">
                <a16:creationId xmlns:a16="http://schemas.microsoft.com/office/drawing/2014/main" id="{8633DCFB-F495-4209-A1F2-F682C4F7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71450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ff2f9fed040ae"/>
          <a:stretch xmlns:a="http://schemas.openxmlformats.org/drawingml/2006/main"/>
        </p:blipFill>
        <p:spPr>
          <a:xfrm xmlns:a="http://schemas.openxmlformats.org/drawingml/2006/main">
            <a:off x="765278" y="666750"/>
            <a:ext cx="10661445" cy="600075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</p:spTree>
    <p:extLst>
      <p:ext uri="{BB962C8B-B14F-4D97-AF65-F5344CB8AC3E}">
        <p14:creationId xmlns:p14="http://schemas.microsoft.com/office/powerpoint/2010/main" val="1640910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156">
            <a:extLst xmlns:a="http://schemas.openxmlformats.org/drawingml/2006/main">
              <a:ext uri="{FF2B5EF4-FFF2-40B4-BE49-F238E27FC236}">
                <a16:creationId xmlns:a16="http://schemas.microsoft.com/office/drawing/2014/main" id="{2537D2E3-5EDD-41CD-BC0B-9FB37C1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PILOT ROADMAP</a:t>
            </a:r>
          </a:p>
        </p:txBody>
      </p:sp>
      <p:sp>
        <p:nvSpPr>
          <p:cNvPr id="2" name="title-157">
            <a:extLst xmlns:a="http://schemas.openxmlformats.org/drawingml/2006/main">
              <a:ext uri="{FF2B5EF4-FFF2-40B4-BE49-F238E27FC236}">
                <a16:creationId xmlns:a16="http://schemas.microsoft.com/office/drawing/2014/main" id="{9C58AA4D-15B8-4D52-BB02-9FCD0F22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 90-day pilot can prove value safely.</a:t>
            </a:r>
          </a:p>
        </p:txBody>
      </p:sp>
      <p:sp>
        <p:nvSpPr>
          <p:cNvPr id="3" name="footer-158">
            <a:extLst xmlns:a="http://schemas.openxmlformats.org/drawingml/2006/main">
              <a:ext uri="{FF2B5EF4-FFF2-40B4-BE49-F238E27FC236}">
                <a16:creationId xmlns:a16="http://schemas.microsoft.com/office/drawing/2014/main" id="{638791BE-F9A7-4E10-AA38-E63E51B5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59">
            <a:extLst xmlns:a="http://schemas.openxmlformats.org/drawingml/2006/main">
              <a:ext uri="{FF2B5EF4-FFF2-40B4-BE49-F238E27FC236}">
                <a16:creationId xmlns:a16="http://schemas.microsoft.com/office/drawing/2014/main" id="{0E5FF9C9-C4D7-4682-80FE-7933E0E8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lede-160">
            <a:extLst xmlns:a="http://schemas.openxmlformats.org/drawingml/2006/main">
              <a:ext uri="{FF2B5EF4-FFF2-40B4-BE49-F238E27FC236}">
                <a16:creationId xmlns:a16="http://schemas.microsoft.com/office/drawing/2014/main" id="{F3E560A6-43D2-4B49-96A3-24331D88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Start narrow with birth registration, measure rigorously, and scale only after the evidence is strong.</a:t>
            </a:r>
          </a:p>
        </p:txBody>
      </p:sp>
      <p:sp>
        <p:nvSpPr>
          <p:cNvPr id="6" name="rule-161">
            <a:extLst xmlns:a="http://schemas.openxmlformats.org/drawingml/2006/main">
              <a:ext uri="{FF2B5EF4-FFF2-40B4-BE49-F238E27FC236}">
                <a16:creationId xmlns:a16="http://schemas.microsoft.com/office/drawing/2014/main" id="{0E72CF8B-E1CE-4473-8F81-1BDAE83D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ilestone-162">
            <a:extLst xmlns:a="http://schemas.openxmlformats.org/drawingml/2006/main">
              <a:ext uri="{FF2B5EF4-FFF2-40B4-BE49-F238E27FC236}">
                <a16:creationId xmlns:a16="http://schemas.microsoft.com/office/drawing/2014/main" id="{9D94E231-723C-4104-A4DA-E6A70145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lestone-163">
            <a:extLst xmlns:a="http://schemas.openxmlformats.org/drawingml/2006/main">
              <a:ext uri="{FF2B5EF4-FFF2-40B4-BE49-F238E27FC236}">
                <a16:creationId xmlns:a16="http://schemas.microsoft.com/office/drawing/2014/main" id="{19069097-76C7-44B9-BE1D-3BFB3EFB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ilestone-164">
            <a:extLst xmlns:a="http://schemas.openxmlformats.org/drawingml/2006/main">
              <a:ext uri="{FF2B5EF4-FFF2-40B4-BE49-F238E27FC236}">
                <a16:creationId xmlns:a16="http://schemas.microsoft.com/office/drawing/2014/main" id="{9CB49BF0-65A9-4FFA-AC8B-C13ADBC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lestone-number-165">
            <a:extLst xmlns:a="http://schemas.openxmlformats.org/drawingml/2006/main">
              <a:ext uri="{FF2B5EF4-FFF2-40B4-BE49-F238E27FC236}">
                <a16:creationId xmlns:a16="http://schemas.microsoft.com/office/drawing/2014/main" id="{98B3C9A4-F781-438E-AC8F-F4FE7263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1" name="milestone-number-166">
            <a:extLst xmlns:a="http://schemas.openxmlformats.org/drawingml/2006/main">
              <a:ext uri="{FF2B5EF4-FFF2-40B4-BE49-F238E27FC236}">
                <a16:creationId xmlns:a16="http://schemas.microsoft.com/office/drawing/2014/main" id="{3371DC01-D886-4068-839A-990B02A0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milestone-number-167">
            <a:extLst xmlns:a="http://schemas.openxmlformats.org/drawingml/2006/main">
              <a:ext uri="{FF2B5EF4-FFF2-40B4-BE49-F238E27FC236}">
                <a16:creationId xmlns:a16="http://schemas.microsoft.com/office/drawing/2014/main" id="{746EA147-FDFB-4EAE-920E-F9EA94A0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phase-label-168">
            <a:extLst xmlns:a="http://schemas.openxmlformats.org/drawingml/2006/main">
              <a:ext uri="{FF2B5EF4-FFF2-40B4-BE49-F238E27FC236}">
                <a16:creationId xmlns:a16="http://schemas.microsoft.com/office/drawing/2014/main" id="{EAA38581-6B0E-4ACA-8F0B-8E438FEE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0–2</a:t>
            </a:r>
          </a:p>
        </p:txBody>
      </p:sp>
      <p:sp>
        <p:nvSpPr>
          <p:cNvPr id="14" name="phase-title-169">
            <a:extLst xmlns:a="http://schemas.openxmlformats.org/drawingml/2006/main">
              <a:ext uri="{FF2B5EF4-FFF2-40B4-BE49-F238E27FC236}">
                <a16:creationId xmlns:a16="http://schemas.microsoft.com/office/drawing/2014/main" id="{30048716-7EC8-47A5-A4CF-A0F2E2C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Align</a:t>
            </a:r>
          </a:p>
        </p:txBody>
      </p:sp>
      <p:sp>
        <p:nvSpPr>
          <p:cNvPr id="15" name="phase-copy-170">
            <a:extLst xmlns:a="http://schemas.openxmlformats.org/drawingml/2006/main">
              <a:ext uri="{FF2B5EF4-FFF2-40B4-BE49-F238E27FC236}">
                <a16:creationId xmlns:a16="http://schemas.microsoft.com/office/drawing/2014/main" id="{E48C3A47-9F02-43ED-8B69-EDEA1950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Confirm local rules, source ownership, audit process, and pilot baseline.</a:t>
            </a:r>
          </a:p>
        </p:txBody>
      </p:sp>
      <p:sp>
        <p:nvSpPr>
          <p:cNvPr id="16" name="phase-label-171">
            <a:extLst xmlns:a="http://schemas.openxmlformats.org/drawingml/2006/main">
              <a:ext uri="{FF2B5EF4-FFF2-40B4-BE49-F238E27FC236}">
                <a16:creationId xmlns:a16="http://schemas.microsoft.com/office/drawing/2014/main" id="{D37964F7-7EEA-4E0D-83EC-3D89C18C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3–6</a:t>
            </a:r>
          </a:p>
        </p:txBody>
      </p:sp>
      <p:sp>
        <p:nvSpPr>
          <p:cNvPr id="17" name="phase-title-172">
            <a:extLst xmlns:a="http://schemas.openxmlformats.org/drawingml/2006/main">
              <a:ext uri="{FF2B5EF4-FFF2-40B4-BE49-F238E27FC236}">
                <a16:creationId xmlns:a16="http://schemas.microsoft.com/office/drawing/2014/main" id="{530BD7A6-E117-4802-8C90-AD3D6AC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Integrate</a:t>
            </a:r>
          </a:p>
        </p:txBody>
      </p:sp>
      <p:sp>
        <p:nvSpPr>
          <p:cNvPr id="18" name="phase-copy-173">
            <a:extLst xmlns:a="http://schemas.openxmlformats.org/drawingml/2006/main">
              <a:ext uri="{FF2B5EF4-FFF2-40B4-BE49-F238E27FC236}">
                <a16:creationId xmlns:a16="http://schemas.microsoft.com/office/drawing/2014/main" id="{6FE61F2C-4D0C-4ACD-96C8-6450AF8B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Embed in one portal, onboard two pilot offices, and validate end-to-end operations.</a:t>
            </a:r>
          </a:p>
        </p:txBody>
      </p:sp>
      <p:sp>
        <p:nvSpPr>
          <p:cNvPr id="19" name="phase-label-174">
            <a:extLst xmlns:a="http://schemas.openxmlformats.org/drawingml/2006/main">
              <a:ext uri="{FF2B5EF4-FFF2-40B4-BE49-F238E27FC236}">
                <a16:creationId xmlns:a16="http://schemas.microsoft.com/office/drawing/2014/main" id="{ECA1B16A-2F01-4885-8436-12284B9A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7–12</a:t>
            </a:r>
          </a:p>
        </p:txBody>
      </p:sp>
      <p:sp>
        <p:nvSpPr>
          <p:cNvPr id="20" name="phase-title-175">
            <a:extLst xmlns:a="http://schemas.openxmlformats.org/drawingml/2006/main">
              <a:ext uri="{FF2B5EF4-FFF2-40B4-BE49-F238E27FC236}">
                <a16:creationId xmlns:a16="http://schemas.microsoft.com/office/drawing/2014/main" id="{1FA42348-8C44-42FF-B29D-7A5E84AF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21" name="phase-copy-176">
            <a:extLst xmlns:a="http://schemas.openxmlformats.org/drawingml/2006/main">
              <a:ext uri="{FF2B5EF4-FFF2-40B4-BE49-F238E27FC236}">
                <a16:creationId xmlns:a16="http://schemas.microsoft.com/office/drawing/2014/main" id="{25BDAFB0-06A9-45B5-867C-A4F287A4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Audit accuracy, citizen completion, preventable corrections, and officer workload.</a:t>
            </a:r>
          </a:p>
        </p:txBody>
      </p:sp>
      <p:sp>
        <p:nvSpPr>
          <p:cNvPr id="22" name="partners-177">
            <a:extLst xmlns:a="http://schemas.openxmlformats.org/drawingml/2006/main">
              <a:ext uri="{FF2B5EF4-FFF2-40B4-BE49-F238E27FC236}">
                <a16:creationId xmlns:a16="http://schemas.microsoft.com/office/drawing/2014/main" id="{5E3CD9F7-307A-4419-99E7-7C8B5536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1087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tners-label-178">
            <a:extLst xmlns:a="http://schemas.openxmlformats.org/drawingml/2006/main">
              <a:ext uri="{FF2B5EF4-FFF2-40B4-BE49-F238E27FC236}">
                <a16:creationId xmlns:a16="http://schemas.microsoft.com/office/drawing/2014/main" id="{ACDC7734-5181-43B3-ADB8-09EB9CF2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PILOT PARTNERS</a:t>
            </a:r>
          </a:p>
        </p:txBody>
      </p:sp>
      <p:sp>
        <p:nvSpPr>
          <p:cNvPr id="24" name="partners-copy-179">
            <a:extLst xmlns:a="http://schemas.openxmlformats.org/drawingml/2006/main">
              <a:ext uri="{FF2B5EF4-FFF2-40B4-BE49-F238E27FC236}">
                <a16:creationId xmlns:a16="http://schemas.microsoft.com/office/drawing/2014/main" id="{3D651AEE-7C97-441D-A45B-E33D643B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1 portal owner   ·   2 pilot offices   ·   NIDit regulatory liaison</a:t>
            </a:r>
          </a:p>
        </p:txBody>
      </p:sp>
    </p:spTree>
    <p:extLst>
      <p:ext uri="{BB962C8B-B14F-4D97-AF65-F5344CB8AC3E}">
        <p14:creationId xmlns:p14="http://schemas.microsoft.com/office/powerpoint/2010/main" val="10263754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81">
            <a:extLst xmlns:a="http://schemas.openxmlformats.org/drawingml/2006/main">
              <a:ext uri="{FF2B5EF4-FFF2-40B4-BE49-F238E27FC236}">
                <a16:creationId xmlns:a16="http://schemas.microsoft.com/office/drawing/2014/main" id="{12688289-201E-4DA1-9479-E77458FD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PROPOSED DECISION GATES</a:t>
            </a:r>
          </a:p>
        </p:txBody>
      </p:sp>
      <p:sp>
        <p:nvSpPr>
          <p:cNvPr id="2" name="title-182">
            <a:extLst xmlns:a="http://schemas.openxmlformats.org/drawingml/2006/main">
              <a:ext uri="{FF2B5EF4-FFF2-40B4-BE49-F238E27FC236}">
                <a16:creationId xmlns:a16="http://schemas.microsoft.com/office/drawing/2014/main" id="{B46FABCC-A025-423D-83F7-15980102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Pilot success is measurable.</a:t>
            </a:r>
          </a:p>
        </p:txBody>
      </p:sp>
      <p:sp>
        <p:nvSpPr>
          <p:cNvPr id="3" name="footer-183">
            <a:extLst xmlns:a="http://schemas.openxmlformats.org/drawingml/2006/main">
              <a:ext uri="{FF2B5EF4-FFF2-40B4-BE49-F238E27FC236}">
                <a16:creationId xmlns:a16="http://schemas.microsoft.com/office/drawing/2014/main" id="{166175FC-0E1F-4BCF-9401-6415D5E7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84">
            <a:extLst xmlns:a="http://schemas.openxmlformats.org/drawingml/2006/main">
              <a:ext uri="{FF2B5EF4-FFF2-40B4-BE49-F238E27FC236}">
                <a16:creationId xmlns:a16="http://schemas.microsoft.com/office/drawing/2014/main" id="{6B869508-FAF7-421E-B700-243DB2C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target-note-185">
            <a:extLst xmlns:a="http://schemas.openxmlformats.org/drawingml/2006/main">
              <a:ext uri="{FF2B5EF4-FFF2-40B4-BE49-F238E27FC236}">
                <a16:creationId xmlns:a16="http://schemas.microsoft.com/office/drawing/2014/main" id="{0759C360-3EBC-4DE9-80EB-0E573D68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These are targets for the 90-day pilot—not claimed production results.</a:t>
            </a:r>
          </a:p>
        </p:txBody>
      </p:sp>
      <p:sp>
        <p:nvSpPr>
          <p:cNvPr id="6" name="target-186">
            <a:extLst xmlns:a="http://schemas.openxmlformats.org/drawingml/2006/main">
              <a:ext uri="{FF2B5EF4-FFF2-40B4-BE49-F238E27FC236}">
                <a16:creationId xmlns:a16="http://schemas.microsoft.com/office/drawing/2014/main" id="{6CF544B3-388F-4C53-8D0C-64816BBE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rget-187">
            <a:extLst xmlns:a="http://schemas.openxmlformats.org/drawingml/2006/main">
              <a:ext uri="{FF2B5EF4-FFF2-40B4-BE49-F238E27FC236}">
                <a16:creationId xmlns:a16="http://schemas.microsoft.com/office/drawing/2014/main" id="{B1881009-35E8-4D38-A018-96F11AF9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8" name="target-188">
            <a:extLst xmlns:a="http://schemas.openxmlformats.org/drawingml/2006/main">
              <a:ext uri="{FF2B5EF4-FFF2-40B4-BE49-F238E27FC236}">
                <a16:creationId xmlns:a16="http://schemas.microsoft.com/office/drawing/2014/main" id="{46E483AD-A06A-4208-9E67-06D312AB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9" name="target-189">
            <a:extLst xmlns:a="http://schemas.openxmlformats.org/drawingml/2006/main">
              <a:ext uri="{FF2B5EF4-FFF2-40B4-BE49-F238E27FC236}">
                <a16:creationId xmlns:a16="http://schemas.microsoft.com/office/drawing/2014/main" id="{F0273B8B-BAD4-456F-940F-9127382D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190">
            <a:extLst xmlns:a="http://schemas.openxmlformats.org/drawingml/2006/main">
              <a:ext uri="{FF2B5EF4-FFF2-40B4-BE49-F238E27FC236}">
                <a16:creationId xmlns:a16="http://schemas.microsoft.com/office/drawing/2014/main" id="{5CD91AFF-F87E-4E6B-86E2-CB3A51D5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≥95%</a:t>
            </a:r>
          </a:p>
        </p:txBody>
      </p:sp>
      <p:sp>
        <p:nvSpPr>
          <p:cNvPr id="11" name="metric-label-191">
            <a:extLst xmlns:a="http://schemas.openxmlformats.org/drawingml/2006/main">
              <a:ext uri="{FF2B5EF4-FFF2-40B4-BE49-F238E27FC236}">
                <a16:creationId xmlns:a16="http://schemas.microsoft.com/office/drawing/2014/main" id="{7C3CC716-F853-4D79-8577-BBFD0813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Checklist alignment</a:t>
            </a:r>
          </a:p>
        </p:txBody>
      </p:sp>
      <p:sp>
        <p:nvSpPr>
          <p:cNvPr id="12" name="metric-copy-192">
            <a:extLst xmlns:a="http://schemas.openxmlformats.org/drawingml/2006/main">
              <a:ext uri="{FF2B5EF4-FFF2-40B4-BE49-F238E27FC236}">
                <a16:creationId xmlns:a16="http://schemas.microsoft.com/office/drawing/2014/main" id="{A9CEB15D-4DAC-4517-A109-4D830259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with current regulation in monthly expert audits</a:t>
            </a:r>
          </a:p>
        </p:txBody>
      </p:sp>
      <p:sp>
        <p:nvSpPr>
          <p:cNvPr id="13" name="metric-193">
            <a:extLst xmlns:a="http://schemas.openxmlformats.org/drawingml/2006/main">
              <a:ext uri="{FF2B5EF4-FFF2-40B4-BE49-F238E27FC236}">
                <a16:creationId xmlns:a16="http://schemas.microsoft.com/office/drawing/2014/main" id="{D7DE8D88-7945-4BC3-9EAB-48ED2A77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≥30%</a:t>
            </a:r>
          </a:p>
        </p:txBody>
      </p:sp>
      <p:sp>
        <p:nvSpPr>
          <p:cNvPr id="14" name="metric-label-194">
            <a:extLst xmlns:a="http://schemas.openxmlformats.org/drawingml/2006/main">
              <a:ext uri="{FF2B5EF4-FFF2-40B4-BE49-F238E27FC236}">
                <a16:creationId xmlns:a16="http://schemas.microsoft.com/office/drawing/2014/main" id="{ADC353B2-28BC-426E-8983-24D47814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Fewer preventable
corrections</a:t>
            </a:r>
          </a:p>
        </p:txBody>
      </p:sp>
      <p:sp>
        <p:nvSpPr>
          <p:cNvPr id="15" name="metric-copy-195">
            <a:extLst xmlns:a="http://schemas.openxmlformats.org/drawingml/2006/main">
              <a:ext uri="{FF2B5EF4-FFF2-40B4-BE49-F238E27FC236}">
                <a16:creationId xmlns:a16="http://schemas.microsoft.com/office/drawing/2014/main" id="{767FA43F-5FE9-45D9-9EBF-00F48EFD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versus the pilot baseline</a:t>
            </a:r>
          </a:p>
        </p:txBody>
      </p:sp>
      <p:sp>
        <p:nvSpPr>
          <p:cNvPr id="16" name="metric-196">
            <a:extLst xmlns:a="http://schemas.openxmlformats.org/drawingml/2006/main">
              <a:ext uri="{FF2B5EF4-FFF2-40B4-BE49-F238E27FC236}">
                <a16:creationId xmlns:a16="http://schemas.microsoft.com/office/drawing/2014/main" id="{3F6ABF8B-E4E0-412B-A940-A2137EF4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≥25%</a:t>
            </a:r>
          </a:p>
        </p:txBody>
      </p:sp>
      <p:sp>
        <p:nvSpPr>
          <p:cNvPr id="17" name="metric-label-197">
            <a:extLst xmlns:a="http://schemas.openxmlformats.org/drawingml/2006/main">
              <a:ext uri="{FF2B5EF4-FFF2-40B4-BE49-F238E27FC236}">
                <a16:creationId xmlns:a16="http://schemas.microsoft.com/office/drawing/2014/main" id="{B544E22E-E120-4E8A-85A1-F8C7D237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Fewer routine
clarification contacts</a:t>
            </a:r>
          </a:p>
        </p:txBody>
      </p:sp>
      <p:sp>
        <p:nvSpPr>
          <p:cNvPr id="18" name="metric-copy-198">
            <a:extLst xmlns:a="http://schemas.openxmlformats.org/drawingml/2006/main">
              <a:ext uri="{FF2B5EF4-FFF2-40B4-BE49-F238E27FC236}">
                <a16:creationId xmlns:a16="http://schemas.microsoft.com/office/drawing/2014/main" id="{B84C06FB-0BC7-4080-AE64-DECB60BC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for questions covered by the guide</a:t>
            </a:r>
          </a:p>
        </p:txBody>
      </p:sp>
      <p:sp>
        <p:nvSpPr>
          <p:cNvPr id="19" name="metric-199">
            <a:extLst xmlns:a="http://schemas.openxmlformats.org/drawingml/2006/main">
              <a:ext uri="{FF2B5EF4-FFF2-40B4-BE49-F238E27FC236}">
                <a16:creationId xmlns:a16="http://schemas.microsoft.com/office/drawing/2014/main" id="{89CFDD11-5B21-4580-9CD4-793ADE7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≥80%</a:t>
            </a:r>
          </a:p>
        </p:txBody>
      </p:sp>
      <p:sp>
        <p:nvSpPr>
          <p:cNvPr id="20" name="metric-label-200">
            <a:extLst xmlns:a="http://schemas.openxmlformats.org/drawingml/2006/main">
              <a:ext uri="{FF2B5EF4-FFF2-40B4-BE49-F238E27FC236}">
                <a16:creationId xmlns:a16="http://schemas.microsoft.com/office/drawing/2014/main" id="{B4908AE7-5BBB-4CB3-807C-2212D759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Guided-flow
completion</a:t>
            </a:r>
          </a:p>
        </p:txBody>
      </p:sp>
      <p:sp>
        <p:nvSpPr>
          <p:cNvPr id="21" name="metric-copy-201">
            <a:extLst xmlns:a="http://schemas.openxmlformats.org/drawingml/2006/main">
              <a:ext uri="{FF2B5EF4-FFF2-40B4-BE49-F238E27FC236}">
                <a16:creationId xmlns:a16="http://schemas.microsoft.com/office/drawing/2014/main" id="{221A312C-485F-43F4-9F11-A5755256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across mobile and desktop citizens</a:t>
            </a:r>
          </a:p>
        </p:txBody>
      </p:sp>
      <p:sp>
        <p:nvSpPr>
          <p:cNvPr id="22" name="decision-rule-202">
            <a:extLst xmlns:a="http://schemas.openxmlformats.org/drawingml/2006/main">
              <a:ext uri="{FF2B5EF4-FFF2-40B4-BE49-F238E27FC236}">
                <a16:creationId xmlns:a16="http://schemas.microsoft.com/office/drawing/2014/main" id="{812196C2-D71F-43F6-9A6F-55D56C79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Scale only when accuracy and safety gates pass.</a:t>
            </a:r>
          </a:p>
        </p:txBody>
      </p:sp>
    </p:spTree>
    <p:extLst>
      <p:ext uri="{BB962C8B-B14F-4D97-AF65-F5344CB8AC3E}">
        <p14:creationId xmlns:p14="http://schemas.microsoft.com/office/powerpoint/2010/main" val="933533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3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ox-204">
            <a:extLst xmlns:a="http://schemas.openxmlformats.org/drawingml/2006/main">
              <a:ext uri="{FF2B5EF4-FFF2-40B4-BE49-F238E27FC236}">
                <a16:creationId xmlns:a16="http://schemas.microsoft.com/office/drawing/2014/main" id="{71DA6E16-6F3B-4AFB-91E2-CE7B56BE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-205">
            <a:extLst xmlns:a="http://schemas.openxmlformats.org/drawingml/2006/main">
              <a:ext uri="{FF2B5EF4-FFF2-40B4-BE49-F238E27FC236}">
                <a16:creationId xmlns:a16="http://schemas.microsoft.com/office/drawing/2014/main" id="{DB191B1F-6083-4154-BD50-0C65F9BE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206">
            <a:extLst xmlns:a="http://schemas.openxmlformats.org/drawingml/2006/main">
              <a:ext uri="{FF2B5EF4-FFF2-40B4-BE49-F238E27FC236}">
                <a16:creationId xmlns:a16="http://schemas.microsoft.com/office/drawing/2014/main" id="{34CF17FA-F60E-42AC-9097-A080186C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THE DECISION</a:t>
            </a:r>
          </a:p>
        </p:txBody>
      </p:sp>
      <p:sp>
        <p:nvSpPr>
          <p:cNvPr id="4" name="closing-title-207">
            <a:extLst xmlns:a="http://schemas.openxmlformats.org/drawingml/2006/main">
              <a:ext uri="{FF2B5EF4-FFF2-40B4-BE49-F238E27FC236}">
                <a16:creationId xmlns:a16="http://schemas.microsoft.com/office/drawing/2014/main" id="{3B73CC01-647B-4365-B6BD-2B10959F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619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Let every citizen
arrive ready.</a:t>
            </a:r>
          </a:p>
        </p:txBody>
      </p:sp>
      <p:sp>
        <p:nvSpPr>
          <p:cNvPr id="5" name="closing-lede-208">
            <a:extLst xmlns:a="http://schemas.openxmlformats.org/drawingml/2006/main">
              <a:ext uri="{FF2B5EF4-FFF2-40B4-BE49-F238E27FC236}">
                <a16:creationId xmlns:a16="http://schemas.microsoft.com/office/drawing/2014/main" id="{9EF72821-5BA2-47C2-B15B-8A0AE558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6191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Launch a 90-day birth-registration pilot and prove that accurate guidance can be both safer for government and simpler for citizens.</a:t>
            </a:r>
          </a:p>
        </p:txBody>
      </p:sp>
      <p:sp>
        <p:nvSpPr>
          <p:cNvPr id="6" name="rule-209">
            <a:extLst xmlns:a="http://schemas.openxmlformats.org/drawingml/2006/main">
              <a:ext uri="{FF2B5EF4-FFF2-40B4-BE49-F238E27FC236}">
                <a16:creationId xmlns:a16="http://schemas.microsoft.com/office/drawing/2014/main" id="{6E8DF091-3420-49D6-9A66-F6D723BF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601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sk-number-210">
            <a:extLst xmlns:a="http://schemas.openxmlformats.org/drawingml/2006/main">
              <a:ext uri="{FF2B5EF4-FFF2-40B4-BE49-F238E27FC236}">
                <a16:creationId xmlns:a16="http://schemas.microsoft.com/office/drawing/2014/main" id="{7BAEA2A0-6EEC-418C-9F95-5094EA38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ask-211">
            <a:extLst xmlns:a="http://schemas.openxmlformats.org/drawingml/2006/main">
              <a:ext uri="{FF2B5EF4-FFF2-40B4-BE49-F238E27FC236}">
                <a16:creationId xmlns:a16="http://schemas.microsoft.com/office/drawing/2014/main" id="{4BB3A12B-AF92-4C45-A9DA-C5DAF38B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2238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Approve the pilot</a:t>
            </a:r>
          </a:p>
        </p:txBody>
      </p:sp>
      <p:sp>
        <p:nvSpPr>
          <p:cNvPr id="9" name="ask-number-212">
            <a:extLst xmlns:a="http://schemas.openxmlformats.org/drawingml/2006/main">
              <a:ext uri="{FF2B5EF4-FFF2-40B4-BE49-F238E27FC236}">
                <a16:creationId xmlns:a16="http://schemas.microsoft.com/office/drawing/2014/main" id="{9025F6A2-AA79-4C98-B1AA-64D64F14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ask-213">
            <a:extLst xmlns:a="http://schemas.openxmlformats.org/drawingml/2006/main">
              <a:ext uri="{FF2B5EF4-FFF2-40B4-BE49-F238E27FC236}">
                <a16:creationId xmlns:a16="http://schemas.microsoft.com/office/drawing/2014/main" id="{DBF51A52-4F4F-4D27-8C27-CA1FF2C1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Appoint a regulatory liaison</a:t>
            </a:r>
          </a:p>
        </p:txBody>
      </p:sp>
      <p:sp>
        <p:nvSpPr>
          <p:cNvPr id="11" name="ask-number-214">
            <a:extLst xmlns:a="http://schemas.openxmlformats.org/drawingml/2006/main">
              <a:ext uri="{FF2B5EF4-FFF2-40B4-BE49-F238E27FC236}">
                <a16:creationId xmlns:a16="http://schemas.microsoft.com/office/drawing/2014/main" id="{B740A381-95A0-4DB8-B634-D2728C5B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ask-215">
            <a:extLst xmlns:a="http://schemas.openxmlformats.org/drawingml/2006/main">
              <a:ext uri="{FF2B5EF4-FFF2-40B4-BE49-F238E27FC236}">
                <a16:creationId xmlns:a16="http://schemas.microsoft.com/office/drawing/2014/main" id="{DF3F5824-5DF4-4375-B927-6790A840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0067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Connect one portal and two offices</a:t>
            </a:r>
          </a:p>
        </p:txBody>
      </p:sp>
      <p:sp>
        <p:nvSpPr>
          <p:cNvPr id="13" name="closing-card-216">
            <a:extLst xmlns:a="http://schemas.openxmlformats.org/drawingml/2006/main">
              <a:ext uri="{FF2B5EF4-FFF2-40B4-BE49-F238E27FC236}">
                <a16:creationId xmlns:a16="http://schemas.microsoft.com/office/drawing/2014/main" id="{0A7623C1-7737-4193-A3F8-A5152247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3829050" cy="49339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and-217">
            <a:extLst xmlns:a="http://schemas.openxmlformats.org/drawingml/2006/main">
              <a:ext uri="{FF2B5EF4-FFF2-40B4-BE49-F238E27FC236}">
                <a16:creationId xmlns:a16="http://schemas.microsoft.com/office/drawing/2014/main" id="{D43C5386-B421-4AFE-8DAC-0569DF0C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CIVICPATH AI</a:t>
            </a:r>
          </a:p>
        </p:txBody>
      </p:sp>
      <p:sp>
        <p:nvSpPr>
          <p:cNvPr id="15" name="closing-product-218">
            <a:extLst xmlns:a="http://schemas.openxmlformats.org/drawingml/2006/main">
              <a:ext uri="{FF2B5EF4-FFF2-40B4-BE49-F238E27FC236}">
                <a16:creationId xmlns:a16="http://schemas.microsoft.com/office/drawing/2014/main" id="{1B4DC25C-5D27-4035-8827-11F9EDE9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241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AI-guided public service procedures</a:t>
            </a:r>
          </a:p>
        </p:txBody>
      </p:sp>
      <p:sp>
        <p:nvSpPr>
          <p:cNvPr id="16" name="live-label-219">
            <a:extLst xmlns:a="http://schemas.openxmlformats.org/drawingml/2006/main">
              <a:ext uri="{FF2B5EF4-FFF2-40B4-BE49-F238E27FC236}">
                <a16:creationId xmlns:a16="http://schemas.microsoft.com/office/drawing/2014/main" id="{1FD02DFD-4871-4379-9726-2B40F95F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LIVE DEMO</a:t>
            </a:r>
          </a:p>
        </p:txBody>
      </p:sp>
      <p:sp>
        <p:nvSpPr>
          <p:cNvPr id="17" name="closing-url-220">
            <a:extLst xmlns:a="http://schemas.openxmlformats.org/drawingml/2006/main">
              <a:ext uri="{FF2B5EF4-FFF2-40B4-BE49-F238E27FC236}">
                <a16:creationId xmlns:a16="http://schemas.microsoft.com/office/drawing/2014/main" id="{B321A5D7-AB29-4880-B06C-66A2DB9D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24300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ai-guided-public-service-
procedures.vercel.app</a:t>
            </a:r>
          </a:p>
        </p:txBody>
      </p:sp>
      <p:sp>
        <p:nvSpPr>
          <p:cNvPr id="18" name="institute-221">
            <a:extLst xmlns:a="http://schemas.openxmlformats.org/drawingml/2006/main">
              <a:ext uri="{FF2B5EF4-FFF2-40B4-BE49-F238E27FC236}">
                <a16:creationId xmlns:a16="http://schemas.microsoft.com/office/drawing/2014/main" id="{B0EB862C-39A6-4D8E-8151-01F95017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National Institute for Digital Technologies
and Digital Transformation (NIDit)</a:t>
            </a:r>
          </a:p>
        </p:txBody>
      </p:sp>
      <p:sp>
        <p:nvSpPr>
          <p:cNvPr id="19" name="footer-222">
            <a:extLst xmlns:a="http://schemas.openxmlformats.org/drawingml/2006/main">
              <a:ext uri="{FF2B5EF4-FFF2-40B4-BE49-F238E27FC236}">
                <a16:creationId xmlns:a16="http://schemas.microsoft.com/office/drawing/2014/main" id="{67B989F8-F4BF-4390-B9FE-B1E1DEC8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C3F5"/>
                </a:solidFill>
                <a:latin typeface="Arial"/>
                <a:ea typeface="Arial"/>
                <a:cs typeface="Arial"/>
              </a:defRPr>
            </a:pPr>
            <a:r>
              <a:t>Lonely Stone · Smart Government</a:t>
            </a:r>
          </a:p>
        </p:txBody>
      </p:sp>
      <p:sp>
        <p:nvSpPr>
          <p:cNvPr id="20" name="page-223">
            <a:extLst xmlns:a="http://schemas.openxmlformats.org/drawingml/2006/main">
              <a:ext uri="{FF2B5EF4-FFF2-40B4-BE49-F238E27FC236}">
                <a16:creationId xmlns:a16="http://schemas.microsoft.com/office/drawing/2014/main" id="{258B45C6-F895-4A2A-A73E-9B258E30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CC3F5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628b7ead142d2"/>
          <a:stretch xmlns:a="http://schemas.openxmlformats.org/drawingml/2006/main"/>
        </p:blipFill>
        <p:spPr>
          <a:xfrm xmlns:a="http://schemas.openxmlformats.org/drawingml/2006/main">
            <a:off x="9115425" y="11049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</p:spPr>
      </p:pic>
    </p:spTree>
    <p:extLst>
      <p:ext uri="{BB962C8B-B14F-4D97-AF65-F5344CB8AC3E}">
        <p14:creationId xmlns:p14="http://schemas.microsoft.com/office/powerpoint/2010/main" val="903803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2026-07-19T00:50:44.4250000Z</dcterms:created>
  <dcterms:modified xsi:type="dcterms:W3CDTF">2026-07-19T00:50:44.4250000Z</dcterms:modified>
</coreProperties>
</file>