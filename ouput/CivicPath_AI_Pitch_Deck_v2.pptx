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ec6cda12024283" /><Relationship Type="http://schemas.openxmlformats.org/officeDocument/2006/relationships/extended-properties" Target="/docProps/app.xml" Id="R307fcdf4afa041b2" /><Relationship Type="http://schemas.openxmlformats.org/officeDocument/2006/relationships/officeDocument" Target="/ppt/presentation.xml" Id="R509339f53ed847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757b16c9604a5c"/>
  </p:sldMasterIdLst>
  <p:notesMasterIdLst>
    <p:notesMasterId xmlns:r="http://schemas.openxmlformats.org/officeDocument/2006/relationships" r:id="R9d2e4e15b0e64229"/>
  </p:notesMasterIdLst>
  <p:sldIdLst>
    <p:sldId xmlns:r="http://schemas.openxmlformats.org/officeDocument/2006/relationships" id="256" r:id="R21230b1fd93e46ed"/>
    <p:sldId xmlns:r="http://schemas.openxmlformats.org/officeDocument/2006/relationships" id="257" r:id="Rde44e14842a94b28"/>
    <p:sldId xmlns:r="http://schemas.openxmlformats.org/officeDocument/2006/relationships" id="258" r:id="R0b45d7a2a39148c1"/>
    <p:sldId xmlns:r="http://schemas.openxmlformats.org/officeDocument/2006/relationships" id="259" r:id="R83ed28a01f314d3b"/>
    <p:sldId xmlns:r="http://schemas.openxmlformats.org/officeDocument/2006/relationships" id="260" r:id="Rd3dfdfc45e43441c"/>
    <p:sldId xmlns:r="http://schemas.openxmlformats.org/officeDocument/2006/relationships" id="261" r:id="Ra9431af01b4743b5"/>
    <p:sldId xmlns:r="http://schemas.openxmlformats.org/officeDocument/2006/relationships" id="262" r:id="Reebb7f86d9ca463f"/>
    <p:sldId xmlns:r="http://schemas.openxmlformats.org/officeDocument/2006/relationships" id="263" r:id="Rff563f9f2ecc4af9"/>
    <p:sldId xmlns:r="http://schemas.openxmlformats.org/officeDocument/2006/relationships" id="264" r:id="R904c3f1598a44c40"/>
    <p:sldId xmlns:r="http://schemas.openxmlformats.org/officeDocument/2006/relationships" id="265" r:id="Rbe361211784b4a8f"/>
    <p:sldId xmlns:r="http://schemas.openxmlformats.org/officeDocument/2006/relationships" id="266" r:id="R4b0c36712c554400"/>
    <p:sldId xmlns:r="http://schemas.openxmlformats.org/officeDocument/2006/relationships" id="267" r:id="R24536174559e4f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089c2137f64ee1" /><Relationship Type="http://schemas.openxmlformats.org/officeDocument/2006/relationships/slideMaster" Target="/ppt/slideMasters/slideMaster1.xml" Id="R2e757b16c9604a5c" /><Relationship Type="http://schemas.openxmlformats.org/officeDocument/2006/relationships/notesMaster" Target="/ppt/notesMasters/notesMaster1.xml" Id="R9d2e4e15b0e64229" /><Relationship Type="http://schemas.openxmlformats.org/officeDocument/2006/relationships/presProps" Target="/ppt/presProps.xml" Id="Rfeaa3e12e7734d54" /><Relationship Type="http://schemas.openxmlformats.org/officeDocument/2006/relationships/tableStyles" Target="/ppt/tableStyles.xml" Id="R22d43e93a3374d82" /><Relationship Type="http://schemas.openxmlformats.org/officeDocument/2006/relationships/slide" Target="/ppt/slides/slide1.xml" Id="R21230b1fd93e46ed" /><Relationship Type="http://schemas.openxmlformats.org/officeDocument/2006/relationships/slide" Target="/ppt/slides/slide2.xml" Id="Rde44e14842a94b28" /><Relationship Type="http://schemas.openxmlformats.org/officeDocument/2006/relationships/slide" Target="/ppt/slides/slide3.xml" Id="R0b45d7a2a39148c1" /><Relationship Type="http://schemas.openxmlformats.org/officeDocument/2006/relationships/slide" Target="/ppt/slides/slide4.xml" Id="R83ed28a01f314d3b" /><Relationship Type="http://schemas.openxmlformats.org/officeDocument/2006/relationships/slide" Target="/ppt/slides/slide5.xml" Id="Rd3dfdfc45e43441c" /><Relationship Type="http://schemas.openxmlformats.org/officeDocument/2006/relationships/slide" Target="/ppt/slides/slide6.xml" Id="Ra9431af01b4743b5" /><Relationship Type="http://schemas.openxmlformats.org/officeDocument/2006/relationships/slide" Target="/ppt/slides/slide7.xml" Id="Reebb7f86d9ca463f" /><Relationship Type="http://schemas.openxmlformats.org/officeDocument/2006/relationships/slide" Target="/ppt/slides/slide8.xml" Id="Rff563f9f2ecc4af9" /><Relationship Type="http://schemas.openxmlformats.org/officeDocument/2006/relationships/slide" Target="/ppt/slides/slide9.xml" Id="R904c3f1598a44c40" /><Relationship Type="http://schemas.openxmlformats.org/officeDocument/2006/relationships/slide" Target="/ppt/slides/slide10.xml" Id="Rbe361211784b4a8f" /><Relationship Type="http://schemas.openxmlformats.org/officeDocument/2006/relationships/slide" Target="/ppt/slides/slide11.xml" Id="R4b0c36712c554400" /><Relationship Type="http://schemas.openxmlformats.org/officeDocument/2006/relationships/slide" Target="/ppt/slides/slide12.xml" Id="R24536174559e4f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50133e1a5341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4762f01ae14f03" /><Relationship Type="http://schemas.openxmlformats.org/officeDocument/2006/relationships/notesMaster" Target="/ppt/notesMasters/notesMaster1.xml" Id="R2a0fec8f01244d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5fa5f906ad4144" /><Relationship Type="http://schemas.openxmlformats.org/officeDocument/2006/relationships/notesMaster" Target="/ppt/notesMasters/notesMaster1.xml" Id="Rac6d116b9cee49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764c3e5dcc40a1" /><Relationship Type="http://schemas.openxmlformats.org/officeDocument/2006/relationships/notesMaster" Target="/ppt/notesMasters/notesMaster1.xml" Id="Ra9b111a9861748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141194ba3c4a61" /><Relationship Type="http://schemas.openxmlformats.org/officeDocument/2006/relationships/notesMaster" Target="/ppt/notesMasters/notesMaster1.xml" Id="Rf97f1a665fe943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76459c72a4488" /><Relationship Type="http://schemas.openxmlformats.org/officeDocument/2006/relationships/notesMaster" Target="/ppt/notesMasters/notesMaster1.xml" Id="Rbd4a0c6bc50247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fd34745aa94227" /><Relationship Type="http://schemas.openxmlformats.org/officeDocument/2006/relationships/notesMaster" Target="/ppt/notesMasters/notesMaster1.xml" Id="R9cf1b85eda4949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96050206d3458a" /><Relationship Type="http://schemas.openxmlformats.org/officeDocument/2006/relationships/notesMaster" Target="/ppt/notesMasters/notesMaster1.xml" Id="Reb5d2becdf9148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251207fb424f5a" /><Relationship Type="http://schemas.openxmlformats.org/officeDocument/2006/relationships/notesMaster" Target="/ppt/notesMasters/notesMaster1.xml" Id="R3aa5849775b247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4c49227aec4d14" /><Relationship Type="http://schemas.openxmlformats.org/officeDocument/2006/relationships/notesMaster" Target="/ppt/notesMasters/notesMaster1.xml" Id="R53dd1de021c149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60d8777340423a" /><Relationship Type="http://schemas.openxmlformats.org/officeDocument/2006/relationships/notesMaster" Target="/ppt/notesMasters/notesMaster1.xml" Id="Re1bbec0528044d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f72a827e1f4c92" /><Relationship Type="http://schemas.openxmlformats.org/officeDocument/2006/relationships/notesMaster" Target="/ppt/notesMasters/notesMaster1.xml" Id="Rfe70a3027e3a47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e3f903287f4ba3" /><Relationship Type="http://schemas.openxmlformats.org/officeDocument/2006/relationships/notesMaster" Target="/ppt/notesMasters/notesMaster1.xml" Id="R6ce79ba714a0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ba0267a29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d29750f121412c" /><Relationship Type="http://schemas.openxmlformats.org/officeDocument/2006/relationships/slideLayout" Target="/ppt/slideLayouts/slideLayout1.xml" Id="Rf8631dbee5974f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631dbee5974f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3a18f1130452a" /><Relationship Type="http://schemas.openxmlformats.org/officeDocument/2006/relationships/image" Target="/ppt/media/image.jpeg" Id="R81c048f01b9e418f" /><Relationship Type="http://schemas.openxmlformats.org/officeDocument/2006/relationships/notesSlide" Target="/ppt/notesSlides/notesSlide1.xml" Id="R8d5fe4d125f04f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633ec50da4885" /><Relationship Type="http://schemas.openxmlformats.org/officeDocument/2006/relationships/notesSlide" Target="/ppt/notesSlides/notesSlide2.xml" Id="R8cde7120cbf540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f70b4c4204941" /><Relationship Type="http://schemas.openxmlformats.org/officeDocument/2006/relationships/notesSlide" Target="/ppt/notesSlides/notesSlide3.xml" Id="R7e056a413c8247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2cb9073d84e46" /><Relationship Type="http://schemas.openxmlformats.org/officeDocument/2006/relationships/image" Target="/ppt/media/image2.jpeg" Id="Rc28fe671006748ed" /><Relationship Type="http://schemas.openxmlformats.org/officeDocument/2006/relationships/notesSlide" Target="/ppt/notesSlides/notesSlide4.xml" Id="Ra6bff0bd060047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61722aaea46c9" /><Relationship Type="http://schemas.openxmlformats.org/officeDocument/2006/relationships/image" Target="/ppt/media/image3.jpeg" Id="R830f3bf093fa4461" /><Relationship Type="http://schemas.openxmlformats.org/officeDocument/2006/relationships/notesSlide" Target="/ppt/notesSlides/notesSlide5.xml" Id="R2e8421bf6c2449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9b8d718844542" /><Relationship Type="http://schemas.openxmlformats.org/officeDocument/2006/relationships/notesSlide" Target="/ppt/notesSlides/notesSlide6.xml" Id="R29024cf3318445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6f569ad644561" /><Relationship Type="http://schemas.openxmlformats.org/officeDocument/2006/relationships/image" Target="/ppt/media/image.png" Id="Rb8a628d0ddef4212" /><Relationship Type="http://schemas.openxmlformats.org/officeDocument/2006/relationships/notesSlide" Target="/ppt/notesSlides/notesSlide7.xml" Id="Rd0b0d5d0de6547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0d833817a4310" /><Relationship Type="http://schemas.openxmlformats.org/officeDocument/2006/relationships/notesSlide" Target="/ppt/notesSlides/notesSlide8.xml" Id="R8db7755ac5d044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b4b32d5014734" /><Relationship Type="http://schemas.openxmlformats.org/officeDocument/2006/relationships/image" Target="/ppt/media/image4.jpeg" Id="Rcca399ab48954d0a" /><Relationship Type="http://schemas.openxmlformats.org/officeDocument/2006/relationships/notesSlide" Target="/ppt/notesSlides/notesSlide9.xml" Id="R17b712bc6fc448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49fb132624139" /><Relationship Type="http://schemas.openxmlformats.org/officeDocument/2006/relationships/notesSlide" Target="/ppt/notesSlides/notesSlide10.xml" Id="Re0535a1824c748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9ff96ae2146e5" /><Relationship Type="http://schemas.openxmlformats.org/officeDocument/2006/relationships/notesSlide" Target="/ppt/notesSlides/notesSlide11.xml" Id="R43b10ae2238841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db6ab220643cc" /><Relationship Type="http://schemas.openxmlformats.org/officeDocument/2006/relationships/image" Target="/ppt/media/image5.jpeg" Id="R4a58e236750c4d9e" /><Relationship Type="http://schemas.openxmlformats.org/officeDocument/2006/relationships/notesSlide" Target="/ppt/notesSlides/notesSlide12.xml" Id="R561447c915f841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ox-1">
            <a:extLst xmlns:a="http://schemas.openxmlformats.org/drawingml/2006/main">
              <a:ext uri="{FF2B5EF4-FFF2-40B4-BE49-F238E27FC236}">
                <a16:creationId xmlns:a16="http://schemas.microsoft.com/office/drawing/2014/main" id="{FB8F43F1-378E-4F89-9A85-B7847853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7DD95B66-D29D-4375-B8EA-D74FC5EE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42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SMART GOVERNMENT · NIDit · LONELY STONE</a:t>
            </a:r>
          </a:p>
        </p:txBody>
      </p:sp>
      <p:sp>
        <p:nvSpPr>
          <p:cNvPr id="3" name="brand-3">
            <a:extLst xmlns:a="http://schemas.openxmlformats.org/drawingml/2006/main">
              <a:ext uri="{FF2B5EF4-FFF2-40B4-BE49-F238E27FC236}">
                <a16:creationId xmlns:a16="http://schemas.microsoft.com/office/drawing/2014/main" id="{4D5C44DB-8B65-4C6B-9429-99181626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466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CIVICPATH AI</a:t>
            </a:r>
          </a:p>
        </p:txBody>
      </p:sp>
      <p:sp>
        <p:nvSpPr>
          <p:cNvPr id="4" name="cover-title-4">
            <a:extLst xmlns:a="http://schemas.openxmlformats.org/drawingml/2006/main">
              <a:ext uri="{FF2B5EF4-FFF2-40B4-BE49-F238E27FC236}">
                <a16:creationId xmlns:a16="http://schemas.microsoft.com/office/drawing/2014/main" id="{19022F6A-EB57-42A7-9AD0-2C1D15E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5143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AI-guided public
service procedures</a:t>
            </a:r>
          </a:p>
        </p:txBody>
      </p:sp>
      <p:sp>
        <p:nvSpPr>
          <p:cNvPr id="5" name="cover-subtitle-5">
            <a:extLst xmlns:a="http://schemas.openxmlformats.org/drawingml/2006/main">
              <a:ext uri="{FF2B5EF4-FFF2-40B4-BE49-F238E27FC236}">
                <a16:creationId xmlns:a16="http://schemas.microsoft.com/office/drawing/2014/main" id="{FD926BC0-B4C7-4D0D-A71B-91DDD1B7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Guidance citizens trust. Applications officers can process.</a:t>
            </a:r>
          </a:p>
        </p:txBody>
      </p:sp>
      <p:sp>
        <p:nvSpPr>
          <p:cNvPr id="6" name="scope-pill-6">
            <a:extLst xmlns:a="http://schemas.openxmlformats.org/drawingml/2006/main">
              <a:ext uri="{FF2B5EF4-FFF2-40B4-BE49-F238E27FC236}">
                <a16:creationId xmlns:a16="http://schemas.microsoft.com/office/drawing/2014/main" id="{BBAD5C62-1EDF-43F1-BCD6-331F3F05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pe-7">
            <a:extLst xmlns:a="http://schemas.openxmlformats.org/drawingml/2006/main">
              <a:ext uri="{FF2B5EF4-FFF2-40B4-BE49-F238E27FC236}">
                <a16:creationId xmlns:a16="http://schemas.microsoft.com/office/drawing/2014/main" id="{A5164DCA-5FA3-4E3F-8EC7-C9D1CE11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2057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STARTING WITH BIRTH REGISTRATION</a:t>
            </a:r>
          </a:p>
        </p:txBody>
      </p:sp>
      <p:sp>
        <p:nvSpPr>
          <p:cNvPr id="8" name="live-label-8">
            <a:extLst xmlns:a="http://schemas.openxmlformats.org/drawingml/2006/main">
              <a:ext uri="{FF2B5EF4-FFF2-40B4-BE49-F238E27FC236}">
                <a16:creationId xmlns:a16="http://schemas.microsoft.com/office/drawing/2014/main" id="{445EB51C-EE7B-4A7D-8C6E-2F1297B2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Live demo</a:t>
            </a:r>
          </a:p>
        </p:txBody>
      </p:sp>
      <p:sp>
        <p:nvSpPr>
          <p:cNvPr id="9" name="url-9">
            <a:extLst xmlns:a="http://schemas.openxmlformats.org/drawingml/2006/main">
              <a:ext uri="{FF2B5EF4-FFF2-40B4-BE49-F238E27FC236}">
                <a16:creationId xmlns:a16="http://schemas.microsoft.com/office/drawing/2014/main" id="{DB3E416E-E101-4897-A077-4427A5AB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4524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ai-guided-public-service-procedures.vercel.app</a:t>
            </a:r>
          </a:p>
        </p:txBody>
      </p:sp>
      <p:sp>
        <p:nvSpPr>
          <p:cNvPr id="10" name="cover-media-frame-10">
            <a:extLst xmlns:a="http://schemas.openxmlformats.org/drawingml/2006/main">
              <a:ext uri="{FF2B5EF4-FFF2-40B4-BE49-F238E27FC236}">
                <a16:creationId xmlns:a16="http://schemas.microsoft.com/office/drawing/2014/main" id="{06D631BD-7DAC-4B71-86DF-CA2E78F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62075"/>
            <a:ext cx="56197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media-inner-11">
            <a:extLst xmlns:a="http://schemas.openxmlformats.org/drawingml/2006/main">
              <a:ext uri="{FF2B5EF4-FFF2-40B4-BE49-F238E27FC236}">
                <a16:creationId xmlns:a16="http://schemas.microsoft.com/office/drawing/2014/main" id="{4F163031-98AF-41DE-828C-5F508E46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4475"/>
            <a:ext cx="53149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proof-12">
            <a:extLst xmlns:a="http://schemas.openxmlformats.org/drawingml/2006/main">
              <a:ext uri="{FF2B5EF4-FFF2-40B4-BE49-F238E27FC236}">
                <a16:creationId xmlns:a16="http://schemas.microsoft.com/office/drawing/2014/main" id="{B1898623-F5CA-4F04-8A1E-3C780381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501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GUIDED INTAKE · PRE-CHECK · PDF</a:t>
            </a:r>
          </a:p>
        </p:txBody>
      </p:sp>
      <p:sp>
        <p:nvSpPr>
          <p:cNvPr id="13" name="cover-proof-copy-13">
            <a:extLst xmlns:a="http://schemas.openxmlformats.org/drawingml/2006/main">
              <a:ext uri="{FF2B5EF4-FFF2-40B4-BE49-F238E27FC236}">
                <a16:creationId xmlns:a16="http://schemas.microsoft.com/office/drawing/2014/main" id="{20C972E8-5876-4E38-9BF1-12479973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05425"/>
            <a:ext cx="501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Working live demo · captured 19 Jul 2026</a:t>
            </a:r>
          </a:p>
        </p:txBody>
      </p:sp>
      <p:sp>
        <p:nvSpPr>
          <p:cNvPr id="14" name="footer-14">
            <a:extLst xmlns:a="http://schemas.openxmlformats.org/drawingml/2006/main">
              <a:ext uri="{FF2B5EF4-FFF2-40B4-BE49-F238E27FC236}">
                <a16:creationId xmlns:a16="http://schemas.microsoft.com/office/drawing/2014/main" id="{6F019FB2-9CD7-48DC-86D4-803AD638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National Institute for Digital Technologies and Digital Transformation</a:t>
            </a:r>
          </a:p>
        </p:txBody>
      </p:sp>
      <p:sp>
        <p:nvSpPr>
          <p:cNvPr id="15" name="page-15">
            <a:extLst xmlns:a="http://schemas.openxmlformats.org/drawingml/2006/main">
              <a:ext uri="{FF2B5EF4-FFF2-40B4-BE49-F238E27FC236}">
                <a16:creationId xmlns:a16="http://schemas.microsoft.com/office/drawing/2014/main" id="{AC080BAB-9ED8-4BDD-9A37-F5536B30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048f01b9e418f"/>
          <a:stretch xmlns:a="http://schemas.openxmlformats.org/drawingml/2006/main"/>
        </p:blipFill>
        <p:spPr>
          <a:xfrm xmlns:a="http://schemas.openxmlformats.org/drawingml/2006/main">
            <a:off x="6342005" y="1571625"/>
            <a:ext cx="4975341" cy="280035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</p:spTree>
    <p:extLst>
      <p:ext uri="{BB962C8B-B14F-4D97-AF65-F5344CB8AC3E}">
        <p14:creationId xmlns:p14="http://schemas.microsoft.com/office/powerpoint/2010/main" val="1967247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7">
            <a:extLst xmlns:a="http://schemas.openxmlformats.org/drawingml/2006/main">
              <a:ext uri="{FF2B5EF4-FFF2-40B4-BE49-F238E27FC236}">
                <a16:creationId xmlns:a16="http://schemas.microsoft.com/office/drawing/2014/main" id="{C44E3057-1DA9-4396-B4DF-5786194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5AEAF79F-91F6-477E-BE70-4E7F64CC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The failure happens before submission.</a:t>
            </a:r>
          </a:p>
        </p:txBody>
      </p:sp>
      <p:sp>
        <p:nvSpPr>
          <p:cNvPr id="3" name="footer-19">
            <a:extLst xmlns:a="http://schemas.openxmlformats.org/drawingml/2006/main">
              <a:ext uri="{FF2B5EF4-FFF2-40B4-BE49-F238E27FC236}">
                <a16:creationId xmlns:a16="http://schemas.microsoft.com/office/drawing/2014/main" id="{E159E737-E7AC-4906-97BE-F1897B6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20">
            <a:extLst xmlns:a="http://schemas.openxmlformats.org/drawingml/2006/main">
              <a:ext uri="{FF2B5EF4-FFF2-40B4-BE49-F238E27FC236}">
                <a16:creationId xmlns:a16="http://schemas.microsoft.com/office/drawing/2014/main" id="{36DFD61C-4D72-4264-9518-3A6E9085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lede-21">
            <a:extLst xmlns:a="http://schemas.openxmlformats.org/drawingml/2006/main">
              <a:ext uri="{FF2B5EF4-FFF2-40B4-BE49-F238E27FC236}">
                <a16:creationId xmlns:a16="http://schemas.microsoft.com/office/drawing/2014/main" id="{C8505E91-9638-4EDB-8213-B6CB8A33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Citizens enter the process without certainty—and discover mistakes only after an official reviews the file.</a:t>
            </a:r>
          </a:p>
        </p:txBody>
      </p:sp>
      <p:sp>
        <p:nvSpPr>
          <p:cNvPr id="6" name="rule-22">
            <a:extLst xmlns:a="http://schemas.openxmlformats.org/drawingml/2006/main">
              <a:ext uri="{FF2B5EF4-FFF2-40B4-BE49-F238E27FC236}">
                <a16:creationId xmlns:a16="http://schemas.microsoft.com/office/drawing/2014/main" id="{A338B63E-C58D-4B98-BF09-6AC6D403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-23">
            <a:extLst xmlns:a="http://schemas.openxmlformats.org/drawingml/2006/main">
              <a:ext uri="{FF2B5EF4-FFF2-40B4-BE49-F238E27FC236}">
                <a16:creationId xmlns:a16="http://schemas.microsoft.com/office/drawing/2014/main" id="{8AA3096C-380F-4648-839C-5842A1E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62225"/>
            <a:ext cx="95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ule-24">
            <a:extLst xmlns:a="http://schemas.openxmlformats.org/drawingml/2006/main">
              <a:ext uri="{FF2B5EF4-FFF2-40B4-BE49-F238E27FC236}">
                <a16:creationId xmlns:a16="http://schemas.microsoft.com/office/drawing/2014/main" id="{D2929FBF-790E-4CD9-BB60-3935F7C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62225"/>
            <a:ext cx="95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ber-25">
            <a:extLst xmlns:a="http://schemas.openxmlformats.org/drawingml/2006/main">
              <a:ext uri="{FF2B5EF4-FFF2-40B4-BE49-F238E27FC236}">
                <a16:creationId xmlns:a16="http://schemas.microsoft.com/office/drawing/2014/main" id="{10E56556-1CE0-4002-8402-6C40E893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problem-26">
            <a:extLst xmlns:a="http://schemas.openxmlformats.org/drawingml/2006/main">
              <a:ext uri="{FF2B5EF4-FFF2-40B4-BE49-F238E27FC236}">
                <a16:creationId xmlns:a16="http://schemas.microsoft.com/office/drawing/2014/main" id="{0B441007-582A-4947-A8D1-A960F15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285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What do I
prepare?</a:t>
            </a:r>
          </a:p>
        </p:txBody>
      </p:sp>
      <p:sp>
        <p:nvSpPr>
          <p:cNvPr id="11" name="problem-copy-27">
            <a:extLst xmlns:a="http://schemas.openxmlformats.org/drawingml/2006/main">
              <a:ext uri="{FF2B5EF4-FFF2-40B4-BE49-F238E27FC236}">
                <a16:creationId xmlns:a16="http://schemas.microsoft.com/office/drawing/2014/main" id="{2B136A72-01D4-4E8C-A27F-BE7A6742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Documents, forms, office, order of steps—information is fragmented and hard to interpret.</a:t>
            </a:r>
          </a:p>
        </p:txBody>
      </p:sp>
      <p:sp>
        <p:nvSpPr>
          <p:cNvPr id="12" name="number-28">
            <a:extLst xmlns:a="http://schemas.openxmlformats.org/drawingml/2006/main">
              <a:ext uri="{FF2B5EF4-FFF2-40B4-BE49-F238E27FC236}">
                <a16:creationId xmlns:a16="http://schemas.microsoft.com/office/drawing/2014/main" id="{6122A755-C6A9-43E0-A6CC-0D1EEE42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problem-29">
            <a:extLst xmlns:a="http://schemas.openxmlformats.org/drawingml/2006/main">
              <a:ext uri="{FF2B5EF4-FFF2-40B4-BE49-F238E27FC236}">
                <a16:creationId xmlns:a16="http://schemas.microsoft.com/office/drawing/2014/main" id="{1EDD116F-25D0-44EB-B0DF-F1BE348B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52775"/>
            <a:ext cx="28956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Did I fill it
in correctly?</a:t>
            </a:r>
          </a:p>
        </p:txBody>
      </p:sp>
      <p:sp>
        <p:nvSpPr>
          <p:cNvPr id="14" name="problem-copy-30">
            <a:extLst xmlns:a="http://schemas.openxmlformats.org/drawingml/2006/main">
              <a:ext uri="{FF2B5EF4-FFF2-40B4-BE49-F238E27FC236}">
                <a16:creationId xmlns:a16="http://schemas.microsoft.com/office/drawing/2014/main" id="{2CB42B27-707E-4969-89E2-0371E765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Missing fields and conflicts surface late—after time has already been spent submitting or traveling.</a:t>
            </a:r>
          </a:p>
        </p:txBody>
      </p:sp>
      <p:sp>
        <p:nvSpPr>
          <p:cNvPr id="15" name="number-31">
            <a:extLst xmlns:a="http://schemas.openxmlformats.org/drawingml/2006/main">
              <a:ext uri="{FF2B5EF4-FFF2-40B4-BE49-F238E27FC236}">
                <a16:creationId xmlns:a16="http://schemas.microsoft.com/office/drawing/2014/main" id="{2D09C79C-A86C-4016-8C4C-6D1D9553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problem-32">
            <a:extLst xmlns:a="http://schemas.openxmlformats.org/drawingml/2006/main">
              <a:ext uri="{FF2B5EF4-FFF2-40B4-BE49-F238E27FC236}">
                <a16:creationId xmlns:a16="http://schemas.microsoft.com/office/drawing/2014/main" id="{8AE33216-AB9C-47D5-AE3A-BED1787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2933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Who can
answer now?</a:t>
            </a:r>
          </a:p>
        </p:txBody>
      </p:sp>
      <p:sp>
        <p:nvSpPr>
          <p:cNvPr id="17" name="problem-copy-33">
            <a:extLst xmlns:a="http://schemas.openxmlformats.org/drawingml/2006/main">
              <a:ext uri="{FF2B5EF4-FFF2-40B4-BE49-F238E27FC236}">
                <a16:creationId xmlns:a16="http://schemas.microsoft.com/office/drawing/2014/main" id="{E2DA330E-6B27-4C54-8E7E-4F32CF02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Too many repeat questions, too few officers—and citizens make avoidable in-person trips.</a:t>
            </a:r>
          </a:p>
        </p:txBody>
      </p:sp>
    </p:spTree>
    <p:extLst>
      <p:ext uri="{BB962C8B-B14F-4D97-AF65-F5344CB8AC3E}">
        <p14:creationId xmlns:p14="http://schemas.microsoft.com/office/powerpoint/2010/main" val="1488934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35">
            <a:extLst xmlns:a="http://schemas.openxmlformats.org/drawingml/2006/main">
              <a:ext uri="{FF2B5EF4-FFF2-40B4-BE49-F238E27FC236}">
                <a16:creationId xmlns:a16="http://schemas.microsoft.com/office/drawing/2014/main" id="{0FA93F1B-957C-4712-A30A-F882D530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THE SOLUTION</a:t>
            </a:r>
          </a:p>
        </p:txBody>
      </p:sp>
      <p:sp>
        <p:nvSpPr>
          <p:cNvPr id="2" name="title-36">
            <a:extLst xmlns:a="http://schemas.openxmlformats.org/drawingml/2006/main">
              <a:ext uri="{FF2B5EF4-FFF2-40B4-BE49-F238E27FC236}">
                <a16:creationId xmlns:a16="http://schemas.microsoft.com/office/drawing/2014/main" id="{33CF1A70-8EC3-4AEC-8195-285724D2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One guided flow turns uncertainty into action.</a:t>
            </a:r>
          </a:p>
        </p:txBody>
      </p:sp>
      <p:sp>
        <p:nvSpPr>
          <p:cNvPr id="3" name="footer-37">
            <a:extLst xmlns:a="http://schemas.openxmlformats.org/drawingml/2006/main">
              <a:ext uri="{FF2B5EF4-FFF2-40B4-BE49-F238E27FC236}">
                <a16:creationId xmlns:a16="http://schemas.microsoft.com/office/drawing/2014/main" id="{23675ADD-ED81-457C-9ADD-EDB9EDB9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38">
            <a:extLst xmlns:a="http://schemas.openxmlformats.org/drawingml/2006/main">
              <a:ext uri="{FF2B5EF4-FFF2-40B4-BE49-F238E27FC236}">
                <a16:creationId xmlns:a16="http://schemas.microsoft.com/office/drawing/2014/main" id="{8F2AD4E3-F5C7-457E-941B-A790DA1D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lede-39">
            <a:extLst xmlns:a="http://schemas.openxmlformats.org/drawingml/2006/main">
              <a:ext uri="{FF2B5EF4-FFF2-40B4-BE49-F238E27FC236}">
                <a16:creationId xmlns:a16="http://schemas.microsoft.com/office/drawing/2014/main" id="{7F3BC89D-983D-452F-A303-923ED27F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 citizen describes the need once. CivicPath AI clarifies, prepares, and checks—inside the portal they already use.</a:t>
            </a:r>
          </a:p>
        </p:txBody>
      </p:sp>
      <p:sp>
        <p:nvSpPr>
          <p:cNvPr id="6" name="rule-40">
            <a:extLst xmlns:a="http://schemas.openxmlformats.org/drawingml/2006/main">
              <a:ext uri="{FF2B5EF4-FFF2-40B4-BE49-F238E27FC236}">
                <a16:creationId xmlns:a16="http://schemas.microsoft.com/office/drawing/2014/main" id="{35FF9254-AF9C-4ED0-A997-9511A9E4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ode-41">
            <a:extLst xmlns:a="http://schemas.openxmlformats.org/drawingml/2006/main">
              <a:ext uri="{FF2B5EF4-FFF2-40B4-BE49-F238E27FC236}">
                <a16:creationId xmlns:a16="http://schemas.microsoft.com/office/drawing/2014/main" id="{44584194-7A85-41C2-9E8E-E625342A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ode-42">
            <a:extLst xmlns:a="http://schemas.openxmlformats.org/drawingml/2006/main">
              <a:ext uri="{FF2B5EF4-FFF2-40B4-BE49-F238E27FC236}">
                <a16:creationId xmlns:a16="http://schemas.microsoft.com/office/drawing/2014/main" id="{8124DD9E-4D4B-4586-9282-E2074356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ode-43">
            <a:extLst xmlns:a="http://schemas.openxmlformats.org/drawingml/2006/main">
              <a:ext uri="{FF2B5EF4-FFF2-40B4-BE49-F238E27FC236}">
                <a16:creationId xmlns:a16="http://schemas.microsoft.com/office/drawing/2014/main" id="{B7F0F129-EF9F-4176-962B-DB93B4CC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ode-44">
            <a:extLst xmlns:a="http://schemas.openxmlformats.org/drawingml/2006/main">
              <a:ext uri="{FF2B5EF4-FFF2-40B4-BE49-F238E27FC236}">
                <a16:creationId xmlns:a16="http://schemas.microsoft.com/office/drawing/2014/main" id="{8F24DDA2-3F00-4619-8A4C-7FC9F63C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45">
            <a:extLst xmlns:a="http://schemas.openxmlformats.org/drawingml/2006/main">
              <a:ext uri="{FF2B5EF4-FFF2-40B4-BE49-F238E27FC236}">
                <a16:creationId xmlns:a16="http://schemas.microsoft.com/office/drawing/2014/main" id="{FECCA48E-66C8-4CE5-89FE-63C9D421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2" name="step-number-46">
            <a:extLst xmlns:a="http://schemas.openxmlformats.org/drawingml/2006/main">
              <a:ext uri="{FF2B5EF4-FFF2-40B4-BE49-F238E27FC236}">
                <a16:creationId xmlns:a16="http://schemas.microsoft.com/office/drawing/2014/main" id="{215DC34B-B595-47E7-8743-37350349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step-number-47">
            <a:extLst xmlns:a="http://schemas.openxmlformats.org/drawingml/2006/main">
              <a:ext uri="{FF2B5EF4-FFF2-40B4-BE49-F238E27FC236}">
                <a16:creationId xmlns:a16="http://schemas.microsoft.com/office/drawing/2014/main" id="{1FCA82F8-FAF7-4306-A56F-2D8EB69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4" name="step-number-48">
            <a:extLst xmlns:a="http://schemas.openxmlformats.org/drawingml/2006/main">
              <a:ext uri="{FF2B5EF4-FFF2-40B4-BE49-F238E27FC236}">
                <a16:creationId xmlns:a16="http://schemas.microsoft.com/office/drawing/2014/main" id="{7083D65A-D4ED-40E9-8B0D-7CAF04D1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5" name="step-title-49">
            <a:extLst xmlns:a="http://schemas.openxmlformats.org/drawingml/2006/main">
              <a:ext uri="{FF2B5EF4-FFF2-40B4-BE49-F238E27FC236}">
                <a16:creationId xmlns:a16="http://schemas.microsoft.com/office/drawing/2014/main" id="{E247E814-B3E1-48CC-9C5D-CC3C3A52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Speak or type</a:t>
            </a:r>
          </a:p>
        </p:txBody>
      </p:sp>
      <p:sp>
        <p:nvSpPr>
          <p:cNvPr id="16" name="step-copy-50">
            <a:extLst xmlns:a="http://schemas.openxmlformats.org/drawingml/2006/main">
              <a:ext uri="{FF2B5EF4-FFF2-40B4-BE49-F238E27FC236}">
                <a16:creationId xmlns:a16="http://schemas.microsoft.com/office/drawing/2014/main" id="{F3037B35-C667-496D-87F5-E1EED2BB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286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Describe the situation in everyday language.</a:t>
            </a:r>
          </a:p>
        </p:txBody>
      </p:sp>
      <p:sp>
        <p:nvSpPr>
          <p:cNvPr id="17" name="step-title-51">
            <a:extLst xmlns:a="http://schemas.openxmlformats.org/drawingml/2006/main">
              <a:ext uri="{FF2B5EF4-FFF2-40B4-BE49-F238E27FC236}">
                <a16:creationId xmlns:a16="http://schemas.microsoft.com/office/drawing/2014/main" id="{D2223CC6-D965-4F00-896A-2A380238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Clarify</a:t>
            </a:r>
          </a:p>
        </p:txBody>
      </p:sp>
      <p:sp>
        <p:nvSpPr>
          <p:cNvPr id="18" name="step-copy-52">
            <a:extLst xmlns:a="http://schemas.openxmlformats.org/drawingml/2006/main">
              <a:ext uri="{FF2B5EF4-FFF2-40B4-BE49-F238E27FC236}">
                <a16:creationId xmlns:a16="http://schemas.microsoft.com/office/drawing/2014/main" id="{30E2378C-7706-4355-96B1-467707F0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AI asks the next best question and detects applicable cases.</a:t>
            </a:r>
          </a:p>
        </p:txBody>
      </p:sp>
      <p:sp>
        <p:nvSpPr>
          <p:cNvPr id="19" name="step-title-53">
            <a:extLst xmlns:a="http://schemas.openxmlformats.org/drawingml/2006/main">
              <a:ext uri="{FF2B5EF4-FFF2-40B4-BE49-F238E27FC236}">
                <a16:creationId xmlns:a16="http://schemas.microsoft.com/office/drawing/2014/main" id="{3F347480-79DD-49E0-84A4-6916E694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Prepare</a:t>
            </a:r>
          </a:p>
        </p:txBody>
      </p:sp>
      <p:sp>
        <p:nvSpPr>
          <p:cNvPr id="20" name="step-copy-54">
            <a:extLst xmlns:a="http://schemas.openxmlformats.org/drawingml/2006/main">
              <a:ext uri="{FF2B5EF4-FFF2-40B4-BE49-F238E27FC236}">
                <a16:creationId xmlns:a16="http://schemas.microsoft.com/office/drawing/2014/main" id="{406F161D-0B1A-4380-8407-0C504BF6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Receive a case-aware checklist, steps, examples, and legal basis.</a:t>
            </a:r>
          </a:p>
        </p:txBody>
      </p:sp>
      <p:sp>
        <p:nvSpPr>
          <p:cNvPr id="21" name="step-title-55">
            <a:extLst xmlns:a="http://schemas.openxmlformats.org/drawingml/2006/main">
              <a:ext uri="{FF2B5EF4-FFF2-40B4-BE49-F238E27FC236}">
                <a16:creationId xmlns:a16="http://schemas.microsoft.com/office/drawing/2014/main" id="{42AAC1A3-4139-49B7-AE3B-A30BA51E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</p:txBody>
      </p:sp>
      <p:sp>
        <p:nvSpPr>
          <p:cNvPr id="22" name="step-copy-56">
            <a:extLst xmlns:a="http://schemas.openxmlformats.org/drawingml/2006/main">
              <a:ext uri="{FF2B5EF4-FFF2-40B4-BE49-F238E27FC236}">
                <a16:creationId xmlns:a16="http://schemas.microsoft.com/office/drawing/2014/main" id="{BF77981A-4F75-490B-88D4-07B09A03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Catch missing fields and conflicts before submission.</a:t>
            </a:r>
          </a:p>
        </p:txBody>
      </p:sp>
      <p:sp>
        <p:nvSpPr>
          <p:cNvPr id="23" name="takeaway-57">
            <a:extLst xmlns:a="http://schemas.openxmlformats.org/drawingml/2006/main">
              <a:ext uri="{FF2B5EF4-FFF2-40B4-BE49-F238E27FC236}">
                <a16:creationId xmlns:a16="http://schemas.microsoft.com/office/drawing/2014/main" id="{B21B7882-C74D-4CE3-8F71-E9F6E1BF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-copy-58">
            <a:extLst xmlns:a="http://schemas.openxmlformats.org/drawingml/2006/main">
              <a:ext uri="{FF2B5EF4-FFF2-40B4-BE49-F238E27FC236}">
                <a16:creationId xmlns:a16="http://schemas.microsoft.com/office/drawing/2014/main" id="{CDB41B9C-9FBA-4F24-8543-F0465FD9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00700"/>
            <a:ext cx="10525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 new app. No new portal. Embedded where citizens already are.</a:t>
            </a:r>
          </a:p>
        </p:txBody>
      </p:sp>
    </p:spTree>
    <p:extLst>
      <p:ext uri="{BB962C8B-B14F-4D97-AF65-F5344CB8AC3E}">
        <p14:creationId xmlns:p14="http://schemas.microsoft.com/office/powerpoint/2010/main" val="197139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60">
            <a:extLst xmlns:a="http://schemas.openxmlformats.org/drawingml/2006/main">
              <a:ext uri="{FF2B5EF4-FFF2-40B4-BE49-F238E27FC236}">
                <a16:creationId xmlns:a16="http://schemas.microsoft.com/office/drawing/2014/main" id="{B6C3A813-399D-4F23-8771-1A3D3F59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1</a:t>
            </a:r>
          </a:p>
        </p:txBody>
      </p:sp>
      <p:sp>
        <p:nvSpPr>
          <p:cNvPr id="2" name="title-61">
            <a:extLst xmlns:a="http://schemas.openxmlformats.org/drawingml/2006/main">
              <a:ext uri="{FF2B5EF4-FFF2-40B4-BE49-F238E27FC236}">
                <a16:creationId xmlns:a16="http://schemas.microsoft.com/office/drawing/2014/main" id="{83914B4A-A80E-45C4-B3BC-17D33BA8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Guided intake makes the right procedure obvious.</a:t>
            </a:r>
          </a:p>
        </p:txBody>
      </p:sp>
      <p:sp>
        <p:nvSpPr>
          <p:cNvPr id="3" name="footer-62">
            <a:extLst xmlns:a="http://schemas.openxmlformats.org/drawingml/2006/main">
              <a:ext uri="{FF2B5EF4-FFF2-40B4-BE49-F238E27FC236}">
                <a16:creationId xmlns:a16="http://schemas.microsoft.com/office/drawing/2014/main" id="{BBC60720-E083-4924-B83A-D81E9BE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63">
            <a:extLst xmlns:a="http://schemas.openxmlformats.org/drawingml/2006/main">
              <a:ext uri="{FF2B5EF4-FFF2-40B4-BE49-F238E27FC236}">
                <a16:creationId xmlns:a16="http://schemas.microsoft.com/office/drawing/2014/main" id="{36C27F3C-3F14-414A-BE27-E0A0AA40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creenshot-frame-64">
            <a:extLst xmlns:a="http://schemas.openxmlformats.org/drawingml/2006/main">
              <a:ext uri="{FF2B5EF4-FFF2-40B4-BE49-F238E27FC236}">
                <a16:creationId xmlns:a16="http://schemas.microsoft.com/office/drawing/2014/main" id="{EEA3AA0C-BB15-4BA4-A722-1CD795E5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00087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aim-65">
            <a:extLst xmlns:a="http://schemas.openxmlformats.org/drawingml/2006/main">
              <a:ext uri="{FF2B5EF4-FFF2-40B4-BE49-F238E27FC236}">
                <a16:creationId xmlns:a16="http://schemas.microsoft.com/office/drawing/2014/main" id="{DDF561A1-5D8B-4CBC-8CF9-7B82DD84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Plain-language in.
Case-aware guidance out.</a:t>
            </a:r>
          </a:p>
        </p:txBody>
      </p:sp>
      <p:sp>
        <p:nvSpPr>
          <p:cNvPr id="7" name="rule-66">
            <a:extLst xmlns:a="http://schemas.openxmlformats.org/drawingml/2006/main">
              <a:ext uri="{FF2B5EF4-FFF2-40B4-BE49-F238E27FC236}">
                <a16:creationId xmlns:a16="http://schemas.microsoft.com/office/drawing/2014/main" id="{48EA1A9C-F661-4BB1-BF14-C97772ED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eature-label-67">
            <a:extLst xmlns:a="http://schemas.openxmlformats.org/drawingml/2006/main">
              <a:ext uri="{FF2B5EF4-FFF2-40B4-BE49-F238E27FC236}">
                <a16:creationId xmlns:a16="http://schemas.microsoft.com/office/drawing/2014/main" id="{7E412D4A-BCD9-422B-82A5-670C9099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VIETNAMESE VOICE + TEXT</a:t>
            </a:r>
          </a:p>
        </p:txBody>
      </p:sp>
      <p:sp>
        <p:nvSpPr>
          <p:cNvPr id="9" name="feature-copy-68">
            <a:extLst xmlns:a="http://schemas.openxmlformats.org/drawingml/2006/main">
              <a:ext uri="{FF2B5EF4-FFF2-40B4-BE49-F238E27FC236}">
                <a16:creationId xmlns:a16="http://schemas.microsoft.com/office/drawing/2014/main" id="{B6957AF5-FE43-44A8-82FE-A6C2588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3219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Citizens speak naturally, review the transcript, and edit before sending.</a:t>
            </a:r>
          </a:p>
        </p:txBody>
      </p:sp>
      <p:sp>
        <p:nvSpPr>
          <p:cNvPr id="10" name="feature-label-69">
            <a:extLst xmlns:a="http://schemas.openxmlformats.org/drawingml/2006/main">
              <a:ext uri="{FF2B5EF4-FFF2-40B4-BE49-F238E27FC236}">
                <a16:creationId xmlns:a16="http://schemas.microsoft.com/office/drawing/2014/main" id="{24859A7B-1380-483C-9372-6C4A12DA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95775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MULTI-CASE CLASSIFICATION</a:t>
            </a:r>
          </a:p>
        </p:txBody>
      </p:sp>
      <p:sp>
        <p:nvSpPr>
          <p:cNvPr id="11" name="feature-copy-70">
            <a:extLst xmlns:a="http://schemas.openxmlformats.org/drawingml/2006/main">
              <a:ext uri="{FF2B5EF4-FFF2-40B4-BE49-F238E27FC236}">
                <a16:creationId xmlns:a16="http://schemas.microsoft.com/office/drawing/2014/main" id="{F73F66FC-E116-4A75-BB88-3C0C2345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81525"/>
            <a:ext cx="32194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One session can combine out-of-wedlock, overdue, foreign-element, and exceptional cases.</a:t>
            </a:r>
          </a:p>
        </p:txBody>
      </p:sp>
      <p:sp>
        <p:nvSpPr>
          <p:cNvPr id="12" name="evidence-71">
            <a:extLst xmlns:a="http://schemas.openxmlformats.org/drawingml/2006/main">
              <a:ext uri="{FF2B5EF4-FFF2-40B4-BE49-F238E27FC236}">
                <a16:creationId xmlns:a16="http://schemas.microsoft.com/office/drawing/2014/main" id="{28FFF9AC-2E26-494C-B10F-67B61C3B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67375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LIVE DEMO · 19 JUL 2026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fe671006748ed"/>
          <a:stretch xmlns:a="http://schemas.openxmlformats.org/drawingml/2006/main"/>
        </p:blipFill>
        <p:spPr>
          <a:xfrm xmlns:a="http://schemas.openxmlformats.org/drawingml/2006/main">
            <a:off x="651379" y="1809750"/>
            <a:ext cx="6803017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</p:spTree>
    <p:extLst>
      <p:ext uri="{BB962C8B-B14F-4D97-AF65-F5344CB8AC3E}">
        <p14:creationId xmlns:p14="http://schemas.microsoft.com/office/powerpoint/2010/main" val="1523665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73">
            <a:extLst xmlns:a="http://schemas.openxmlformats.org/drawingml/2006/main">
              <a:ext uri="{FF2B5EF4-FFF2-40B4-BE49-F238E27FC236}">
                <a16:creationId xmlns:a16="http://schemas.microsoft.com/office/drawing/2014/main" id="{A239935F-230C-4757-B7F7-0FE5E33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2</a:t>
            </a:r>
          </a:p>
        </p:txBody>
      </p:sp>
      <p:sp>
        <p:nvSpPr>
          <p:cNvPr id="2" name="title-74">
            <a:extLst xmlns:a="http://schemas.openxmlformats.org/drawingml/2006/main">
              <a:ext uri="{FF2B5EF4-FFF2-40B4-BE49-F238E27FC236}">
                <a16:creationId xmlns:a16="http://schemas.microsoft.com/office/drawing/2014/main" id="{9E2FB168-D5D3-4C07-9554-5DB8D387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Pre-check catches what citizens and portals miss.</a:t>
            </a:r>
          </a:p>
        </p:txBody>
      </p:sp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0BA58060-AA2F-4DD0-8470-456FB028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76">
            <a:extLst xmlns:a="http://schemas.openxmlformats.org/drawingml/2006/main">
              <a:ext uri="{FF2B5EF4-FFF2-40B4-BE49-F238E27FC236}">
                <a16:creationId xmlns:a16="http://schemas.microsoft.com/office/drawing/2014/main" id="{3E600979-8489-408C-97A6-5F3D4F69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live-number-77">
            <a:extLst xmlns:a="http://schemas.openxmlformats.org/drawingml/2006/main">
              <a:ext uri="{FF2B5EF4-FFF2-40B4-BE49-F238E27FC236}">
                <a16:creationId xmlns:a16="http://schemas.microsoft.com/office/drawing/2014/main" id="{0BD5F4D6-D7B0-403D-8E35-401D964C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428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6" name="live-label-78">
            <a:extLst xmlns:a="http://schemas.openxmlformats.org/drawingml/2006/main">
              <a:ext uri="{FF2B5EF4-FFF2-40B4-BE49-F238E27FC236}">
                <a16:creationId xmlns:a16="http://schemas.microsoft.com/office/drawing/2014/main" id="{15A98D56-9369-427C-9689-33F5A651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errors caught in the live demo</a:t>
            </a:r>
          </a:p>
        </p:txBody>
      </p:sp>
      <p:sp>
        <p:nvSpPr>
          <p:cNvPr id="7" name="explanation-79">
            <a:extLst xmlns:a="http://schemas.openxmlformats.org/drawingml/2006/main">
              <a:ext uri="{FF2B5EF4-FFF2-40B4-BE49-F238E27FC236}">
                <a16:creationId xmlns:a16="http://schemas.microsoft.com/office/drawing/2014/main" id="{20F1D7E6-BBA3-4E02-9579-31C60DC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1051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Mandatory errors come from deterministic rules. AI only adds clearly separated warnings for uncertain exceptions.</a:t>
            </a:r>
          </a:p>
        </p:txBody>
      </p:sp>
      <p:sp>
        <p:nvSpPr>
          <p:cNvPr id="8" name="rule-80">
            <a:extLst xmlns:a="http://schemas.openxmlformats.org/drawingml/2006/main">
              <a:ext uri="{FF2B5EF4-FFF2-40B4-BE49-F238E27FC236}">
                <a16:creationId xmlns:a16="http://schemas.microsoft.com/office/drawing/2014/main" id="{D536FC5B-33F8-45EF-AAF5-EA980BB7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types-81">
            <a:extLst xmlns:a="http://schemas.openxmlformats.org/drawingml/2006/main">
              <a:ext uri="{FF2B5EF4-FFF2-40B4-BE49-F238E27FC236}">
                <a16:creationId xmlns:a16="http://schemas.microsoft.com/office/drawing/2014/main" id="{71BCF522-74A6-409D-ADEF-A31EA64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3190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REQUIRED · CONDITIONAL · CROSS-FIELD</a:t>
            </a:r>
          </a:p>
        </p:txBody>
      </p:sp>
      <p:sp>
        <p:nvSpPr>
          <p:cNvPr id="10" name="rule-copy-82">
            <a:extLst xmlns:a="http://schemas.openxmlformats.org/drawingml/2006/main">
              <a:ext uri="{FF2B5EF4-FFF2-40B4-BE49-F238E27FC236}">
                <a16:creationId xmlns:a16="http://schemas.microsoft.com/office/drawing/2014/main" id="{BBC2FDD9-A3A5-45C0-82F6-225E334A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304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Each issue includes a suggested fix and traceable legal basis.</a:t>
            </a:r>
          </a:p>
        </p:txBody>
      </p:sp>
      <p:sp>
        <p:nvSpPr>
          <p:cNvPr id="11" name="screenshot-frame-83">
            <a:extLst xmlns:a="http://schemas.openxmlformats.org/drawingml/2006/main">
              <a:ext uri="{FF2B5EF4-FFF2-40B4-BE49-F238E27FC236}">
                <a16:creationId xmlns:a16="http://schemas.microsoft.com/office/drawing/2014/main" id="{A44DBCCA-6D44-498A-B4BC-A6DC9C67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90700"/>
            <a:ext cx="7553325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f3bf093fa4461"/>
          <a:stretch xmlns:a="http://schemas.openxmlformats.org/drawingml/2006/main"/>
        </p:blipFill>
        <p:spPr>
          <a:xfrm xmlns:a="http://schemas.openxmlformats.org/drawingml/2006/main">
            <a:off x="4190612" y="1847850"/>
            <a:ext cx="7344551" cy="4133850"/>
          </a:xfrm>
          <a:prstGeom xmlns:a="http://schemas.openxmlformats.org/drawingml/2006/main" prst="roundRect">
            <a:avLst>
              <a:gd name="adj" fmla="val 2765"/>
            </a:avLst>
          </a:prstGeom>
        </p:spPr>
      </p:pic>
    </p:spTree>
    <p:extLst>
      <p:ext uri="{BB962C8B-B14F-4D97-AF65-F5344CB8AC3E}">
        <p14:creationId xmlns:p14="http://schemas.microsoft.com/office/powerpoint/2010/main" val="617440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85">
            <a:extLst xmlns:a="http://schemas.openxmlformats.org/drawingml/2006/main">
              <a:ext uri="{FF2B5EF4-FFF2-40B4-BE49-F238E27FC236}">
                <a16:creationId xmlns:a16="http://schemas.microsoft.com/office/drawing/2014/main" id="{82856EEC-901B-4A8F-88EB-491090F5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ACCURACY + SAFETY</a:t>
            </a:r>
          </a:p>
        </p:txBody>
      </p:sp>
      <p:sp>
        <p:nvSpPr>
          <p:cNvPr id="2" name="title-86">
            <a:extLst xmlns:a="http://schemas.openxmlformats.org/drawingml/2006/main">
              <a:ext uri="{FF2B5EF4-FFF2-40B4-BE49-F238E27FC236}">
                <a16:creationId xmlns:a16="http://schemas.microsoft.com/office/drawing/2014/main" id="{C87ED7A2-6C1C-4B31-A3F6-4B691851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Trust is engineered into the decision path.</a:t>
            </a:r>
          </a:p>
        </p:txBody>
      </p:sp>
      <p:sp>
        <p:nvSpPr>
          <p:cNvPr id="3" name="footer-87">
            <a:extLst xmlns:a="http://schemas.openxmlformats.org/drawingml/2006/main">
              <a:ext uri="{FF2B5EF4-FFF2-40B4-BE49-F238E27FC236}">
                <a16:creationId xmlns:a16="http://schemas.microsoft.com/office/drawing/2014/main" id="{C2176526-EF00-4147-88F4-297D4BC5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88">
            <a:extLst xmlns:a="http://schemas.openxmlformats.org/drawingml/2006/main">
              <a:ext uri="{FF2B5EF4-FFF2-40B4-BE49-F238E27FC236}">
                <a16:creationId xmlns:a16="http://schemas.microsoft.com/office/drawing/2014/main" id="{5A33623A-DD11-43B8-8364-65699548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lede-89">
            <a:extLst xmlns:a="http://schemas.openxmlformats.org/drawingml/2006/main">
              <a:ext uri="{FF2B5EF4-FFF2-40B4-BE49-F238E27FC236}">
                <a16:creationId xmlns:a16="http://schemas.microsoft.com/office/drawing/2014/main" id="{6AFF4D9D-B333-48A1-BE57-8988072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AI interprets. Rules validate. Officers decide exceptions.</a:t>
            </a:r>
          </a:p>
        </p:txBody>
      </p:sp>
      <p:sp>
        <p:nvSpPr>
          <p:cNvPr id="6" name="rule-90">
            <a:extLst xmlns:a="http://schemas.openxmlformats.org/drawingml/2006/main">
              <a:ext uri="{FF2B5EF4-FFF2-40B4-BE49-F238E27FC236}">
                <a16:creationId xmlns:a16="http://schemas.microsoft.com/office/drawing/2014/main" id="{A9BEC3F0-543E-4B49-93DC-D79E6FCD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52800"/>
            <a:ext cx="741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ust-panel-91">
            <a:extLst xmlns:a="http://schemas.openxmlformats.org/drawingml/2006/main">
              <a:ext uri="{FF2B5EF4-FFF2-40B4-BE49-F238E27FC236}">
                <a16:creationId xmlns:a16="http://schemas.microsoft.com/office/drawing/2014/main" id="{584E9626-AF4F-4707-9869-17AC3355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ust-panel-92">
            <a:extLst xmlns:a="http://schemas.openxmlformats.org/drawingml/2006/main">
              <a:ext uri="{FF2B5EF4-FFF2-40B4-BE49-F238E27FC236}">
                <a16:creationId xmlns:a16="http://schemas.microsoft.com/office/drawing/2014/main" id="{2EE3AA53-4DEC-44B7-B696-83191E5B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9" name="trust-panel-93">
            <a:extLst xmlns:a="http://schemas.openxmlformats.org/drawingml/2006/main">
              <a:ext uri="{FF2B5EF4-FFF2-40B4-BE49-F238E27FC236}">
                <a16:creationId xmlns:a16="http://schemas.microsoft.com/office/drawing/2014/main" id="{0BD4EC13-8FF9-4521-A6F9-4FBB27D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10" name="arrow-node-94">
            <a:extLst xmlns:a="http://schemas.openxmlformats.org/drawingml/2006/main">
              <a:ext uri="{FF2B5EF4-FFF2-40B4-BE49-F238E27FC236}">
                <a16:creationId xmlns:a16="http://schemas.microsoft.com/office/drawing/2014/main" id="{611FDD63-E757-4675-B60F-87CD7B8C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row-node-95">
            <a:extLst xmlns:a="http://schemas.openxmlformats.org/drawingml/2006/main">
              <a:ext uri="{FF2B5EF4-FFF2-40B4-BE49-F238E27FC236}">
                <a16:creationId xmlns:a16="http://schemas.microsoft.com/office/drawing/2014/main" id="{3B8C56AB-BBB5-485A-86CD-6A0D2BA3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row-96">
            <a:extLst xmlns:a="http://schemas.openxmlformats.org/drawingml/2006/main">
              <a:ext uri="{FF2B5EF4-FFF2-40B4-BE49-F238E27FC236}">
                <a16:creationId xmlns:a16="http://schemas.microsoft.com/office/drawing/2014/main" id="{FF55CB06-44E1-4ACA-ABEE-4763A63F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3" name="arrow-97">
            <a:extLst xmlns:a="http://schemas.openxmlformats.org/drawingml/2006/main">
              <a:ext uri="{FF2B5EF4-FFF2-40B4-BE49-F238E27FC236}">
                <a16:creationId xmlns:a16="http://schemas.microsoft.com/office/drawing/2014/main" id="{27D36C55-08E1-4691-970C-296C2200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19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layer-label-98">
            <a:extLst xmlns:a="http://schemas.openxmlformats.org/drawingml/2006/main">
              <a:ext uri="{FF2B5EF4-FFF2-40B4-BE49-F238E27FC236}">
                <a16:creationId xmlns:a16="http://schemas.microsoft.com/office/drawing/2014/main" id="{20C8947A-9B54-4B92-B2C7-646679F9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01 · AI LAYER</a:t>
            </a:r>
          </a:p>
        </p:txBody>
      </p:sp>
      <p:sp>
        <p:nvSpPr>
          <p:cNvPr id="15" name="layer-title-99">
            <a:extLst xmlns:a="http://schemas.openxmlformats.org/drawingml/2006/main">
              <a:ext uri="{FF2B5EF4-FFF2-40B4-BE49-F238E27FC236}">
                <a16:creationId xmlns:a16="http://schemas.microsoft.com/office/drawing/2014/main" id="{B0C2D599-356F-4811-AA67-21C3A21E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Understand
the situation</a:t>
            </a:r>
          </a:p>
        </p:txBody>
      </p:sp>
      <p:sp>
        <p:nvSpPr>
          <p:cNvPr id="16" name="layer-copy-100">
            <a:extLst xmlns:a="http://schemas.openxmlformats.org/drawingml/2006/main">
              <a:ext uri="{FF2B5EF4-FFF2-40B4-BE49-F238E27FC236}">
                <a16:creationId xmlns:a16="http://schemas.microsoft.com/office/drawing/2014/main" id="{5E783CD7-1790-4245-8A11-726EECAE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Extract facts, classify cases, and explain the next step in plain Vietnamese.</a:t>
            </a:r>
          </a:p>
        </p:txBody>
      </p:sp>
      <p:sp>
        <p:nvSpPr>
          <p:cNvPr id="17" name="layer-label-101">
            <a:extLst xmlns:a="http://schemas.openxmlformats.org/drawingml/2006/main">
              <a:ext uri="{FF2B5EF4-FFF2-40B4-BE49-F238E27FC236}">
                <a16:creationId xmlns:a16="http://schemas.microsoft.com/office/drawing/2014/main" id="{4C65043D-9BAD-4588-ADF0-582B0864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02 · RULE LAYER</a:t>
            </a:r>
          </a:p>
        </p:txBody>
      </p:sp>
      <p:sp>
        <p:nvSpPr>
          <p:cNvPr id="18" name="layer-title-102">
            <a:extLst xmlns:a="http://schemas.openxmlformats.org/drawingml/2006/main">
              <a:ext uri="{FF2B5EF4-FFF2-40B4-BE49-F238E27FC236}">
                <a16:creationId xmlns:a16="http://schemas.microsoft.com/office/drawing/2014/main" id="{D9907669-88B7-4801-A7E8-23F9BE1F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Validate
what matters</a:t>
            </a:r>
          </a:p>
        </p:txBody>
      </p:sp>
      <p:sp>
        <p:nvSpPr>
          <p:cNvPr id="19" name="layer-copy-103">
            <a:extLst xmlns:a="http://schemas.openxmlformats.org/drawingml/2006/main">
              <a:ext uri="{FF2B5EF4-FFF2-40B4-BE49-F238E27FC236}">
                <a16:creationId xmlns:a16="http://schemas.microsoft.com/office/drawing/2014/main" id="{B84C832D-7F1B-4A0C-AC01-7C6414C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Versioned checklists, validation rules, documents, and legal references live in the backend.</a:t>
            </a:r>
          </a:p>
        </p:txBody>
      </p:sp>
      <p:sp>
        <p:nvSpPr>
          <p:cNvPr id="20" name="layer-label-104">
            <a:extLst xmlns:a="http://schemas.openxmlformats.org/drawingml/2006/main">
              <a:ext uri="{FF2B5EF4-FFF2-40B4-BE49-F238E27FC236}">
                <a16:creationId xmlns:a16="http://schemas.microsoft.com/office/drawing/2014/main" id="{4853C3AA-A484-40A7-9277-CD8534A5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03 · HUMAN LAYER</a:t>
            </a:r>
          </a:p>
        </p:txBody>
      </p:sp>
      <p:sp>
        <p:nvSpPr>
          <p:cNvPr id="21" name="layer-title-105">
            <a:extLst xmlns:a="http://schemas.openxmlformats.org/drawingml/2006/main">
              <a:ext uri="{FF2B5EF4-FFF2-40B4-BE49-F238E27FC236}">
                <a16:creationId xmlns:a16="http://schemas.microsoft.com/office/drawing/2014/main" id="{2E27D266-7536-4745-9916-0693BC2F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Handle
exceptions</a:t>
            </a:r>
          </a:p>
        </p:txBody>
      </p:sp>
      <p:sp>
        <p:nvSpPr>
          <p:cNvPr id="22" name="layer-copy-106">
            <a:extLst xmlns:a="http://schemas.openxmlformats.org/drawingml/2006/main">
              <a:ext uri="{FF2B5EF4-FFF2-40B4-BE49-F238E27FC236}">
                <a16:creationId xmlns:a16="http://schemas.microsoft.com/office/drawing/2014/main" id="{C4AB2C30-8062-4A44-8A8A-FCD87663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Rare, conflicting, or uncertain cases are escalated for civil-status officer confirmation.</a:t>
            </a:r>
          </a:p>
        </p:txBody>
      </p:sp>
      <p:sp>
        <p:nvSpPr>
          <p:cNvPr id="23" name="source-band-107">
            <a:extLst xmlns:a="http://schemas.openxmlformats.org/drawingml/2006/main">
              <a:ext uri="{FF2B5EF4-FFF2-40B4-BE49-F238E27FC236}">
                <a16:creationId xmlns:a16="http://schemas.microsoft.com/office/drawing/2014/main" id="{A633B8A8-EBEC-455F-B531-DF7FA706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copy-108">
            <a:extLst xmlns:a="http://schemas.openxmlformats.org/drawingml/2006/main">
              <a:ext uri="{FF2B5EF4-FFF2-40B4-BE49-F238E27FC236}">
                <a16:creationId xmlns:a16="http://schemas.microsoft.com/office/drawing/2014/main" id="{C1AD0525-3293-441F-9781-66DE7D9D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48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06 official National Public Service Portal links are exposed by the live /trust endpoint for direct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635188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10">
            <a:extLst xmlns:a="http://schemas.openxmlformats.org/drawingml/2006/main">
              <a:ext uri="{FF2B5EF4-FFF2-40B4-BE49-F238E27FC236}">
                <a16:creationId xmlns:a16="http://schemas.microsoft.com/office/drawing/2014/main" id="{D9CBF507-BF25-4E46-A44B-375B1B2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SYSTEM DESIGN</a:t>
            </a:r>
          </a:p>
        </p:txBody>
      </p:sp>
      <p:sp>
        <p:nvSpPr>
          <p:cNvPr id="2" name="title-111">
            <a:extLst xmlns:a="http://schemas.openxmlformats.org/drawingml/2006/main">
              <a:ext uri="{FF2B5EF4-FFF2-40B4-BE49-F238E27FC236}">
                <a16:creationId xmlns:a16="http://schemas.microsoft.com/office/drawing/2014/main" id="{397890AE-3ADF-48FE-A4EA-8530CC8E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 production-shaped architecture, not a mockup.</a:t>
            </a:r>
          </a:p>
        </p:txBody>
      </p:sp>
      <p:sp>
        <p:nvSpPr>
          <p:cNvPr id="3" name="footer-112">
            <a:extLst xmlns:a="http://schemas.openxmlformats.org/drawingml/2006/main">
              <a:ext uri="{FF2B5EF4-FFF2-40B4-BE49-F238E27FC236}">
                <a16:creationId xmlns:a16="http://schemas.microsoft.com/office/drawing/2014/main" id="{CCF606E3-D02C-4D4E-A0BA-BD4D4B19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13">
            <a:extLst xmlns:a="http://schemas.openxmlformats.org/drawingml/2006/main">
              <a:ext uri="{FF2B5EF4-FFF2-40B4-BE49-F238E27FC236}">
                <a16:creationId xmlns:a16="http://schemas.microsoft.com/office/drawing/2014/main" id="{60E24CE0-9FA2-49AF-8565-01A86F2B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architecture-frame-114">
            <a:extLst xmlns:a="http://schemas.openxmlformats.org/drawingml/2006/main">
              <a:ext uri="{FF2B5EF4-FFF2-40B4-BE49-F238E27FC236}">
                <a16:creationId xmlns:a16="http://schemas.microsoft.com/office/drawing/2014/main" id="{6E138B47-A43B-4ABA-844F-A3FBFF3F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2390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6" name="stack-label-115">
            <a:extLst xmlns:a="http://schemas.openxmlformats.org/drawingml/2006/main">
              <a:ext uri="{FF2B5EF4-FFF2-40B4-BE49-F238E27FC236}">
                <a16:creationId xmlns:a16="http://schemas.microsoft.com/office/drawing/2014/main" id="{3AE179D7-49A4-42F6-9857-012FB259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CITIZEN + OFFICER UX</a:t>
            </a:r>
          </a:p>
        </p:txBody>
      </p:sp>
      <p:sp>
        <p:nvSpPr>
          <p:cNvPr id="7" name="stack-value-116">
            <a:extLst xmlns:a="http://schemas.openxmlformats.org/drawingml/2006/main">
              <a:ext uri="{FF2B5EF4-FFF2-40B4-BE49-F238E27FC236}">
                <a16:creationId xmlns:a16="http://schemas.microsoft.com/office/drawing/2014/main" id="{48E31FD1-B7DF-4277-A9A4-92054D86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Next.js 16 · Tailwind CSS 4</a:t>
            </a:r>
          </a:p>
        </p:txBody>
      </p:sp>
      <p:sp>
        <p:nvSpPr>
          <p:cNvPr id="8" name="rule-117">
            <a:extLst xmlns:a="http://schemas.openxmlformats.org/drawingml/2006/main">
              <a:ext uri="{FF2B5EF4-FFF2-40B4-BE49-F238E27FC236}">
                <a16:creationId xmlns:a16="http://schemas.microsoft.com/office/drawing/2014/main" id="{A938612C-CCCE-47C9-BB06-A1A02066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ck-label-118">
            <a:extLst xmlns:a="http://schemas.openxmlformats.org/drawingml/2006/main">
              <a:ext uri="{FF2B5EF4-FFF2-40B4-BE49-F238E27FC236}">
                <a16:creationId xmlns:a16="http://schemas.microsoft.com/office/drawing/2014/main" id="{0C91F1DA-BEA3-43B8-B48D-BBA00E7F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TRUSTED SERVICE LAYER</a:t>
            </a:r>
          </a:p>
        </p:txBody>
      </p:sp>
      <p:sp>
        <p:nvSpPr>
          <p:cNvPr id="10" name="stack-value-119">
            <a:extLst xmlns:a="http://schemas.openxmlformats.org/drawingml/2006/main">
              <a:ext uri="{FF2B5EF4-FFF2-40B4-BE49-F238E27FC236}">
                <a16:creationId xmlns:a16="http://schemas.microsoft.com/office/drawing/2014/main" id="{F166D001-0548-4069-827F-E4932A45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FastAPI · SQLAlchemy · rule engine · PDF</a:t>
            </a:r>
          </a:p>
        </p:txBody>
      </p:sp>
      <p:sp>
        <p:nvSpPr>
          <p:cNvPr id="11" name="rule-120">
            <a:extLst xmlns:a="http://schemas.openxmlformats.org/drawingml/2006/main">
              <a:ext uri="{FF2B5EF4-FFF2-40B4-BE49-F238E27FC236}">
                <a16:creationId xmlns:a16="http://schemas.microsoft.com/office/drawing/2014/main" id="{905F2D45-7A6C-46BF-AEC7-FEC034D3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9975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ck-label-121">
            <a:extLst xmlns:a="http://schemas.openxmlformats.org/drawingml/2006/main">
              <a:ext uri="{FF2B5EF4-FFF2-40B4-BE49-F238E27FC236}">
                <a16:creationId xmlns:a16="http://schemas.microsoft.com/office/drawing/2014/main" id="{E965A5F0-D956-4CBC-A52A-07B7549A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EVIDENCE + AI</a:t>
            </a:r>
          </a:p>
        </p:txBody>
      </p:sp>
      <p:sp>
        <p:nvSpPr>
          <p:cNvPr id="13" name="stack-value-122">
            <a:extLst xmlns:a="http://schemas.openxmlformats.org/drawingml/2006/main">
              <a:ext uri="{FF2B5EF4-FFF2-40B4-BE49-F238E27FC236}">
                <a16:creationId xmlns:a16="http://schemas.microsoft.com/office/drawing/2014/main" id="{97D4F704-68B3-4984-B48F-353F0786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24325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Neon Postgres · official sources · OpenAI API</a:t>
            </a:r>
          </a:p>
        </p:txBody>
      </p:sp>
      <p:sp>
        <p:nvSpPr>
          <p:cNvPr id="14" name="models-123">
            <a:extLst xmlns:a="http://schemas.openxmlformats.org/drawingml/2006/main">
              <a:ext uri="{FF2B5EF4-FFF2-40B4-BE49-F238E27FC236}">
                <a16:creationId xmlns:a16="http://schemas.microsoft.com/office/drawing/2014/main" id="{FBD908FC-773B-4A36-BC3E-007E733A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3219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dels-label-124">
            <a:extLst xmlns:a="http://schemas.openxmlformats.org/drawingml/2006/main">
              <a:ext uri="{FF2B5EF4-FFF2-40B4-BE49-F238E27FC236}">
                <a16:creationId xmlns:a16="http://schemas.microsoft.com/office/drawing/2014/main" id="{CE75618A-6428-46BF-8149-238AC2B2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95850"/>
            <a:ext cx="2762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MODELS</a:t>
            </a:r>
          </a:p>
        </p:txBody>
      </p:sp>
      <p:sp>
        <p:nvSpPr>
          <p:cNvPr id="16" name="models-copy-125">
            <a:extLst xmlns:a="http://schemas.openxmlformats.org/drawingml/2006/main">
              <a:ext uri="{FF2B5EF4-FFF2-40B4-BE49-F238E27FC236}">
                <a16:creationId xmlns:a16="http://schemas.microsoft.com/office/drawing/2014/main" id="{DC884C3D-070E-477F-BA36-697AF4CC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62550"/>
            <a:ext cx="2762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gpt-4.1-mini · classification + conversation
gpt-4o-transcribe · Vietnamese speech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628d0ddef4212"/>
          <a:stretch xmlns:a="http://schemas.openxmlformats.org/drawingml/2006/main"/>
        </p:blipFill>
        <p:spPr>
          <a:xfrm xmlns:a="http://schemas.openxmlformats.org/drawingml/2006/main">
            <a:off x="727968" y="1657350"/>
            <a:ext cx="6887963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</p:spTree>
    <p:extLst>
      <p:ext uri="{BB962C8B-B14F-4D97-AF65-F5344CB8AC3E}">
        <p14:creationId xmlns:p14="http://schemas.microsoft.com/office/powerpoint/2010/main" val="1500494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127">
            <a:extLst xmlns:a="http://schemas.openxmlformats.org/drawingml/2006/main">
              <a:ext uri="{FF2B5EF4-FFF2-40B4-BE49-F238E27FC236}">
                <a16:creationId xmlns:a16="http://schemas.microsoft.com/office/drawing/2014/main" id="{4ECB5288-00D8-4E39-B95A-073688BB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3</a:t>
            </a:r>
          </a:p>
        </p:txBody>
      </p:sp>
      <p:sp>
        <p:nvSpPr>
          <p:cNvPr id="2" name="title-128">
            <a:extLst xmlns:a="http://schemas.openxmlformats.org/drawingml/2006/main">
              <a:ext uri="{FF2B5EF4-FFF2-40B4-BE49-F238E27FC236}">
                <a16:creationId xmlns:a16="http://schemas.microsoft.com/office/drawing/2014/main" id="{A27DC2F8-5730-4774-AC38-EFCA3FAE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Built for current portals—not another app.</a:t>
            </a:r>
          </a:p>
        </p:txBody>
      </p:sp>
      <p:sp>
        <p:nvSpPr>
          <p:cNvPr id="3" name="footer-129">
            <a:extLst xmlns:a="http://schemas.openxmlformats.org/drawingml/2006/main">
              <a:ext uri="{FF2B5EF4-FFF2-40B4-BE49-F238E27FC236}">
                <a16:creationId xmlns:a16="http://schemas.microsoft.com/office/drawing/2014/main" id="{C09C1DBF-7E1D-42A5-83CA-B4E27BED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30">
            <a:extLst xmlns:a="http://schemas.openxmlformats.org/drawingml/2006/main">
              <a:ext uri="{FF2B5EF4-FFF2-40B4-BE49-F238E27FC236}">
                <a16:creationId xmlns:a16="http://schemas.microsoft.com/office/drawing/2014/main" id="{34CD6B96-5849-4B6C-91DF-3476C479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lede-131">
            <a:extLst xmlns:a="http://schemas.openxmlformats.org/drawingml/2006/main">
              <a:ext uri="{FF2B5EF4-FFF2-40B4-BE49-F238E27FC236}">
                <a16:creationId xmlns:a16="http://schemas.microsoft.com/office/drawing/2014/main" id="{F5DDDE69-3B8E-4BE3-807D-23B8F6E4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Embed the same trusted workflow through an API, widget, or chatbot while keeping data and AI keys server-side.</a:t>
            </a:r>
          </a:p>
        </p:txBody>
      </p:sp>
      <p:sp>
        <p:nvSpPr>
          <p:cNvPr id="6" name="integration-claim-132">
            <a:extLst xmlns:a="http://schemas.openxmlformats.org/drawingml/2006/main">
              <a:ext uri="{FF2B5EF4-FFF2-40B4-BE49-F238E27FC236}">
                <a16:creationId xmlns:a16="http://schemas.microsoft.com/office/drawing/2014/main" id="{8BB89F42-FABE-40F0-A1FF-EF78BC4C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3714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Drop-in
integration</a:t>
            </a:r>
          </a:p>
        </p:txBody>
      </p:sp>
      <p:sp>
        <p:nvSpPr>
          <p:cNvPr id="7" name="mode-133">
            <a:extLst xmlns:a="http://schemas.openxmlformats.org/drawingml/2006/main">
              <a:ext uri="{FF2B5EF4-FFF2-40B4-BE49-F238E27FC236}">
                <a16:creationId xmlns:a16="http://schemas.microsoft.com/office/drawing/2014/main" id="{2FF24CE7-627C-4087-8A8D-284F5D5F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1028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API</a:t>
            </a:r>
          </a:p>
        </p:txBody>
      </p:sp>
      <p:sp>
        <p:nvSpPr>
          <p:cNvPr id="8" name="mode-134">
            <a:extLst xmlns:a="http://schemas.openxmlformats.org/drawingml/2006/main">
              <a:ext uri="{FF2B5EF4-FFF2-40B4-BE49-F238E27FC236}">
                <a16:creationId xmlns:a16="http://schemas.microsoft.com/office/drawing/2014/main" id="{4A3F053C-6848-4A88-A60F-6755E196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2076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Portal widget</a:t>
            </a:r>
          </a:p>
        </p:txBody>
      </p:sp>
      <p:sp>
        <p:nvSpPr>
          <p:cNvPr id="9" name="mode-135">
            <a:extLst xmlns:a="http://schemas.openxmlformats.org/drawingml/2006/main">
              <a:ext uri="{FF2B5EF4-FFF2-40B4-BE49-F238E27FC236}">
                <a16:creationId xmlns:a16="http://schemas.microsoft.com/office/drawing/2014/main" id="{80ECED4D-A58D-4E14-89B1-492236CB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Chatbot</a:t>
            </a:r>
          </a:p>
        </p:txBody>
      </p:sp>
      <p:sp>
        <p:nvSpPr>
          <p:cNvPr id="10" name="integration-note-136">
            <a:extLst xmlns:a="http://schemas.openxmlformats.org/drawingml/2006/main">
              <a:ext uri="{FF2B5EF4-FFF2-40B4-BE49-F238E27FC236}">
                <a16:creationId xmlns:a16="http://schemas.microsoft.com/office/drawing/2014/main" id="{E7AD96FE-37B4-4847-82CD-7B35B30C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One backend contract. Multiple citizen touchpoints.</a:t>
            </a:r>
          </a:p>
        </p:txBody>
      </p:sp>
      <p:sp>
        <p:nvSpPr>
          <p:cNvPr id="11" name="api-panel-137">
            <a:extLst xmlns:a="http://schemas.openxmlformats.org/drawingml/2006/main">
              <a:ext uri="{FF2B5EF4-FFF2-40B4-BE49-F238E27FC236}">
                <a16:creationId xmlns:a16="http://schemas.microsoft.com/office/drawing/2014/main" id="{24D45BD2-EF8F-489E-9F29-A10D9E8D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05025"/>
            <a:ext cx="6772275" cy="3971925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i-label-138">
            <a:extLst xmlns:a="http://schemas.openxmlformats.org/drawingml/2006/main">
              <a:ext uri="{FF2B5EF4-FFF2-40B4-BE49-F238E27FC236}">
                <a16:creationId xmlns:a16="http://schemas.microsoft.com/office/drawing/2014/main" id="{BA275250-33D5-4C82-ACBF-419EAEBB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9825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CORE API</a:t>
            </a:r>
          </a:p>
        </p:txBody>
      </p:sp>
      <p:sp>
        <p:nvSpPr>
          <p:cNvPr id="13" name="rule-139">
            <a:extLst xmlns:a="http://schemas.openxmlformats.org/drawingml/2006/main">
              <a:ext uri="{FF2B5EF4-FFF2-40B4-BE49-F238E27FC236}">
                <a16:creationId xmlns:a16="http://schemas.microsoft.com/office/drawing/2014/main" id="{4FB1B0E8-8E13-4BF3-AD3D-3CB86368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62250"/>
            <a:ext cx="6067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erb-140">
            <a:extLst xmlns:a="http://schemas.openxmlformats.org/drawingml/2006/main">
              <a:ext uri="{FF2B5EF4-FFF2-40B4-BE49-F238E27FC236}">
                <a16:creationId xmlns:a16="http://schemas.microsoft.com/office/drawing/2014/main" id="{9263601B-BB04-4562-A4AB-E7ECAAFB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15" name="endpoint-141">
            <a:extLst xmlns:a="http://schemas.openxmlformats.org/drawingml/2006/main">
              <a:ext uri="{FF2B5EF4-FFF2-40B4-BE49-F238E27FC236}">
                <a16:creationId xmlns:a16="http://schemas.microsoft.com/office/drawing/2014/main" id="{CFA6B7B8-08E8-4CC4-A79C-8C266FED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/sessions</a:t>
            </a:r>
          </a:p>
        </p:txBody>
      </p:sp>
      <p:sp>
        <p:nvSpPr>
          <p:cNvPr id="16" name="verb-142">
            <a:extLst xmlns:a="http://schemas.openxmlformats.org/drawingml/2006/main">
              <a:ext uri="{FF2B5EF4-FFF2-40B4-BE49-F238E27FC236}">
                <a16:creationId xmlns:a16="http://schemas.microsoft.com/office/drawing/2014/main" id="{C6F89C2A-CDA0-4E40-A47D-0E98FD3C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9567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17" name="endpoint-143">
            <a:extLst xmlns:a="http://schemas.openxmlformats.org/drawingml/2006/main">
              <a:ext uri="{FF2B5EF4-FFF2-40B4-BE49-F238E27FC236}">
                <a16:creationId xmlns:a16="http://schemas.microsoft.com/office/drawing/2014/main" id="{79617BEF-7F74-46F9-936B-9DD816A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9567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/intake/message</a:t>
            </a:r>
          </a:p>
        </p:txBody>
      </p:sp>
      <p:sp>
        <p:nvSpPr>
          <p:cNvPr id="18" name="verb-144">
            <a:extLst xmlns:a="http://schemas.openxmlformats.org/drawingml/2006/main">
              <a:ext uri="{FF2B5EF4-FFF2-40B4-BE49-F238E27FC236}">
                <a16:creationId xmlns:a16="http://schemas.microsoft.com/office/drawing/2014/main" id="{FB487B33-92F3-40DA-954F-881B9D4F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19" name="endpoint-145">
            <a:extLst xmlns:a="http://schemas.openxmlformats.org/drawingml/2006/main">
              <a:ext uri="{FF2B5EF4-FFF2-40B4-BE49-F238E27FC236}">
                <a16:creationId xmlns:a16="http://schemas.microsoft.com/office/drawing/2014/main" id="{33EB9C17-E45F-4D96-AA87-5D74CF0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624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/checklist/{session_id}</a:t>
            </a:r>
          </a:p>
        </p:txBody>
      </p:sp>
      <p:sp>
        <p:nvSpPr>
          <p:cNvPr id="20" name="verb-146">
            <a:extLst xmlns:a="http://schemas.openxmlformats.org/drawingml/2006/main">
              <a:ext uri="{FF2B5EF4-FFF2-40B4-BE49-F238E27FC236}">
                <a16:creationId xmlns:a16="http://schemas.microsoft.com/office/drawing/2014/main" id="{7EA0FB71-99FA-4A12-9349-E0958912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2912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21" name="endpoint-147">
            <a:extLst xmlns:a="http://schemas.openxmlformats.org/drawingml/2006/main">
              <a:ext uri="{FF2B5EF4-FFF2-40B4-BE49-F238E27FC236}">
                <a16:creationId xmlns:a16="http://schemas.microsoft.com/office/drawing/2014/main" id="{176C7945-F2F4-405B-9A09-05EBBD7C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2912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/precheck</a:t>
            </a:r>
          </a:p>
        </p:txBody>
      </p:sp>
      <p:sp>
        <p:nvSpPr>
          <p:cNvPr id="22" name="verb-148">
            <a:extLst xmlns:a="http://schemas.openxmlformats.org/drawingml/2006/main">
              <a:ext uri="{FF2B5EF4-FFF2-40B4-BE49-F238E27FC236}">
                <a16:creationId xmlns:a16="http://schemas.microsoft.com/office/drawing/2014/main" id="{8D4568CD-166E-4C8C-9328-FA3D979B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958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23" name="endpoint-149">
            <a:extLst xmlns:a="http://schemas.openxmlformats.org/drawingml/2006/main">
              <a:ext uri="{FF2B5EF4-FFF2-40B4-BE49-F238E27FC236}">
                <a16:creationId xmlns:a16="http://schemas.microsoft.com/office/drawing/2014/main" id="{FA771232-6966-4A8A-8F25-ED25A846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958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/sessions/{id}/birth-registration.pdf</a:t>
            </a:r>
          </a:p>
        </p:txBody>
      </p:sp>
      <p:sp>
        <p:nvSpPr>
          <p:cNvPr id="24" name="verb-150">
            <a:extLst xmlns:a="http://schemas.openxmlformats.org/drawingml/2006/main">
              <a:ext uri="{FF2B5EF4-FFF2-40B4-BE49-F238E27FC236}">
                <a16:creationId xmlns:a16="http://schemas.microsoft.com/office/drawing/2014/main" id="{0B2BF55B-3BC8-4D32-8167-F352DA0D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6257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25" name="endpoint-151">
            <a:extLst xmlns:a="http://schemas.openxmlformats.org/drawingml/2006/main">
              <a:ext uri="{FF2B5EF4-FFF2-40B4-BE49-F238E27FC236}">
                <a16:creationId xmlns:a16="http://schemas.microsoft.com/office/drawing/2014/main" id="{80B94FF3-61B0-4847-A8F7-5B15704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6257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/trust</a:t>
            </a:r>
          </a:p>
        </p:txBody>
      </p:sp>
    </p:spTree>
    <p:extLst>
      <p:ext uri="{BB962C8B-B14F-4D97-AF65-F5344CB8AC3E}">
        <p14:creationId xmlns:p14="http://schemas.microsoft.com/office/powerpoint/2010/main" val="1593539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of-header-153">
            <a:extLst xmlns:a="http://schemas.openxmlformats.org/drawingml/2006/main">
              <a:ext uri="{FF2B5EF4-FFF2-40B4-BE49-F238E27FC236}">
                <a16:creationId xmlns:a16="http://schemas.microsoft.com/office/drawing/2014/main" id="{F609E222-E512-43F1-B958-835494BB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oof-title-154">
            <a:extLst xmlns:a="http://schemas.openxmlformats.org/drawingml/2006/main">
              <a:ext uri="{FF2B5EF4-FFF2-40B4-BE49-F238E27FC236}">
                <a16:creationId xmlns:a16="http://schemas.microsoft.com/office/drawing/2014/main" id="{68BFA38B-1A5F-4219-A9CC-958593F7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857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LIVE PRODUCT · FULL-SIZE PDF PREVIEW</a:t>
            </a:r>
          </a:p>
        </p:txBody>
      </p:sp>
      <p:sp>
        <p:nvSpPr>
          <p:cNvPr id="3" name="page-155">
            <a:extLst xmlns:a="http://schemas.openxmlformats.org/drawingml/2006/main">
              <a:ext uri="{FF2B5EF4-FFF2-40B4-BE49-F238E27FC236}">
                <a16:creationId xmlns:a16="http://schemas.microsoft.com/office/drawing/2014/main" id="{7987BC15-133A-4254-A436-23AE5E93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714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399ab48954d0a"/>
          <a:stretch xmlns:a="http://schemas.openxmlformats.org/drawingml/2006/main"/>
        </p:blipFill>
        <p:spPr>
          <a:xfrm xmlns:a="http://schemas.openxmlformats.org/drawingml/2006/main">
            <a:off x="765278" y="666750"/>
            <a:ext cx="10661445" cy="600075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</p:spTree>
    <p:extLst>
      <p:ext uri="{BB962C8B-B14F-4D97-AF65-F5344CB8AC3E}">
        <p14:creationId xmlns:p14="http://schemas.microsoft.com/office/powerpoint/2010/main" val="1099932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157">
            <a:extLst xmlns:a="http://schemas.openxmlformats.org/drawingml/2006/main">
              <a:ext uri="{FF2B5EF4-FFF2-40B4-BE49-F238E27FC236}">
                <a16:creationId xmlns:a16="http://schemas.microsoft.com/office/drawing/2014/main" id="{6EAB9240-E5F2-4A54-B9F8-4E06860C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PILOT ROADMAP</a:t>
            </a:r>
          </a:p>
        </p:txBody>
      </p:sp>
      <p:sp>
        <p:nvSpPr>
          <p:cNvPr id="2" name="title-158">
            <a:extLst xmlns:a="http://schemas.openxmlformats.org/drawingml/2006/main">
              <a:ext uri="{FF2B5EF4-FFF2-40B4-BE49-F238E27FC236}">
                <a16:creationId xmlns:a16="http://schemas.microsoft.com/office/drawing/2014/main" id="{8B2BC292-5326-410C-89C1-F124F250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 90-day pilot can prove value safely.</a:t>
            </a:r>
          </a:p>
        </p:txBody>
      </p:sp>
      <p:sp>
        <p:nvSpPr>
          <p:cNvPr id="3" name="footer-159">
            <a:extLst xmlns:a="http://schemas.openxmlformats.org/drawingml/2006/main">
              <a:ext uri="{FF2B5EF4-FFF2-40B4-BE49-F238E27FC236}">
                <a16:creationId xmlns:a16="http://schemas.microsoft.com/office/drawing/2014/main" id="{9BD85E00-8741-45AA-931A-033C70AF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60">
            <a:extLst xmlns:a="http://schemas.openxmlformats.org/drawingml/2006/main">
              <a:ext uri="{FF2B5EF4-FFF2-40B4-BE49-F238E27FC236}">
                <a16:creationId xmlns:a16="http://schemas.microsoft.com/office/drawing/2014/main" id="{C3F77649-942A-45D2-B4D9-F5E48FAC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lede-161">
            <a:extLst xmlns:a="http://schemas.openxmlformats.org/drawingml/2006/main">
              <a:ext uri="{FF2B5EF4-FFF2-40B4-BE49-F238E27FC236}">
                <a16:creationId xmlns:a16="http://schemas.microsoft.com/office/drawing/2014/main" id="{C5539FD9-AD4E-48CA-B6D6-59E9C6C5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Start narrow with birth registration, measure rigorously, and scale only after the evidence is strong.</a:t>
            </a:r>
          </a:p>
        </p:txBody>
      </p:sp>
      <p:sp>
        <p:nvSpPr>
          <p:cNvPr id="6" name="rule-162">
            <a:extLst xmlns:a="http://schemas.openxmlformats.org/drawingml/2006/main">
              <a:ext uri="{FF2B5EF4-FFF2-40B4-BE49-F238E27FC236}">
                <a16:creationId xmlns:a16="http://schemas.microsoft.com/office/drawing/2014/main" id="{50D41686-B506-4795-8E7E-29078CEA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ilestone-163">
            <a:extLst xmlns:a="http://schemas.openxmlformats.org/drawingml/2006/main">
              <a:ext uri="{FF2B5EF4-FFF2-40B4-BE49-F238E27FC236}">
                <a16:creationId xmlns:a16="http://schemas.microsoft.com/office/drawing/2014/main" id="{2E1EB691-E6B8-4114-AD6E-20E3B6A5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lestone-164">
            <a:extLst xmlns:a="http://schemas.openxmlformats.org/drawingml/2006/main">
              <a:ext uri="{FF2B5EF4-FFF2-40B4-BE49-F238E27FC236}">
                <a16:creationId xmlns:a16="http://schemas.microsoft.com/office/drawing/2014/main" id="{6B5F5628-C841-4795-A304-59D80C76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ilestone-165">
            <a:extLst xmlns:a="http://schemas.openxmlformats.org/drawingml/2006/main">
              <a:ext uri="{FF2B5EF4-FFF2-40B4-BE49-F238E27FC236}">
                <a16:creationId xmlns:a16="http://schemas.microsoft.com/office/drawing/2014/main" id="{11C4278B-EC9A-4EB5-AC11-195DF9CF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lestone-number-166">
            <a:extLst xmlns:a="http://schemas.openxmlformats.org/drawingml/2006/main">
              <a:ext uri="{FF2B5EF4-FFF2-40B4-BE49-F238E27FC236}">
                <a16:creationId xmlns:a16="http://schemas.microsoft.com/office/drawing/2014/main" id="{AD84780E-9931-4E59-97AD-AB0B4C7E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1" name="milestone-number-167">
            <a:extLst xmlns:a="http://schemas.openxmlformats.org/drawingml/2006/main">
              <a:ext uri="{FF2B5EF4-FFF2-40B4-BE49-F238E27FC236}">
                <a16:creationId xmlns:a16="http://schemas.microsoft.com/office/drawing/2014/main" id="{2E02E0AD-44D9-4DEE-A7AC-CB622A59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milestone-number-168">
            <a:extLst xmlns:a="http://schemas.openxmlformats.org/drawingml/2006/main">
              <a:ext uri="{FF2B5EF4-FFF2-40B4-BE49-F238E27FC236}">
                <a16:creationId xmlns:a16="http://schemas.microsoft.com/office/drawing/2014/main" id="{4AAC352C-8E87-4AD6-A4B1-0001E852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phase-label-169">
            <a:extLst xmlns:a="http://schemas.openxmlformats.org/drawingml/2006/main">
              <a:ext uri="{FF2B5EF4-FFF2-40B4-BE49-F238E27FC236}">
                <a16:creationId xmlns:a16="http://schemas.microsoft.com/office/drawing/2014/main" id="{F96F0D48-807E-49D3-B51C-EB2F4F87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0–2</a:t>
            </a:r>
          </a:p>
        </p:txBody>
      </p:sp>
      <p:sp>
        <p:nvSpPr>
          <p:cNvPr id="14" name="phase-title-170">
            <a:extLst xmlns:a="http://schemas.openxmlformats.org/drawingml/2006/main">
              <a:ext uri="{FF2B5EF4-FFF2-40B4-BE49-F238E27FC236}">
                <a16:creationId xmlns:a16="http://schemas.microsoft.com/office/drawing/2014/main" id="{C6FF438F-6E86-42AC-B14B-640EF614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Align</a:t>
            </a:r>
          </a:p>
        </p:txBody>
      </p:sp>
      <p:sp>
        <p:nvSpPr>
          <p:cNvPr id="15" name="phase-copy-171">
            <a:extLst xmlns:a="http://schemas.openxmlformats.org/drawingml/2006/main">
              <a:ext uri="{FF2B5EF4-FFF2-40B4-BE49-F238E27FC236}">
                <a16:creationId xmlns:a16="http://schemas.microsoft.com/office/drawing/2014/main" id="{55064A78-8E20-4C4B-8AE0-D404CAE4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Confirm local rules, source ownership, audit process, and pilot baseline.</a:t>
            </a:r>
          </a:p>
        </p:txBody>
      </p:sp>
      <p:sp>
        <p:nvSpPr>
          <p:cNvPr id="16" name="phase-label-172">
            <a:extLst xmlns:a="http://schemas.openxmlformats.org/drawingml/2006/main">
              <a:ext uri="{FF2B5EF4-FFF2-40B4-BE49-F238E27FC236}">
                <a16:creationId xmlns:a16="http://schemas.microsoft.com/office/drawing/2014/main" id="{F18B0263-32DA-4201-870A-6126F8F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3–6</a:t>
            </a:r>
          </a:p>
        </p:txBody>
      </p:sp>
      <p:sp>
        <p:nvSpPr>
          <p:cNvPr id="17" name="phase-title-173">
            <a:extLst xmlns:a="http://schemas.openxmlformats.org/drawingml/2006/main">
              <a:ext uri="{FF2B5EF4-FFF2-40B4-BE49-F238E27FC236}">
                <a16:creationId xmlns:a16="http://schemas.microsoft.com/office/drawing/2014/main" id="{7C05ECE3-81D4-4712-A213-EAE217AB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Integrate</a:t>
            </a:r>
          </a:p>
        </p:txBody>
      </p:sp>
      <p:sp>
        <p:nvSpPr>
          <p:cNvPr id="18" name="phase-copy-174">
            <a:extLst xmlns:a="http://schemas.openxmlformats.org/drawingml/2006/main">
              <a:ext uri="{FF2B5EF4-FFF2-40B4-BE49-F238E27FC236}">
                <a16:creationId xmlns:a16="http://schemas.microsoft.com/office/drawing/2014/main" id="{3F415AE8-8F7B-44E9-B92C-B3E865E5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Embed in one portal, onboard two pilot offices, and validate end-to-end operations.</a:t>
            </a:r>
          </a:p>
        </p:txBody>
      </p:sp>
      <p:sp>
        <p:nvSpPr>
          <p:cNvPr id="19" name="phase-label-175">
            <a:extLst xmlns:a="http://schemas.openxmlformats.org/drawingml/2006/main">
              <a:ext uri="{FF2B5EF4-FFF2-40B4-BE49-F238E27FC236}">
                <a16:creationId xmlns:a16="http://schemas.microsoft.com/office/drawing/2014/main" id="{C18D91D7-49FC-4774-B19C-F95C3FDC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7–12</a:t>
            </a:r>
          </a:p>
        </p:txBody>
      </p:sp>
      <p:sp>
        <p:nvSpPr>
          <p:cNvPr id="20" name="phase-title-176">
            <a:extLst xmlns:a="http://schemas.openxmlformats.org/drawingml/2006/main">
              <a:ext uri="{FF2B5EF4-FFF2-40B4-BE49-F238E27FC236}">
                <a16:creationId xmlns:a16="http://schemas.microsoft.com/office/drawing/2014/main" id="{47113357-67B6-4474-B18E-3876872A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21" name="phase-copy-177">
            <a:extLst xmlns:a="http://schemas.openxmlformats.org/drawingml/2006/main">
              <a:ext uri="{FF2B5EF4-FFF2-40B4-BE49-F238E27FC236}">
                <a16:creationId xmlns:a16="http://schemas.microsoft.com/office/drawing/2014/main" id="{693A30AC-EEE3-43B9-864D-8059001C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Audit accuracy, citizen completion, preventable corrections, and officer workload.</a:t>
            </a:r>
          </a:p>
        </p:txBody>
      </p:sp>
      <p:sp>
        <p:nvSpPr>
          <p:cNvPr id="22" name="partners-178">
            <a:extLst xmlns:a="http://schemas.openxmlformats.org/drawingml/2006/main">
              <a:ext uri="{FF2B5EF4-FFF2-40B4-BE49-F238E27FC236}">
                <a16:creationId xmlns:a16="http://schemas.microsoft.com/office/drawing/2014/main" id="{C174F249-8C55-48D6-9B4C-E00AB185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1087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tners-label-179">
            <a:extLst xmlns:a="http://schemas.openxmlformats.org/drawingml/2006/main">
              <a:ext uri="{FF2B5EF4-FFF2-40B4-BE49-F238E27FC236}">
                <a16:creationId xmlns:a16="http://schemas.microsoft.com/office/drawing/2014/main" id="{55419074-1D5B-4314-BB32-6A1CA2E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PILOT PARTNERS</a:t>
            </a:r>
          </a:p>
        </p:txBody>
      </p:sp>
      <p:sp>
        <p:nvSpPr>
          <p:cNvPr id="24" name="partners-copy-180">
            <a:extLst xmlns:a="http://schemas.openxmlformats.org/drawingml/2006/main">
              <a:ext uri="{FF2B5EF4-FFF2-40B4-BE49-F238E27FC236}">
                <a16:creationId xmlns:a16="http://schemas.microsoft.com/office/drawing/2014/main" id="{018A618F-D6C0-481D-9CE9-DFC747CB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1 portal owner   ·   2 pilot offices   ·   NIDit regulatory liaison</a:t>
            </a:r>
          </a:p>
        </p:txBody>
      </p:sp>
    </p:spTree>
    <p:extLst>
      <p:ext uri="{BB962C8B-B14F-4D97-AF65-F5344CB8AC3E}">
        <p14:creationId xmlns:p14="http://schemas.microsoft.com/office/powerpoint/2010/main" val="17430489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82">
            <a:extLst xmlns:a="http://schemas.openxmlformats.org/drawingml/2006/main">
              <a:ext uri="{FF2B5EF4-FFF2-40B4-BE49-F238E27FC236}">
                <a16:creationId xmlns:a16="http://schemas.microsoft.com/office/drawing/2014/main" id="{963457BD-4F33-43CF-BDC5-C6060C4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PROPOSED DECISION GATES</a:t>
            </a:r>
          </a:p>
        </p:txBody>
      </p:sp>
      <p:sp>
        <p:nvSpPr>
          <p:cNvPr id="2" name="title-183">
            <a:extLst xmlns:a="http://schemas.openxmlformats.org/drawingml/2006/main">
              <a:ext uri="{FF2B5EF4-FFF2-40B4-BE49-F238E27FC236}">
                <a16:creationId xmlns:a16="http://schemas.microsoft.com/office/drawing/2014/main" id="{1412872B-71F3-4C18-BAC6-083B9847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Pilot success is measurable.</a:t>
            </a:r>
          </a:p>
        </p:txBody>
      </p:sp>
      <p:sp>
        <p:nvSpPr>
          <p:cNvPr id="3" name="footer-184">
            <a:extLst xmlns:a="http://schemas.openxmlformats.org/drawingml/2006/main">
              <a:ext uri="{FF2B5EF4-FFF2-40B4-BE49-F238E27FC236}">
                <a16:creationId xmlns:a16="http://schemas.microsoft.com/office/drawing/2014/main" id="{E961564B-788C-409A-B7B7-C2712EBE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85">
            <a:extLst xmlns:a="http://schemas.openxmlformats.org/drawingml/2006/main">
              <a:ext uri="{FF2B5EF4-FFF2-40B4-BE49-F238E27FC236}">
                <a16:creationId xmlns:a16="http://schemas.microsoft.com/office/drawing/2014/main" id="{0C542B84-9BEA-4ED7-B7EC-4CF162BD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target-note-186">
            <a:extLst xmlns:a="http://schemas.openxmlformats.org/drawingml/2006/main">
              <a:ext uri="{FF2B5EF4-FFF2-40B4-BE49-F238E27FC236}">
                <a16:creationId xmlns:a16="http://schemas.microsoft.com/office/drawing/2014/main" id="{30DE0584-40E5-4E83-911C-8334FB9D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These are targets for the 90-day pilot—not claimed production results.</a:t>
            </a:r>
          </a:p>
        </p:txBody>
      </p:sp>
      <p:sp>
        <p:nvSpPr>
          <p:cNvPr id="6" name="target-187">
            <a:extLst xmlns:a="http://schemas.openxmlformats.org/drawingml/2006/main">
              <a:ext uri="{FF2B5EF4-FFF2-40B4-BE49-F238E27FC236}">
                <a16:creationId xmlns:a16="http://schemas.microsoft.com/office/drawing/2014/main" id="{15C3E922-6639-4E60-AF93-7F78CD62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rget-188">
            <a:extLst xmlns:a="http://schemas.openxmlformats.org/drawingml/2006/main">
              <a:ext uri="{FF2B5EF4-FFF2-40B4-BE49-F238E27FC236}">
                <a16:creationId xmlns:a16="http://schemas.microsoft.com/office/drawing/2014/main" id="{F0D1D59C-0319-4293-A2AA-727DAC4B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8" name="target-189">
            <a:extLst xmlns:a="http://schemas.openxmlformats.org/drawingml/2006/main">
              <a:ext uri="{FF2B5EF4-FFF2-40B4-BE49-F238E27FC236}">
                <a16:creationId xmlns:a16="http://schemas.microsoft.com/office/drawing/2014/main" id="{B17B0C8F-15BC-4450-9CF3-58E29F7F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9" name="target-190">
            <a:extLst xmlns:a="http://schemas.openxmlformats.org/drawingml/2006/main">
              <a:ext uri="{FF2B5EF4-FFF2-40B4-BE49-F238E27FC236}">
                <a16:creationId xmlns:a16="http://schemas.microsoft.com/office/drawing/2014/main" id="{D1494A46-9583-4BD4-B4D7-D3E52F27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191">
            <a:extLst xmlns:a="http://schemas.openxmlformats.org/drawingml/2006/main">
              <a:ext uri="{FF2B5EF4-FFF2-40B4-BE49-F238E27FC236}">
                <a16:creationId xmlns:a16="http://schemas.microsoft.com/office/drawing/2014/main" id="{857EE514-2A30-4D57-A517-062EB34B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≥95%</a:t>
            </a:r>
          </a:p>
        </p:txBody>
      </p:sp>
      <p:sp>
        <p:nvSpPr>
          <p:cNvPr id="11" name="metric-label-192">
            <a:extLst xmlns:a="http://schemas.openxmlformats.org/drawingml/2006/main">
              <a:ext uri="{FF2B5EF4-FFF2-40B4-BE49-F238E27FC236}">
                <a16:creationId xmlns:a16="http://schemas.microsoft.com/office/drawing/2014/main" id="{390CC5ED-ED69-472F-A8C2-57311EA7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Checklist alignment</a:t>
            </a:r>
          </a:p>
        </p:txBody>
      </p:sp>
      <p:sp>
        <p:nvSpPr>
          <p:cNvPr id="12" name="metric-copy-193">
            <a:extLst xmlns:a="http://schemas.openxmlformats.org/drawingml/2006/main">
              <a:ext uri="{FF2B5EF4-FFF2-40B4-BE49-F238E27FC236}">
                <a16:creationId xmlns:a16="http://schemas.microsoft.com/office/drawing/2014/main" id="{62F0E2A9-80AC-4776-8569-26544360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with current regulation in monthly expert audits</a:t>
            </a:r>
          </a:p>
        </p:txBody>
      </p:sp>
      <p:sp>
        <p:nvSpPr>
          <p:cNvPr id="13" name="metric-194">
            <a:extLst xmlns:a="http://schemas.openxmlformats.org/drawingml/2006/main">
              <a:ext uri="{FF2B5EF4-FFF2-40B4-BE49-F238E27FC236}">
                <a16:creationId xmlns:a16="http://schemas.microsoft.com/office/drawing/2014/main" id="{A2306FCB-15B3-4B85-9790-6BE7D84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≥30%</a:t>
            </a:r>
          </a:p>
        </p:txBody>
      </p:sp>
      <p:sp>
        <p:nvSpPr>
          <p:cNvPr id="14" name="metric-label-195">
            <a:extLst xmlns:a="http://schemas.openxmlformats.org/drawingml/2006/main">
              <a:ext uri="{FF2B5EF4-FFF2-40B4-BE49-F238E27FC236}">
                <a16:creationId xmlns:a16="http://schemas.microsoft.com/office/drawing/2014/main" id="{51E24260-41BD-42CC-9312-E76349D7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Fewer preventable
corrections</a:t>
            </a:r>
          </a:p>
        </p:txBody>
      </p:sp>
      <p:sp>
        <p:nvSpPr>
          <p:cNvPr id="15" name="metric-copy-196">
            <a:extLst xmlns:a="http://schemas.openxmlformats.org/drawingml/2006/main">
              <a:ext uri="{FF2B5EF4-FFF2-40B4-BE49-F238E27FC236}">
                <a16:creationId xmlns:a16="http://schemas.microsoft.com/office/drawing/2014/main" id="{A01B62BE-7AB2-47A5-A17B-9B2D49C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versus the pilot baseline</a:t>
            </a:r>
          </a:p>
        </p:txBody>
      </p:sp>
      <p:sp>
        <p:nvSpPr>
          <p:cNvPr id="16" name="metric-197">
            <a:extLst xmlns:a="http://schemas.openxmlformats.org/drawingml/2006/main">
              <a:ext uri="{FF2B5EF4-FFF2-40B4-BE49-F238E27FC236}">
                <a16:creationId xmlns:a16="http://schemas.microsoft.com/office/drawing/2014/main" id="{20408C61-2F0B-4553-8A67-E6110D40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≥25%</a:t>
            </a:r>
          </a:p>
        </p:txBody>
      </p:sp>
      <p:sp>
        <p:nvSpPr>
          <p:cNvPr id="17" name="metric-label-198">
            <a:extLst xmlns:a="http://schemas.openxmlformats.org/drawingml/2006/main">
              <a:ext uri="{FF2B5EF4-FFF2-40B4-BE49-F238E27FC236}">
                <a16:creationId xmlns:a16="http://schemas.microsoft.com/office/drawing/2014/main" id="{7F891067-5DD8-4C8C-9C13-45DE8511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Fewer routine
clarification contacts</a:t>
            </a:r>
          </a:p>
        </p:txBody>
      </p:sp>
      <p:sp>
        <p:nvSpPr>
          <p:cNvPr id="18" name="metric-copy-199">
            <a:extLst xmlns:a="http://schemas.openxmlformats.org/drawingml/2006/main">
              <a:ext uri="{FF2B5EF4-FFF2-40B4-BE49-F238E27FC236}">
                <a16:creationId xmlns:a16="http://schemas.microsoft.com/office/drawing/2014/main" id="{3F398B1D-7A43-4AC5-9E31-3560CE21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for questions covered by the guide</a:t>
            </a:r>
          </a:p>
        </p:txBody>
      </p:sp>
      <p:sp>
        <p:nvSpPr>
          <p:cNvPr id="19" name="metric-200">
            <a:extLst xmlns:a="http://schemas.openxmlformats.org/drawingml/2006/main">
              <a:ext uri="{FF2B5EF4-FFF2-40B4-BE49-F238E27FC236}">
                <a16:creationId xmlns:a16="http://schemas.microsoft.com/office/drawing/2014/main" id="{F569EDBF-FAE9-42A2-ABE0-FA5DD2F8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≥80%</a:t>
            </a:r>
          </a:p>
        </p:txBody>
      </p:sp>
      <p:sp>
        <p:nvSpPr>
          <p:cNvPr id="20" name="metric-label-201">
            <a:extLst xmlns:a="http://schemas.openxmlformats.org/drawingml/2006/main">
              <a:ext uri="{FF2B5EF4-FFF2-40B4-BE49-F238E27FC236}">
                <a16:creationId xmlns:a16="http://schemas.microsoft.com/office/drawing/2014/main" id="{149583B8-F016-44BF-B43F-2C264EAC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Guided-flow
completion</a:t>
            </a:r>
          </a:p>
        </p:txBody>
      </p:sp>
      <p:sp>
        <p:nvSpPr>
          <p:cNvPr id="21" name="metric-copy-202">
            <a:extLst xmlns:a="http://schemas.openxmlformats.org/drawingml/2006/main">
              <a:ext uri="{FF2B5EF4-FFF2-40B4-BE49-F238E27FC236}">
                <a16:creationId xmlns:a16="http://schemas.microsoft.com/office/drawing/2014/main" id="{EB7520C2-FAAF-463A-944C-1C3F8B7E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across mobile and desktop citizens</a:t>
            </a:r>
          </a:p>
        </p:txBody>
      </p:sp>
      <p:sp>
        <p:nvSpPr>
          <p:cNvPr id="22" name="decision-rule-203">
            <a:extLst xmlns:a="http://schemas.openxmlformats.org/drawingml/2006/main">
              <a:ext uri="{FF2B5EF4-FFF2-40B4-BE49-F238E27FC236}">
                <a16:creationId xmlns:a16="http://schemas.microsoft.com/office/drawing/2014/main" id="{0B17A258-E6AA-4631-B6A4-78AA10EF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Scale only when accuracy and safety gates pass.</a:t>
            </a:r>
          </a:p>
        </p:txBody>
      </p:sp>
    </p:spTree>
    <p:extLst>
      <p:ext uri="{BB962C8B-B14F-4D97-AF65-F5344CB8AC3E}">
        <p14:creationId xmlns:p14="http://schemas.microsoft.com/office/powerpoint/2010/main" val="8279606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3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ox-205">
            <a:extLst xmlns:a="http://schemas.openxmlformats.org/drawingml/2006/main">
              <a:ext uri="{FF2B5EF4-FFF2-40B4-BE49-F238E27FC236}">
                <a16:creationId xmlns:a16="http://schemas.microsoft.com/office/drawing/2014/main" id="{F0B81B6B-D491-4F76-8F44-640EE89F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-206">
            <a:extLst xmlns:a="http://schemas.openxmlformats.org/drawingml/2006/main">
              <a:ext uri="{FF2B5EF4-FFF2-40B4-BE49-F238E27FC236}">
                <a16:creationId xmlns:a16="http://schemas.microsoft.com/office/drawing/2014/main" id="{10B7D59D-4FF8-44D8-A669-06C9CEF3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207">
            <a:extLst xmlns:a="http://schemas.openxmlformats.org/drawingml/2006/main">
              <a:ext uri="{FF2B5EF4-FFF2-40B4-BE49-F238E27FC236}">
                <a16:creationId xmlns:a16="http://schemas.microsoft.com/office/drawing/2014/main" id="{4B18F447-C80B-42FD-AB0D-879573C7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THE DECISION</a:t>
            </a:r>
          </a:p>
        </p:txBody>
      </p:sp>
      <p:sp>
        <p:nvSpPr>
          <p:cNvPr id="4" name="closing-title-208">
            <a:extLst xmlns:a="http://schemas.openxmlformats.org/drawingml/2006/main">
              <a:ext uri="{FF2B5EF4-FFF2-40B4-BE49-F238E27FC236}">
                <a16:creationId xmlns:a16="http://schemas.microsoft.com/office/drawing/2014/main" id="{B664F3CE-A14F-4BD3-B0F7-2FD1EBB6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19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Let every citizen
arrive ready.</a:t>
            </a:r>
          </a:p>
        </p:txBody>
      </p:sp>
      <p:sp>
        <p:nvSpPr>
          <p:cNvPr id="5" name="closing-lede-209">
            <a:extLst xmlns:a="http://schemas.openxmlformats.org/drawingml/2006/main">
              <a:ext uri="{FF2B5EF4-FFF2-40B4-BE49-F238E27FC236}">
                <a16:creationId xmlns:a16="http://schemas.microsoft.com/office/drawing/2014/main" id="{D7F7AE0F-F403-4421-9E81-93116DDC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6191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Launch a 90-day birth-registration pilot and prove that accurate guidance can be both safer for government and simpler for citizens.</a:t>
            </a:r>
          </a:p>
        </p:txBody>
      </p:sp>
      <p:sp>
        <p:nvSpPr>
          <p:cNvPr id="6" name="rule-210">
            <a:extLst xmlns:a="http://schemas.openxmlformats.org/drawingml/2006/main">
              <a:ext uri="{FF2B5EF4-FFF2-40B4-BE49-F238E27FC236}">
                <a16:creationId xmlns:a16="http://schemas.microsoft.com/office/drawing/2014/main" id="{804DEF18-3D07-4AE2-A184-816AD3AF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601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sk-number-211">
            <a:extLst xmlns:a="http://schemas.openxmlformats.org/drawingml/2006/main">
              <a:ext uri="{FF2B5EF4-FFF2-40B4-BE49-F238E27FC236}">
                <a16:creationId xmlns:a16="http://schemas.microsoft.com/office/drawing/2014/main" id="{8A7E3501-4EF0-478C-8651-3233DA61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ask-212">
            <a:extLst xmlns:a="http://schemas.openxmlformats.org/drawingml/2006/main">
              <a:ext uri="{FF2B5EF4-FFF2-40B4-BE49-F238E27FC236}">
                <a16:creationId xmlns:a16="http://schemas.microsoft.com/office/drawing/2014/main" id="{A89F4821-28F1-4D0F-B6FA-3105FBA5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2238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Approve the pilot</a:t>
            </a:r>
          </a:p>
        </p:txBody>
      </p:sp>
      <p:sp>
        <p:nvSpPr>
          <p:cNvPr id="9" name="ask-number-213">
            <a:extLst xmlns:a="http://schemas.openxmlformats.org/drawingml/2006/main">
              <a:ext uri="{FF2B5EF4-FFF2-40B4-BE49-F238E27FC236}">
                <a16:creationId xmlns:a16="http://schemas.microsoft.com/office/drawing/2014/main" id="{3FBEC2A2-0059-4E58-B105-E2C9C4A2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ask-214">
            <a:extLst xmlns:a="http://schemas.openxmlformats.org/drawingml/2006/main">
              <a:ext uri="{FF2B5EF4-FFF2-40B4-BE49-F238E27FC236}">
                <a16:creationId xmlns:a16="http://schemas.microsoft.com/office/drawing/2014/main" id="{01089A7A-F380-4781-A63D-D59ADBC5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Appoint a regulatory liaison</a:t>
            </a:r>
          </a:p>
        </p:txBody>
      </p:sp>
      <p:sp>
        <p:nvSpPr>
          <p:cNvPr id="11" name="ask-number-215">
            <a:extLst xmlns:a="http://schemas.openxmlformats.org/drawingml/2006/main">
              <a:ext uri="{FF2B5EF4-FFF2-40B4-BE49-F238E27FC236}">
                <a16:creationId xmlns:a16="http://schemas.microsoft.com/office/drawing/2014/main" id="{9364F1E4-D15C-43D8-BCFA-C03894B1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ask-216">
            <a:extLst xmlns:a="http://schemas.openxmlformats.org/drawingml/2006/main">
              <a:ext uri="{FF2B5EF4-FFF2-40B4-BE49-F238E27FC236}">
                <a16:creationId xmlns:a16="http://schemas.microsoft.com/office/drawing/2014/main" id="{65CDA285-647D-4E8B-BF26-BDB372F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0067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Connect one portal and two offices</a:t>
            </a:r>
          </a:p>
        </p:txBody>
      </p:sp>
      <p:sp>
        <p:nvSpPr>
          <p:cNvPr id="13" name="closing-card-217">
            <a:extLst xmlns:a="http://schemas.openxmlformats.org/drawingml/2006/main">
              <a:ext uri="{FF2B5EF4-FFF2-40B4-BE49-F238E27FC236}">
                <a16:creationId xmlns:a16="http://schemas.microsoft.com/office/drawing/2014/main" id="{B08E75E0-B545-4D7B-BBD5-0A33E3FF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829050" cy="49339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and-218">
            <a:extLst xmlns:a="http://schemas.openxmlformats.org/drawingml/2006/main">
              <a:ext uri="{FF2B5EF4-FFF2-40B4-BE49-F238E27FC236}">
                <a16:creationId xmlns:a16="http://schemas.microsoft.com/office/drawing/2014/main" id="{35B29221-B82B-48D2-A672-BEAD6685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CIVICPATH AI</a:t>
            </a:r>
          </a:p>
        </p:txBody>
      </p:sp>
      <p:sp>
        <p:nvSpPr>
          <p:cNvPr id="15" name="closing-product-219">
            <a:extLst xmlns:a="http://schemas.openxmlformats.org/drawingml/2006/main">
              <a:ext uri="{FF2B5EF4-FFF2-40B4-BE49-F238E27FC236}">
                <a16:creationId xmlns:a16="http://schemas.microsoft.com/office/drawing/2014/main" id="{9C152308-9301-4AA1-9D3F-32FD8E3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AI-guided public service procedures</a:t>
            </a:r>
          </a:p>
        </p:txBody>
      </p:sp>
      <p:sp>
        <p:nvSpPr>
          <p:cNvPr id="16" name="live-label-220">
            <a:extLst xmlns:a="http://schemas.openxmlformats.org/drawingml/2006/main">
              <a:ext uri="{FF2B5EF4-FFF2-40B4-BE49-F238E27FC236}">
                <a16:creationId xmlns:a16="http://schemas.microsoft.com/office/drawing/2014/main" id="{98A9D85F-B9E0-4472-A17D-219389DD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LIVE DEMO</a:t>
            </a:r>
          </a:p>
        </p:txBody>
      </p:sp>
      <p:sp>
        <p:nvSpPr>
          <p:cNvPr id="17" name="closing-url-221">
            <a:extLst xmlns:a="http://schemas.openxmlformats.org/drawingml/2006/main">
              <a:ext uri="{FF2B5EF4-FFF2-40B4-BE49-F238E27FC236}">
                <a16:creationId xmlns:a16="http://schemas.microsoft.com/office/drawing/2014/main" id="{A496D73D-63FA-44F8-9071-B4BBF4ED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ai-guided-public-service-
procedures.vercel.app</a:t>
            </a:r>
          </a:p>
        </p:txBody>
      </p:sp>
      <p:sp>
        <p:nvSpPr>
          <p:cNvPr id="18" name="institute-222">
            <a:extLst xmlns:a="http://schemas.openxmlformats.org/drawingml/2006/main">
              <a:ext uri="{FF2B5EF4-FFF2-40B4-BE49-F238E27FC236}">
                <a16:creationId xmlns:a16="http://schemas.microsoft.com/office/drawing/2014/main" id="{6097FC32-14D1-431F-B8D7-7FEEACDC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National Institute for Digital Technologies
and Digital Transformation (NIDit)</a:t>
            </a:r>
          </a:p>
        </p:txBody>
      </p:sp>
      <p:sp>
        <p:nvSpPr>
          <p:cNvPr id="19" name="footer-223">
            <a:extLst xmlns:a="http://schemas.openxmlformats.org/drawingml/2006/main">
              <a:ext uri="{FF2B5EF4-FFF2-40B4-BE49-F238E27FC236}">
                <a16:creationId xmlns:a16="http://schemas.microsoft.com/office/drawing/2014/main" id="{ED0B2631-C3C5-49B8-83E0-7BE3973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C3F5"/>
                </a:solidFill>
                <a:latin typeface="Arial"/>
                <a:ea typeface="Arial"/>
                <a:cs typeface="Arial"/>
              </a:defRPr>
            </a:pPr>
            <a:r>
              <a:t>Lonely Stone · Smart Government</a:t>
            </a:r>
          </a:p>
        </p:txBody>
      </p:sp>
      <p:sp>
        <p:nvSpPr>
          <p:cNvPr id="20" name="page-224">
            <a:extLst xmlns:a="http://schemas.openxmlformats.org/drawingml/2006/main">
              <a:ext uri="{FF2B5EF4-FFF2-40B4-BE49-F238E27FC236}">
                <a16:creationId xmlns:a16="http://schemas.microsoft.com/office/drawing/2014/main" id="{B0888D50-FD90-4A77-AE5A-ADCA3AA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CC3F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8e236750c4d9e"/>
          <a:stretch xmlns:a="http://schemas.openxmlformats.org/drawingml/2006/main"/>
        </p:blipFill>
        <p:spPr>
          <a:xfrm xmlns:a="http://schemas.openxmlformats.org/drawingml/2006/main">
            <a:off x="9115425" y="11049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</p:spPr>
      </p:pic>
    </p:spTree>
    <p:extLst>
      <p:ext uri="{BB962C8B-B14F-4D97-AF65-F5344CB8AC3E}">
        <p14:creationId xmlns:p14="http://schemas.microsoft.com/office/powerpoint/2010/main" val="63630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2026-07-18T17:54:37.5660000Z</dcterms:created>
  <dcterms:modified xsi:type="dcterms:W3CDTF">2026-07-18T17:54:37.5670000Z</dcterms:modified>
</coreProperties>
</file>