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8252a60a6948d2" /><Relationship Type="http://schemas.openxmlformats.org/officeDocument/2006/relationships/extended-properties" Target="/docProps/app.xml" Id="R54cde9e7676042ba" /><Relationship Type="http://schemas.openxmlformats.org/officeDocument/2006/relationships/officeDocument" Target="/ppt/presentation.xml" Id="Rf334b14f1677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c0e355e0c546cc"/>
  </p:sldMasterIdLst>
  <p:notesMasterIdLst>
    <p:notesMasterId xmlns:r="http://schemas.openxmlformats.org/officeDocument/2006/relationships" r:id="R5701587df70c450b"/>
  </p:notesMasterIdLst>
  <p:sldIdLst>
    <p:sldId xmlns:r="http://schemas.openxmlformats.org/officeDocument/2006/relationships" id="256" r:id="Re4aaf8b9be7e4840"/>
    <p:sldId xmlns:r="http://schemas.openxmlformats.org/officeDocument/2006/relationships" id="257" r:id="R8801b3823e9a42f0"/>
    <p:sldId xmlns:r="http://schemas.openxmlformats.org/officeDocument/2006/relationships" id="258" r:id="R118ba137fe1248df"/>
    <p:sldId xmlns:r="http://schemas.openxmlformats.org/officeDocument/2006/relationships" id="259" r:id="R7426e5f2df194338"/>
    <p:sldId xmlns:r="http://schemas.openxmlformats.org/officeDocument/2006/relationships" id="260" r:id="Ra8bfda07baad4a2f"/>
    <p:sldId xmlns:r="http://schemas.openxmlformats.org/officeDocument/2006/relationships" id="261" r:id="Re14ba9300a8b42b0"/>
    <p:sldId xmlns:r="http://schemas.openxmlformats.org/officeDocument/2006/relationships" id="262" r:id="R8e82f9b6e7cd4105"/>
    <p:sldId xmlns:r="http://schemas.openxmlformats.org/officeDocument/2006/relationships" id="263" r:id="Rbd440bc837c84a28"/>
    <p:sldId xmlns:r="http://schemas.openxmlformats.org/officeDocument/2006/relationships" id="264" r:id="R81f58454f112485c"/>
    <p:sldId xmlns:r="http://schemas.openxmlformats.org/officeDocument/2006/relationships" id="265" r:id="R8207682967614c00"/>
    <p:sldId xmlns:r="http://schemas.openxmlformats.org/officeDocument/2006/relationships" id="266" r:id="R88894b55b9f940e3"/>
    <p:sldId xmlns:r="http://schemas.openxmlformats.org/officeDocument/2006/relationships" id="267" r:id="R4084c599e50c4d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b5d9b05434419f" /><Relationship Type="http://schemas.openxmlformats.org/officeDocument/2006/relationships/slideMaster" Target="/ppt/slideMasters/slideMaster1.xml" Id="Rb9c0e355e0c546cc" /><Relationship Type="http://schemas.openxmlformats.org/officeDocument/2006/relationships/notesMaster" Target="/ppt/notesMasters/notesMaster1.xml" Id="R5701587df70c450b" /><Relationship Type="http://schemas.openxmlformats.org/officeDocument/2006/relationships/presProps" Target="/ppt/presProps.xml" Id="R2275591f7061485c" /><Relationship Type="http://schemas.openxmlformats.org/officeDocument/2006/relationships/tableStyles" Target="/ppt/tableStyles.xml" Id="R2e604aadc4094404" /><Relationship Type="http://schemas.openxmlformats.org/officeDocument/2006/relationships/slide" Target="/ppt/slides/slide1.xml" Id="Re4aaf8b9be7e4840" /><Relationship Type="http://schemas.openxmlformats.org/officeDocument/2006/relationships/slide" Target="/ppt/slides/slide2.xml" Id="R8801b3823e9a42f0" /><Relationship Type="http://schemas.openxmlformats.org/officeDocument/2006/relationships/slide" Target="/ppt/slides/slide3.xml" Id="R118ba137fe1248df" /><Relationship Type="http://schemas.openxmlformats.org/officeDocument/2006/relationships/slide" Target="/ppt/slides/slide4.xml" Id="R7426e5f2df194338" /><Relationship Type="http://schemas.openxmlformats.org/officeDocument/2006/relationships/slide" Target="/ppt/slides/slide5.xml" Id="Ra8bfda07baad4a2f" /><Relationship Type="http://schemas.openxmlformats.org/officeDocument/2006/relationships/slide" Target="/ppt/slides/slide6.xml" Id="Re14ba9300a8b42b0" /><Relationship Type="http://schemas.openxmlformats.org/officeDocument/2006/relationships/slide" Target="/ppt/slides/slide7.xml" Id="R8e82f9b6e7cd4105" /><Relationship Type="http://schemas.openxmlformats.org/officeDocument/2006/relationships/slide" Target="/ppt/slides/slide8.xml" Id="Rbd440bc837c84a28" /><Relationship Type="http://schemas.openxmlformats.org/officeDocument/2006/relationships/slide" Target="/ppt/slides/slide9.xml" Id="R81f58454f112485c" /><Relationship Type="http://schemas.openxmlformats.org/officeDocument/2006/relationships/slide" Target="/ppt/slides/slide10.xml" Id="R8207682967614c00" /><Relationship Type="http://schemas.openxmlformats.org/officeDocument/2006/relationships/slide" Target="/ppt/slides/slide11.xml" Id="R88894b55b9f940e3" /><Relationship Type="http://schemas.openxmlformats.org/officeDocument/2006/relationships/slide" Target="/ppt/slides/slide12.xml" Id="R4084c599e50c4d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ddf6693f240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07adaff3b4d32" /><Relationship Type="http://schemas.openxmlformats.org/officeDocument/2006/relationships/notesMaster" Target="/ppt/notesMasters/notesMaster1.xml" Id="R9f021357254c48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86abc4414e42d2" /><Relationship Type="http://schemas.openxmlformats.org/officeDocument/2006/relationships/notesMaster" Target="/ppt/notesMasters/notesMaster1.xml" Id="R5a9b144b48dc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25b73bcda4742" /><Relationship Type="http://schemas.openxmlformats.org/officeDocument/2006/relationships/notesMaster" Target="/ppt/notesMasters/notesMaster1.xml" Id="Rf42bcbac558b4e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39a53f6be4b86" /><Relationship Type="http://schemas.openxmlformats.org/officeDocument/2006/relationships/notesMaster" Target="/ppt/notesMasters/notesMaster1.xml" Id="R2850ea419ef743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f63c2e5f554d94" /><Relationship Type="http://schemas.openxmlformats.org/officeDocument/2006/relationships/notesMaster" Target="/ppt/notesMasters/notesMaster1.xml" Id="R0560d2e10a2746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16977acfeb42d2" /><Relationship Type="http://schemas.openxmlformats.org/officeDocument/2006/relationships/notesMaster" Target="/ppt/notesMasters/notesMaster1.xml" Id="R8e40a63d73054d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58222dae84fda" /><Relationship Type="http://schemas.openxmlformats.org/officeDocument/2006/relationships/notesMaster" Target="/ppt/notesMasters/notesMaster1.xml" Id="Rd5950bd69c9645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4df37b8c6c409f" /><Relationship Type="http://schemas.openxmlformats.org/officeDocument/2006/relationships/notesMaster" Target="/ppt/notesMasters/notesMaster1.xml" Id="R331204e8ea4647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6178f5ad6648fb" /><Relationship Type="http://schemas.openxmlformats.org/officeDocument/2006/relationships/notesMaster" Target="/ppt/notesMasters/notesMaster1.xml" Id="R9ba2b7aa442242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0f70b3a050449f" /><Relationship Type="http://schemas.openxmlformats.org/officeDocument/2006/relationships/notesMaster" Target="/ppt/notesMasters/notesMaster1.xml" Id="Rba7c3ba336c541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9bd6f2bc2a4ad9" /><Relationship Type="http://schemas.openxmlformats.org/officeDocument/2006/relationships/notesMaster" Target="/ppt/notesMasters/notesMaster1.xml" Id="R59abb889b24c4e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a109e6be614fbc" /><Relationship Type="http://schemas.openxmlformats.org/officeDocument/2006/relationships/notesMaster" Target="/ppt/notesMasters/notesMaster1.xml" Id="R127a146e16d048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5b2d74c2f4b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1d4567dced49d6" /><Relationship Type="http://schemas.openxmlformats.org/officeDocument/2006/relationships/slideLayout" Target="/ppt/slideLayouts/slideLayout1.xml" Id="R01eacdfe52ec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acdfe52ec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92cd086da430c" /><Relationship Type="http://schemas.openxmlformats.org/officeDocument/2006/relationships/image" Target="/ppt/media/image.jpeg" Id="Rfa6cb820e4b947fc" /><Relationship Type="http://schemas.openxmlformats.org/officeDocument/2006/relationships/notesSlide" Target="/ppt/notesSlides/notesSlide1.xml" Id="R2285544931864f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479a60d624714" /><Relationship Type="http://schemas.openxmlformats.org/officeDocument/2006/relationships/notesSlide" Target="/ppt/notesSlides/notesSlide2.xml" Id="Rcd390955efe546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0168d5df34cc0" /><Relationship Type="http://schemas.openxmlformats.org/officeDocument/2006/relationships/notesSlide" Target="/ppt/notesSlides/notesSlide3.xml" Id="R23534f9fad5440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64f9aa6ad43ed" /><Relationship Type="http://schemas.openxmlformats.org/officeDocument/2006/relationships/image" Target="/ppt/media/image2.jpeg" Id="R185ef7b0ad8a411e" /><Relationship Type="http://schemas.openxmlformats.org/officeDocument/2006/relationships/notesSlide" Target="/ppt/notesSlides/notesSlide4.xml" Id="R4b8273fbe03d4b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52f92999846a7" /><Relationship Type="http://schemas.openxmlformats.org/officeDocument/2006/relationships/image" Target="/ppt/media/image3.jpeg" Id="R7e812f51ae424021" /><Relationship Type="http://schemas.openxmlformats.org/officeDocument/2006/relationships/notesSlide" Target="/ppt/notesSlides/notesSlide5.xml" Id="Rf35e350a30f548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ffe59dfd7408f" /><Relationship Type="http://schemas.openxmlformats.org/officeDocument/2006/relationships/notesSlide" Target="/ppt/notesSlides/notesSlide6.xml" Id="R5f0d4253ea1c47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12fb65c804788" /><Relationship Type="http://schemas.openxmlformats.org/officeDocument/2006/relationships/image" Target="/ppt/media/image.png" Id="R6599a31b2f2a41b0" /><Relationship Type="http://schemas.openxmlformats.org/officeDocument/2006/relationships/notesSlide" Target="/ppt/notesSlides/notesSlide7.xml" Id="R90f7e40df58641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1e43c4d144d82" /><Relationship Type="http://schemas.openxmlformats.org/officeDocument/2006/relationships/notesSlide" Target="/ppt/notesSlides/notesSlide8.xml" Id="R2685bf2e9c354f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8db64ec684810" /><Relationship Type="http://schemas.openxmlformats.org/officeDocument/2006/relationships/image" Target="/ppt/media/image4.jpeg" Id="Rb491ce5531a047b8" /><Relationship Type="http://schemas.openxmlformats.org/officeDocument/2006/relationships/image" Target="/ppt/media/image5.jpeg" Id="R9e3d4b11c5534118" /><Relationship Type="http://schemas.openxmlformats.org/officeDocument/2006/relationships/image" Target="/ppt/media/image6.jpeg" Id="R8bab049689a04872" /><Relationship Type="http://schemas.openxmlformats.org/officeDocument/2006/relationships/notesSlide" Target="/ppt/notesSlides/notesSlide9.xml" Id="R686f19432a8c41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dc767c6524ec0" /><Relationship Type="http://schemas.openxmlformats.org/officeDocument/2006/relationships/notesSlide" Target="/ppt/notesSlides/notesSlide10.xml" Id="Rbb52b710087746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d04eb54294846" /><Relationship Type="http://schemas.openxmlformats.org/officeDocument/2006/relationships/notesSlide" Target="/ppt/notesSlides/notesSlide11.xml" Id="Rafbb38acfe1a40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bfcac8370490a" /><Relationship Type="http://schemas.openxmlformats.org/officeDocument/2006/relationships/image" Target="/ppt/media/image7.jpeg" Id="R7a5d0e1d1e074e59" /><Relationship Type="http://schemas.openxmlformats.org/officeDocument/2006/relationships/notesSlide" Target="/ppt/notesSlides/notesSlide12.xml" Id="R45d871fdbac94e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ox-1">
            <a:extLst xmlns:a="http://schemas.openxmlformats.org/drawingml/2006/main">
              <a:ext uri="{FF2B5EF4-FFF2-40B4-BE49-F238E27FC236}">
                <a16:creationId xmlns:a16="http://schemas.microsoft.com/office/drawing/2014/main" id="{E9FB752A-E7AA-4CB0-A29B-68C3DE76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F63AE8E5-B340-4FF4-8157-1A2299F6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42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SMART GOVERNMENT · NIDit · LONELY STONE</a:t>
            </a:r>
          </a:p>
        </p:txBody>
      </p:sp>
      <p:sp>
        <p:nvSpPr>
          <p:cNvPr id="3" name="brand-3">
            <a:extLst xmlns:a="http://schemas.openxmlformats.org/drawingml/2006/main">
              <a:ext uri="{FF2B5EF4-FFF2-40B4-BE49-F238E27FC236}">
                <a16:creationId xmlns:a16="http://schemas.microsoft.com/office/drawing/2014/main" id="{9269C3D1-225B-4CE9-B5D6-D96462E3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CIVICPATH AI</a:t>
            </a:r>
          </a:p>
        </p:txBody>
      </p:sp>
      <p:sp>
        <p:nvSpPr>
          <p:cNvPr id="4" name="cover-title-4">
            <a:extLst xmlns:a="http://schemas.openxmlformats.org/drawingml/2006/main">
              <a:ext uri="{FF2B5EF4-FFF2-40B4-BE49-F238E27FC236}">
                <a16:creationId xmlns:a16="http://schemas.microsoft.com/office/drawing/2014/main" id="{C05F8BDB-B179-459C-AE58-F905CB06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143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AI-guided public
service procedures</a:t>
            </a:r>
          </a:p>
        </p:txBody>
      </p:sp>
      <p:sp>
        <p:nvSpPr>
          <p:cNvPr id="5" name="cover-subtitle-5">
            <a:extLst xmlns:a="http://schemas.openxmlformats.org/drawingml/2006/main">
              <a:ext uri="{FF2B5EF4-FFF2-40B4-BE49-F238E27FC236}">
                <a16:creationId xmlns:a16="http://schemas.microsoft.com/office/drawing/2014/main" id="{8733EAB9-7438-462E-879B-1B0BFADE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Guidance citizens trust. Applications officers can process.</a:t>
            </a:r>
          </a:p>
        </p:txBody>
      </p:sp>
      <p:sp>
        <p:nvSpPr>
          <p:cNvPr id="6" name="scope-pill-6">
            <a:extLst xmlns:a="http://schemas.openxmlformats.org/drawingml/2006/main">
              <a:ext uri="{FF2B5EF4-FFF2-40B4-BE49-F238E27FC236}">
                <a16:creationId xmlns:a16="http://schemas.microsoft.com/office/drawing/2014/main" id="{CB1BDFF3-F377-4BF4-B29E-3BE4E642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pe-7">
            <a:extLst xmlns:a="http://schemas.openxmlformats.org/drawingml/2006/main">
              <a:ext uri="{FF2B5EF4-FFF2-40B4-BE49-F238E27FC236}">
                <a16:creationId xmlns:a16="http://schemas.microsoft.com/office/drawing/2014/main" id="{3F743E61-5373-4187-B05E-59C228A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2057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STARTING WITH BIRTH REGISTRATION</a:t>
            </a:r>
          </a:p>
        </p:txBody>
      </p:sp>
      <p:sp>
        <p:nvSpPr>
          <p:cNvPr id="8" name="live-label-8">
            <a:extLst xmlns:a="http://schemas.openxmlformats.org/drawingml/2006/main">
              <a:ext uri="{FF2B5EF4-FFF2-40B4-BE49-F238E27FC236}">
                <a16:creationId xmlns:a16="http://schemas.microsoft.com/office/drawing/2014/main" id="{FD0AB875-9937-410F-97DC-3287039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Live demo</a:t>
            </a:r>
          </a:p>
        </p:txBody>
      </p:sp>
      <p:sp>
        <p:nvSpPr>
          <p:cNvPr id="9" name="url-9">
            <a:extLst xmlns:a="http://schemas.openxmlformats.org/drawingml/2006/main">
              <a:ext uri="{FF2B5EF4-FFF2-40B4-BE49-F238E27FC236}">
                <a16:creationId xmlns:a16="http://schemas.microsoft.com/office/drawing/2014/main" id="{E9A5A0BB-62E6-4545-A372-9CA8D44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4524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ai-guided-public-service-procedures.vercel.app</a:t>
            </a:r>
          </a:p>
        </p:txBody>
      </p:sp>
      <p:sp>
        <p:nvSpPr>
          <p:cNvPr id="10" name="cover-media-frame-10">
            <a:extLst xmlns:a="http://schemas.openxmlformats.org/drawingml/2006/main">
              <a:ext uri="{FF2B5EF4-FFF2-40B4-BE49-F238E27FC236}">
                <a16:creationId xmlns:a16="http://schemas.microsoft.com/office/drawing/2014/main" id="{4A7493C2-BA29-47F9-BF89-DFC85357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"/>
            <a:ext cx="5619750" cy="575310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media-inner-11">
            <a:extLst xmlns:a="http://schemas.openxmlformats.org/drawingml/2006/main">
              <a:ext uri="{FF2B5EF4-FFF2-40B4-BE49-F238E27FC236}">
                <a16:creationId xmlns:a16="http://schemas.microsoft.com/office/drawing/2014/main" id="{6D7D568C-62AB-4DC4-9A9E-0EA1D4AA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904875"/>
            <a:ext cx="4838700" cy="497205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2">
            <a:extLst xmlns:a="http://schemas.openxmlformats.org/drawingml/2006/main">
              <a:ext uri="{FF2B5EF4-FFF2-40B4-BE49-F238E27FC236}">
                <a16:creationId xmlns:a16="http://schemas.microsoft.com/office/drawing/2014/main" id="{13AFBFA1-13C2-41BA-9B05-1E7567F1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National Institute for Digital Technologies and Digital Transformation</a:t>
            </a:r>
          </a:p>
        </p:txBody>
      </p:sp>
      <p:sp>
        <p:nvSpPr>
          <p:cNvPr id="13" name="page-13">
            <a:extLst xmlns:a="http://schemas.openxmlformats.org/drawingml/2006/main">
              <a:ext uri="{FF2B5EF4-FFF2-40B4-BE49-F238E27FC236}">
                <a16:creationId xmlns:a16="http://schemas.microsoft.com/office/drawing/2014/main" id="{F619EC9C-B1B4-407C-AC2A-2EB20861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cb820e4b947fc"/>
          <a:srcRect xmlns:a="http://schemas.openxmlformats.org/drawingml/2006/main" l="22607" t="0" r="22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885825"/>
            <a:ext cx="4876800" cy="5010150"/>
          </a:xfrm>
          <a:prstGeom xmlns:a="http://schemas.openxmlformats.org/drawingml/2006/main" prst="roundRect">
            <a:avLst>
              <a:gd name="adj" fmla="val 2344"/>
            </a:avLst>
          </a:prstGeom>
        </p:spPr>
      </p:pic>
    </p:spTree>
    <p:extLst>
      <p:ext uri="{BB962C8B-B14F-4D97-AF65-F5344CB8AC3E}">
        <p14:creationId xmlns:p14="http://schemas.microsoft.com/office/powerpoint/2010/main" val="734324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5">
            <a:extLst xmlns:a="http://schemas.openxmlformats.org/drawingml/2006/main">
              <a:ext uri="{FF2B5EF4-FFF2-40B4-BE49-F238E27FC236}">
                <a16:creationId xmlns:a16="http://schemas.microsoft.com/office/drawing/2014/main" id="{ABFA51F7-688D-4C9C-B8EF-A7A36298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289BF640-8917-449E-A067-5F96B798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The failure happens before submission.</a:t>
            </a:r>
          </a:p>
        </p:txBody>
      </p:sp>
      <p:sp>
        <p:nvSpPr>
          <p:cNvPr id="3" name="footer-17">
            <a:extLst xmlns:a="http://schemas.openxmlformats.org/drawingml/2006/main">
              <a:ext uri="{FF2B5EF4-FFF2-40B4-BE49-F238E27FC236}">
                <a16:creationId xmlns:a16="http://schemas.microsoft.com/office/drawing/2014/main" id="{34E16354-1168-41A5-8D5A-F3037A21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6EBE8F6E-F952-4624-9044-5B06A0DF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lede-19">
            <a:extLst xmlns:a="http://schemas.openxmlformats.org/drawingml/2006/main">
              <a:ext uri="{FF2B5EF4-FFF2-40B4-BE49-F238E27FC236}">
                <a16:creationId xmlns:a16="http://schemas.microsoft.com/office/drawing/2014/main" id="{CB07948D-2E11-49E9-B2D6-9FBEB132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Citizens enter the process without certainty—and discover mistakes only after an official reviews the file.</a:t>
            </a:r>
          </a:p>
        </p:txBody>
      </p:sp>
      <p:sp>
        <p:nvSpPr>
          <p:cNvPr id="6" name="rule-20">
            <a:extLst xmlns:a="http://schemas.openxmlformats.org/drawingml/2006/main">
              <a:ext uri="{FF2B5EF4-FFF2-40B4-BE49-F238E27FC236}">
                <a16:creationId xmlns:a16="http://schemas.microsoft.com/office/drawing/2014/main" id="{045C49D3-6561-4B5E-9F9E-498AC5F0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-21">
            <a:extLst xmlns:a="http://schemas.openxmlformats.org/drawingml/2006/main">
              <a:ext uri="{FF2B5EF4-FFF2-40B4-BE49-F238E27FC236}">
                <a16:creationId xmlns:a16="http://schemas.microsoft.com/office/drawing/2014/main" id="{09B8C64C-563F-4CF0-A59B-C90C27C8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62225"/>
            <a:ext cx="95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le-22">
            <a:extLst xmlns:a="http://schemas.openxmlformats.org/drawingml/2006/main">
              <a:ext uri="{FF2B5EF4-FFF2-40B4-BE49-F238E27FC236}">
                <a16:creationId xmlns:a16="http://schemas.microsoft.com/office/drawing/2014/main" id="{C38322B9-7938-43F2-96DE-FCB5F926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62225"/>
            <a:ext cx="95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ber-23">
            <a:extLst xmlns:a="http://schemas.openxmlformats.org/drawingml/2006/main">
              <a:ext uri="{FF2B5EF4-FFF2-40B4-BE49-F238E27FC236}">
                <a16:creationId xmlns:a16="http://schemas.microsoft.com/office/drawing/2014/main" id="{DF2905A2-54D8-4ADE-B43A-BAEC3405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problem-24">
            <a:extLst xmlns:a="http://schemas.openxmlformats.org/drawingml/2006/main">
              <a:ext uri="{FF2B5EF4-FFF2-40B4-BE49-F238E27FC236}">
                <a16:creationId xmlns:a16="http://schemas.microsoft.com/office/drawing/2014/main" id="{8C961BB8-78CC-4AC6-BA7C-F90CDBA5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What do I
prepare?</a:t>
            </a:r>
          </a:p>
        </p:txBody>
      </p:sp>
      <p:sp>
        <p:nvSpPr>
          <p:cNvPr id="11" name="problem-copy-25">
            <a:extLst xmlns:a="http://schemas.openxmlformats.org/drawingml/2006/main">
              <a:ext uri="{FF2B5EF4-FFF2-40B4-BE49-F238E27FC236}">
                <a16:creationId xmlns:a16="http://schemas.microsoft.com/office/drawing/2014/main" id="{95D9D224-BF5C-41D2-BEC9-A59463C1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Documents, forms, office, order of steps—information is fragmented and hard to interpret.</a:t>
            </a:r>
          </a:p>
        </p:txBody>
      </p:sp>
      <p:sp>
        <p:nvSpPr>
          <p:cNvPr id="12" name="number-26">
            <a:extLst xmlns:a="http://schemas.openxmlformats.org/drawingml/2006/main">
              <a:ext uri="{FF2B5EF4-FFF2-40B4-BE49-F238E27FC236}">
                <a16:creationId xmlns:a16="http://schemas.microsoft.com/office/drawing/2014/main" id="{0BA54847-19CE-478E-8BAE-B40580F2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problem-27">
            <a:extLst xmlns:a="http://schemas.openxmlformats.org/drawingml/2006/main">
              <a:ext uri="{FF2B5EF4-FFF2-40B4-BE49-F238E27FC236}">
                <a16:creationId xmlns:a16="http://schemas.microsoft.com/office/drawing/2014/main" id="{553DCAC7-D553-4DDE-9C06-CF8F104D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52775"/>
            <a:ext cx="28956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Did I fill it
in correctly?</a:t>
            </a:r>
          </a:p>
        </p:txBody>
      </p:sp>
      <p:sp>
        <p:nvSpPr>
          <p:cNvPr id="14" name="problem-copy-28">
            <a:extLst xmlns:a="http://schemas.openxmlformats.org/drawingml/2006/main">
              <a:ext uri="{FF2B5EF4-FFF2-40B4-BE49-F238E27FC236}">
                <a16:creationId xmlns:a16="http://schemas.microsoft.com/office/drawing/2014/main" id="{44A72C44-384F-4E56-AB80-479AE0E5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Missing fields and conflicts surface late—after time has already been spent submitting or traveling.</a:t>
            </a:r>
          </a:p>
        </p:txBody>
      </p:sp>
      <p:sp>
        <p:nvSpPr>
          <p:cNvPr id="15" name="number-29">
            <a:extLst xmlns:a="http://schemas.openxmlformats.org/drawingml/2006/main">
              <a:ext uri="{FF2B5EF4-FFF2-40B4-BE49-F238E27FC236}">
                <a16:creationId xmlns:a16="http://schemas.microsoft.com/office/drawing/2014/main" id="{4A15BC2F-11C4-43AE-9BA2-E7770D5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problem-30">
            <a:extLst xmlns:a="http://schemas.openxmlformats.org/drawingml/2006/main">
              <a:ext uri="{FF2B5EF4-FFF2-40B4-BE49-F238E27FC236}">
                <a16:creationId xmlns:a16="http://schemas.microsoft.com/office/drawing/2014/main" id="{8F2D2FED-FFAC-474E-A1CE-280FA3BA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2933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Who can
answer now?</a:t>
            </a:r>
          </a:p>
        </p:txBody>
      </p:sp>
      <p:sp>
        <p:nvSpPr>
          <p:cNvPr id="17" name="problem-copy-31">
            <a:extLst xmlns:a="http://schemas.openxmlformats.org/drawingml/2006/main">
              <a:ext uri="{FF2B5EF4-FFF2-40B4-BE49-F238E27FC236}">
                <a16:creationId xmlns:a16="http://schemas.microsoft.com/office/drawing/2014/main" id="{42C43707-34F1-4122-B219-8969AE6E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Too many repeat questions, too few officers—and citizens make avoidable in-person trips.</a:t>
            </a:r>
          </a:p>
        </p:txBody>
      </p:sp>
    </p:spTree>
    <p:extLst>
      <p:ext uri="{BB962C8B-B14F-4D97-AF65-F5344CB8AC3E}">
        <p14:creationId xmlns:p14="http://schemas.microsoft.com/office/powerpoint/2010/main" val="597644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3">
            <a:extLst xmlns:a="http://schemas.openxmlformats.org/drawingml/2006/main">
              <a:ext uri="{FF2B5EF4-FFF2-40B4-BE49-F238E27FC236}">
                <a16:creationId xmlns:a16="http://schemas.microsoft.com/office/drawing/2014/main" id="{9B80C3C7-74CB-4257-A859-4D770DF1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THE SOLUTION</a:t>
            </a:r>
          </a:p>
        </p:txBody>
      </p:sp>
      <p:sp>
        <p:nvSpPr>
          <p:cNvPr id="2" name="title-34">
            <a:extLst xmlns:a="http://schemas.openxmlformats.org/drawingml/2006/main">
              <a:ext uri="{FF2B5EF4-FFF2-40B4-BE49-F238E27FC236}">
                <a16:creationId xmlns:a16="http://schemas.microsoft.com/office/drawing/2014/main" id="{7B646151-2539-4805-81F2-34DD79A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One guided flow turns uncertainty into action.</a:t>
            </a:r>
          </a:p>
        </p:txBody>
      </p:sp>
      <p:sp>
        <p:nvSpPr>
          <p:cNvPr id="3" name="footer-35">
            <a:extLst xmlns:a="http://schemas.openxmlformats.org/drawingml/2006/main">
              <a:ext uri="{FF2B5EF4-FFF2-40B4-BE49-F238E27FC236}">
                <a16:creationId xmlns:a16="http://schemas.microsoft.com/office/drawing/2014/main" id="{D761DE3C-DA8B-4AE4-B6D5-6332224F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36">
            <a:extLst xmlns:a="http://schemas.openxmlformats.org/drawingml/2006/main">
              <a:ext uri="{FF2B5EF4-FFF2-40B4-BE49-F238E27FC236}">
                <a16:creationId xmlns:a16="http://schemas.microsoft.com/office/drawing/2014/main" id="{10508E5D-2087-448B-B970-6993A9CB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lede-37">
            <a:extLst xmlns:a="http://schemas.openxmlformats.org/drawingml/2006/main">
              <a:ext uri="{FF2B5EF4-FFF2-40B4-BE49-F238E27FC236}">
                <a16:creationId xmlns:a16="http://schemas.microsoft.com/office/drawing/2014/main" id="{36412E44-2501-43F9-9733-132052D9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 citizen describes the need once. CivicPath AI clarifies, prepares, and checks—inside the portal they already use.</a:t>
            </a:r>
          </a:p>
        </p:txBody>
      </p:sp>
      <p:sp>
        <p:nvSpPr>
          <p:cNvPr id="6" name="rule-38">
            <a:extLst xmlns:a="http://schemas.openxmlformats.org/drawingml/2006/main">
              <a:ext uri="{FF2B5EF4-FFF2-40B4-BE49-F238E27FC236}">
                <a16:creationId xmlns:a16="http://schemas.microsoft.com/office/drawing/2014/main" id="{8F955B32-8DC9-4D75-92AB-B953048A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ode-39">
            <a:extLst xmlns:a="http://schemas.openxmlformats.org/drawingml/2006/main">
              <a:ext uri="{FF2B5EF4-FFF2-40B4-BE49-F238E27FC236}">
                <a16:creationId xmlns:a16="http://schemas.microsoft.com/office/drawing/2014/main" id="{B9F2AE66-48CE-4921-BA83-F404A492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ode-40">
            <a:extLst xmlns:a="http://schemas.openxmlformats.org/drawingml/2006/main">
              <a:ext uri="{FF2B5EF4-FFF2-40B4-BE49-F238E27FC236}">
                <a16:creationId xmlns:a16="http://schemas.microsoft.com/office/drawing/2014/main" id="{CD3A5FB9-008F-499B-80F6-237E3A6B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ode-41">
            <a:extLst xmlns:a="http://schemas.openxmlformats.org/drawingml/2006/main">
              <a:ext uri="{FF2B5EF4-FFF2-40B4-BE49-F238E27FC236}">
                <a16:creationId xmlns:a16="http://schemas.microsoft.com/office/drawing/2014/main" id="{3F3B4F4B-4881-4B23-B1CE-7FF6210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ode-42">
            <a:extLst xmlns:a="http://schemas.openxmlformats.org/drawingml/2006/main">
              <a:ext uri="{FF2B5EF4-FFF2-40B4-BE49-F238E27FC236}">
                <a16:creationId xmlns:a16="http://schemas.microsoft.com/office/drawing/2014/main" id="{60BFAA15-B9D0-4D49-ABD8-2F3DC3F8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43">
            <a:extLst xmlns:a="http://schemas.openxmlformats.org/drawingml/2006/main">
              <a:ext uri="{FF2B5EF4-FFF2-40B4-BE49-F238E27FC236}">
                <a16:creationId xmlns:a16="http://schemas.microsoft.com/office/drawing/2014/main" id="{C153754C-8B9C-4D70-B601-12BF7D3E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2" name="step-number-44">
            <a:extLst xmlns:a="http://schemas.openxmlformats.org/drawingml/2006/main">
              <a:ext uri="{FF2B5EF4-FFF2-40B4-BE49-F238E27FC236}">
                <a16:creationId xmlns:a16="http://schemas.microsoft.com/office/drawing/2014/main" id="{E4F2503C-248D-4D2D-A934-EF9626E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step-number-45">
            <a:extLst xmlns:a="http://schemas.openxmlformats.org/drawingml/2006/main">
              <a:ext uri="{FF2B5EF4-FFF2-40B4-BE49-F238E27FC236}">
                <a16:creationId xmlns:a16="http://schemas.microsoft.com/office/drawing/2014/main" id="{CF87DFA3-5C47-4894-BA33-DC1A2821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4" name="step-number-46">
            <a:extLst xmlns:a="http://schemas.openxmlformats.org/drawingml/2006/main">
              <a:ext uri="{FF2B5EF4-FFF2-40B4-BE49-F238E27FC236}">
                <a16:creationId xmlns:a16="http://schemas.microsoft.com/office/drawing/2014/main" id="{5E48A511-5C9A-42A4-A7A4-F99BFC7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5" name="step-title-47">
            <a:extLst xmlns:a="http://schemas.openxmlformats.org/drawingml/2006/main">
              <a:ext uri="{FF2B5EF4-FFF2-40B4-BE49-F238E27FC236}">
                <a16:creationId xmlns:a16="http://schemas.microsoft.com/office/drawing/2014/main" id="{43ADA9DD-8229-435D-ADE4-67340B5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Speak or type</a:t>
            </a:r>
          </a:p>
        </p:txBody>
      </p:sp>
      <p:sp>
        <p:nvSpPr>
          <p:cNvPr id="16" name="step-copy-48">
            <a:extLst xmlns:a="http://schemas.openxmlformats.org/drawingml/2006/main">
              <a:ext uri="{FF2B5EF4-FFF2-40B4-BE49-F238E27FC236}">
                <a16:creationId xmlns:a16="http://schemas.microsoft.com/office/drawing/2014/main" id="{50AD3EB8-AE86-4E41-9E76-33448ABD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286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Describe the situation in everyday language.</a:t>
            </a:r>
          </a:p>
        </p:txBody>
      </p:sp>
      <p:sp>
        <p:nvSpPr>
          <p:cNvPr id="17" name="step-title-49">
            <a:extLst xmlns:a="http://schemas.openxmlformats.org/drawingml/2006/main">
              <a:ext uri="{FF2B5EF4-FFF2-40B4-BE49-F238E27FC236}">
                <a16:creationId xmlns:a16="http://schemas.microsoft.com/office/drawing/2014/main" id="{B9BB03AD-987E-4FCF-A4CD-7251C146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Clarify</a:t>
            </a:r>
          </a:p>
        </p:txBody>
      </p:sp>
      <p:sp>
        <p:nvSpPr>
          <p:cNvPr id="18" name="step-copy-50">
            <a:extLst xmlns:a="http://schemas.openxmlformats.org/drawingml/2006/main">
              <a:ext uri="{FF2B5EF4-FFF2-40B4-BE49-F238E27FC236}">
                <a16:creationId xmlns:a16="http://schemas.microsoft.com/office/drawing/2014/main" id="{0D756926-336B-4F10-9749-C04AAA91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AI asks the next best question and detects applicable cases.</a:t>
            </a:r>
          </a:p>
        </p:txBody>
      </p:sp>
      <p:sp>
        <p:nvSpPr>
          <p:cNvPr id="19" name="step-title-51">
            <a:extLst xmlns:a="http://schemas.openxmlformats.org/drawingml/2006/main">
              <a:ext uri="{FF2B5EF4-FFF2-40B4-BE49-F238E27FC236}">
                <a16:creationId xmlns:a16="http://schemas.microsoft.com/office/drawing/2014/main" id="{5C13A93A-DCAC-4101-A8A9-A2664133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Prepare</a:t>
            </a:r>
          </a:p>
        </p:txBody>
      </p:sp>
      <p:sp>
        <p:nvSpPr>
          <p:cNvPr id="20" name="step-copy-52">
            <a:extLst xmlns:a="http://schemas.openxmlformats.org/drawingml/2006/main">
              <a:ext uri="{FF2B5EF4-FFF2-40B4-BE49-F238E27FC236}">
                <a16:creationId xmlns:a16="http://schemas.microsoft.com/office/drawing/2014/main" id="{F99DF07E-B0D1-4529-AF91-ED4B9D7B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Receive a case-aware checklist, steps, examples, and legal basis.</a:t>
            </a:r>
          </a:p>
        </p:txBody>
      </p:sp>
      <p:sp>
        <p:nvSpPr>
          <p:cNvPr id="21" name="step-title-53">
            <a:extLst xmlns:a="http://schemas.openxmlformats.org/drawingml/2006/main">
              <a:ext uri="{FF2B5EF4-FFF2-40B4-BE49-F238E27FC236}">
                <a16:creationId xmlns:a16="http://schemas.microsoft.com/office/drawing/2014/main" id="{E415DB69-0869-43C8-89B7-78EB22E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</p:txBody>
      </p:sp>
      <p:sp>
        <p:nvSpPr>
          <p:cNvPr id="22" name="step-copy-54">
            <a:extLst xmlns:a="http://schemas.openxmlformats.org/drawingml/2006/main">
              <a:ext uri="{FF2B5EF4-FFF2-40B4-BE49-F238E27FC236}">
                <a16:creationId xmlns:a16="http://schemas.microsoft.com/office/drawing/2014/main" id="{D656BC76-6202-434E-9C6A-720152F5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Catch missing fields and conflicts before submission.</a:t>
            </a:r>
          </a:p>
        </p:txBody>
      </p:sp>
      <p:sp>
        <p:nvSpPr>
          <p:cNvPr id="23" name="takeaway-55">
            <a:extLst xmlns:a="http://schemas.openxmlformats.org/drawingml/2006/main">
              <a:ext uri="{FF2B5EF4-FFF2-40B4-BE49-F238E27FC236}">
                <a16:creationId xmlns:a16="http://schemas.microsoft.com/office/drawing/2014/main" id="{F9D2FAAB-C49F-4CF9-951F-6AC2E64F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-copy-56">
            <a:extLst xmlns:a="http://schemas.openxmlformats.org/drawingml/2006/main">
              <a:ext uri="{FF2B5EF4-FFF2-40B4-BE49-F238E27FC236}">
                <a16:creationId xmlns:a16="http://schemas.microsoft.com/office/drawing/2014/main" id="{C3B1644D-59FC-45D9-98D6-DD15CFEB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00700"/>
            <a:ext cx="10525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 new app. No new portal. Embedded where citizens already are.</a:t>
            </a:r>
          </a:p>
        </p:txBody>
      </p:sp>
    </p:spTree>
    <p:extLst>
      <p:ext uri="{BB962C8B-B14F-4D97-AF65-F5344CB8AC3E}">
        <p14:creationId xmlns:p14="http://schemas.microsoft.com/office/powerpoint/2010/main" val="277395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8">
            <a:extLst xmlns:a="http://schemas.openxmlformats.org/drawingml/2006/main">
              <a:ext uri="{FF2B5EF4-FFF2-40B4-BE49-F238E27FC236}">
                <a16:creationId xmlns:a16="http://schemas.microsoft.com/office/drawing/2014/main" id="{74250820-AE70-47BD-8E9C-2F0B46EA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1</a:t>
            </a:r>
          </a:p>
        </p:txBody>
      </p:sp>
      <p:sp>
        <p:nvSpPr>
          <p:cNvPr id="2" name="title-59">
            <a:extLst xmlns:a="http://schemas.openxmlformats.org/drawingml/2006/main">
              <a:ext uri="{FF2B5EF4-FFF2-40B4-BE49-F238E27FC236}">
                <a16:creationId xmlns:a16="http://schemas.microsoft.com/office/drawing/2014/main" id="{9DB4D095-66D2-4B6B-BB22-BA4DB237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Guided intake makes the right procedure obvious.</a:t>
            </a:r>
          </a:p>
        </p:txBody>
      </p:sp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15452E6A-1A76-45A0-BF05-CA31B5E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61">
            <a:extLst xmlns:a="http://schemas.openxmlformats.org/drawingml/2006/main">
              <a:ext uri="{FF2B5EF4-FFF2-40B4-BE49-F238E27FC236}">
                <a16:creationId xmlns:a16="http://schemas.microsoft.com/office/drawing/2014/main" id="{75736D9A-DFB2-47B8-BDF3-BAF6A467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creenshot-frame-62">
            <a:extLst xmlns:a="http://schemas.openxmlformats.org/drawingml/2006/main">
              <a:ext uri="{FF2B5EF4-FFF2-40B4-BE49-F238E27FC236}">
                <a16:creationId xmlns:a16="http://schemas.microsoft.com/office/drawing/2014/main" id="{40B1F2F9-E922-400F-80FC-388DF547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52575"/>
            <a:ext cx="700087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aim-63">
            <a:extLst xmlns:a="http://schemas.openxmlformats.org/drawingml/2006/main">
              <a:ext uri="{FF2B5EF4-FFF2-40B4-BE49-F238E27FC236}">
                <a16:creationId xmlns:a16="http://schemas.microsoft.com/office/drawing/2014/main" id="{62315DDA-9F20-46FD-95AD-55319968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Plain-language in.
Case-aware guidance out.</a:t>
            </a:r>
          </a:p>
        </p:txBody>
      </p:sp>
      <p:sp>
        <p:nvSpPr>
          <p:cNvPr id="7" name="rule-64">
            <a:extLst xmlns:a="http://schemas.openxmlformats.org/drawingml/2006/main">
              <a:ext uri="{FF2B5EF4-FFF2-40B4-BE49-F238E27FC236}">
                <a16:creationId xmlns:a16="http://schemas.microsoft.com/office/drawing/2014/main" id="{98507F37-64F0-4283-957B-C36A3C59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eature-label-65">
            <a:extLst xmlns:a="http://schemas.openxmlformats.org/drawingml/2006/main">
              <a:ext uri="{FF2B5EF4-FFF2-40B4-BE49-F238E27FC236}">
                <a16:creationId xmlns:a16="http://schemas.microsoft.com/office/drawing/2014/main" id="{E45A4118-4DB7-404A-9188-B2834C7B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VIETNAMESE VOICE + TEXT</a:t>
            </a:r>
          </a:p>
        </p:txBody>
      </p:sp>
      <p:sp>
        <p:nvSpPr>
          <p:cNvPr id="9" name="feature-copy-66">
            <a:extLst xmlns:a="http://schemas.openxmlformats.org/drawingml/2006/main">
              <a:ext uri="{FF2B5EF4-FFF2-40B4-BE49-F238E27FC236}">
                <a16:creationId xmlns:a16="http://schemas.microsoft.com/office/drawing/2014/main" id="{E85D60E5-1E22-43C3-A16C-A0E36545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3219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Citizens speak naturally, review the transcript, and edit before sending.</a:t>
            </a:r>
          </a:p>
        </p:txBody>
      </p:sp>
      <p:sp>
        <p:nvSpPr>
          <p:cNvPr id="10" name="feature-label-67">
            <a:extLst xmlns:a="http://schemas.openxmlformats.org/drawingml/2006/main">
              <a:ext uri="{FF2B5EF4-FFF2-40B4-BE49-F238E27FC236}">
                <a16:creationId xmlns:a16="http://schemas.microsoft.com/office/drawing/2014/main" id="{13AC0D11-8229-49FB-B5D7-0B016E58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95775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MULTI-CASE CLASSIFICATION</a:t>
            </a:r>
          </a:p>
        </p:txBody>
      </p:sp>
      <p:sp>
        <p:nvSpPr>
          <p:cNvPr id="11" name="feature-copy-68">
            <a:extLst xmlns:a="http://schemas.openxmlformats.org/drawingml/2006/main">
              <a:ext uri="{FF2B5EF4-FFF2-40B4-BE49-F238E27FC236}">
                <a16:creationId xmlns:a16="http://schemas.microsoft.com/office/drawing/2014/main" id="{97AC1BC4-90E6-447B-A303-F817C22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32194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One session can combine out-of-wedlock, overdue, foreign-element, and exceptional cases.</a:t>
            </a:r>
          </a:p>
        </p:txBody>
      </p:sp>
      <p:sp>
        <p:nvSpPr>
          <p:cNvPr id="12" name="evidence-69">
            <a:extLst xmlns:a="http://schemas.openxmlformats.org/drawingml/2006/main">
              <a:ext uri="{FF2B5EF4-FFF2-40B4-BE49-F238E27FC236}">
                <a16:creationId xmlns:a16="http://schemas.microsoft.com/office/drawing/2014/main" id="{BB8A50EB-4B9D-47E4-B2B9-34902950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67375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LIVE DEMO · 19 JUL 2026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ef7b0ad8a411e"/>
          <a:srcRect xmlns:a="http://schemas.openxmlformats.org/drawingml/2006/main" l="5645" t="0" r="56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600200"/>
            <a:ext cx="690562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1179523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71">
            <a:extLst xmlns:a="http://schemas.openxmlformats.org/drawingml/2006/main">
              <a:ext uri="{FF2B5EF4-FFF2-40B4-BE49-F238E27FC236}">
                <a16:creationId xmlns:a16="http://schemas.microsoft.com/office/drawing/2014/main" id="{80A7A1F9-05C8-44E8-B549-E708D89E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2</a:t>
            </a:r>
          </a:p>
        </p:txBody>
      </p:sp>
      <p:sp>
        <p:nvSpPr>
          <p:cNvPr id="2" name="title-72">
            <a:extLst xmlns:a="http://schemas.openxmlformats.org/drawingml/2006/main">
              <a:ext uri="{FF2B5EF4-FFF2-40B4-BE49-F238E27FC236}">
                <a16:creationId xmlns:a16="http://schemas.microsoft.com/office/drawing/2014/main" id="{A0F6400C-445E-4395-A989-1265123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Pre-check catches what citizens and portals miss.</a:t>
            </a:r>
          </a:p>
        </p:txBody>
      </p:sp>
      <p:sp>
        <p:nvSpPr>
          <p:cNvPr id="3" name="footer-73">
            <a:extLst xmlns:a="http://schemas.openxmlformats.org/drawingml/2006/main">
              <a:ext uri="{FF2B5EF4-FFF2-40B4-BE49-F238E27FC236}">
                <a16:creationId xmlns:a16="http://schemas.microsoft.com/office/drawing/2014/main" id="{15539B3F-ACD7-4C46-AA97-E2F21179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74">
            <a:extLst xmlns:a="http://schemas.openxmlformats.org/drawingml/2006/main">
              <a:ext uri="{FF2B5EF4-FFF2-40B4-BE49-F238E27FC236}">
                <a16:creationId xmlns:a16="http://schemas.microsoft.com/office/drawing/2014/main" id="{B5490D13-E610-43CF-AA1A-AC5C0D57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live-number-75">
            <a:extLst xmlns:a="http://schemas.openxmlformats.org/drawingml/2006/main">
              <a:ext uri="{FF2B5EF4-FFF2-40B4-BE49-F238E27FC236}">
                <a16:creationId xmlns:a16="http://schemas.microsoft.com/office/drawing/2014/main" id="{F42C4859-6FB7-41AA-B745-7515B759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428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6" name="live-label-76">
            <a:extLst xmlns:a="http://schemas.openxmlformats.org/drawingml/2006/main">
              <a:ext uri="{FF2B5EF4-FFF2-40B4-BE49-F238E27FC236}">
                <a16:creationId xmlns:a16="http://schemas.microsoft.com/office/drawing/2014/main" id="{FD90BFAB-4F16-4186-9EC5-2E60A34F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errors caught in the live demo</a:t>
            </a:r>
          </a:p>
        </p:txBody>
      </p:sp>
      <p:sp>
        <p:nvSpPr>
          <p:cNvPr id="7" name="explanation-77">
            <a:extLst xmlns:a="http://schemas.openxmlformats.org/drawingml/2006/main">
              <a:ext uri="{FF2B5EF4-FFF2-40B4-BE49-F238E27FC236}">
                <a16:creationId xmlns:a16="http://schemas.microsoft.com/office/drawing/2014/main" id="{C8BF8673-A0AD-4B46-87C3-50285A3D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1051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Mandatory errors come from deterministic rules. AI only adds clearly separated warnings for uncertain exceptions.</a:t>
            </a:r>
          </a:p>
        </p:txBody>
      </p:sp>
      <p:sp>
        <p:nvSpPr>
          <p:cNvPr id="8" name="rule-78">
            <a:extLst xmlns:a="http://schemas.openxmlformats.org/drawingml/2006/main">
              <a:ext uri="{FF2B5EF4-FFF2-40B4-BE49-F238E27FC236}">
                <a16:creationId xmlns:a16="http://schemas.microsoft.com/office/drawing/2014/main" id="{9C1DC7B7-F701-40A9-8842-5BB41BAC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types-79">
            <a:extLst xmlns:a="http://schemas.openxmlformats.org/drawingml/2006/main">
              <a:ext uri="{FF2B5EF4-FFF2-40B4-BE49-F238E27FC236}">
                <a16:creationId xmlns:a16="http://schemas.microsoft.com/office/drawing/2014/main" id="{CA2EAD16-8F93-4E25-B7EE-9FA35FF0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3190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REQUIRED · CONDITIONAL · CROSS-FIELD</a:t>
            </a:r>
          </a:p>
        </p:txBody>
      </p:sp>
      <p:sp>
        <p:nvSpPr>
          <p:cNvPr id="10" name="rule-copy-80">
            <a:extLst xmlns:a="http://schemas.openxmlformats.org/drawingml/2006/main">
              <a:ext uri="{FF2B5EF4-FFF2-40B4-BE49-F238E27FC236}">
                <a16:creationId xmlns:a16="http://schemas.microsoft.com/office/drawing/2014/main" id="{3022C725-2770-47CC-89E3-3D62C10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304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Each issue includes a suggested fix and traceable legal basis.</a:t>
            </a:r>
          </a:p>
        </p:txBody>
      </p:sp>
      <p:sp>
        <p:nvSpPr>
          <p:cNvPr id="11" name="screenshot-frame-81">
            <a:extLst xmlns:a="http://schemas.openxmlformats.org/drawingml/2006/main">
              <a:ext uri="{FF2B5EF4-FFF2-40B4-BE49-F238E27FC236}">
                <a16:creationId xmlns:a16="http://schemas.microsoft.com/office/drawing/2014/main" id="{01851F77-E30D-4E9B-A3C5-BC74218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552575"/>
            <a:ext cx="75533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12f51ae424021"/>
          <a:srcRect xmlns:a="http://schemas.openxmlformats.org/drawingml/2006/main" l="2011" t="0" r="20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1609725"/>
            <a:ext cx="7439025" cy="4362450"/>
          </a:xfrm>
          <a:prstGeom xmlns:a="http://schemas.openxmlformats.org/drawingml/2006/main" prst="roundRect">
            <a:avLst>
              <a:gd name="adj" fmla="val 2620"/>
            </a:avLst>
          </a:prstGeom>
        </p:spPr>
      </p:pic>
    </p:spTree>
    <p:extLst>
      <p:ext uri="{BB962C8B-B14F-4D97-AF65-F5344CB8AC3E}">
        <p14:creationId xmlns:p14="http://schemas.microsoft.com/office/powerpoint/2010/main" val="90651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83">
            <a:extLst xmlns:a="http://schemas.openxmlformats.org/drawingml/2006/main">
              <a:ext uri="{FF2B5EF4-FFF2-40B4-BE49-F238E27FC236}">
                <a16:creationId xmlns:a16="http://schemas.microsoft.com/office/drawing/2014/main" id="{F5754A4D-8BF0-49F6-B8D0-F19F566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ACCURACY + SAFETY</a:t>
            </a:r>
          </a:p>
        </p:txBody>
      </p:sp>
      <p:sp>
        <p:nvSpPr>
          <p:cNvPr id="2" name="title-84">
            <a:extLst xmlns:a="http://schemas.openxmlformats.org/drawingml/2006/main">
              <a:ext uri="{FF2B5EF4-FFF2-40B4-BE49-F238E27FC236}">
                <a16:creationId xmlns:a16="http://schemas.microsoft.com/office/drawing/2014/main" id="{2DA1A63B-5270-4B1A-A553-25A164E1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Trust is engineered into the decision path.</a:t>
            </a:r>
          </a:p>
        </p:txBody>
      </p:sp>
      <p:sp>
        <p:nvSpPr>
          <p:cNvPr id="3" name="footer-85">
            <a:extLst xmlns:a="http://schemas.openxmlformats.org/drawingml/2006/main">
              <a:ext uri="{FF2B5EF4-FFF2-40B4-BE49-F238E27FC236}">
                <a16:creationId xmlns:a16="http://schemas.microsoft.com/office/drawing/2014/main" id="{3D020992-8676-45D4-B7BC-57B3C997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86">
            <a:extLst xmlns:a="http://schemas.openxmlformats.org/drawingml/2006/main">
              <a:ext uri="{FF2B5EF4-FFF2-40B4-BE49-F238E27FC236}">
                <a16:creationId xmlns:a16="http://schemas.microsoft.com/office/drawing/2014/main" id="{1EE38542-104E-4733-B6FC-2410CA45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lede-87">
            <a:extLst xmlns:a="http://schemas.openxmlformats.org/drawingml/2006/main">
              <a:ext uri="{FF2B5EF4-FFF2-40B4-BE49-F238E27FC236}">
                <a16:creationId xmlns:a16="http://schemas.microsoft.com/office/drawing/2014/main" id="{255DAF13-4D6B-41C3-B975-C91BBB56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AI interprets. Rules validate. Officers decide exceptions.</a:t>
            </a:r>
          </a:p>
        </p:txBody>
      </p:sp>
      <p:sp>
        <p:nvSpPr>
          <p:cNvPr id="6" name="rule-88">
            <a:extLst xmlns:a="http://schemas.openxmlformats.org/drawingml/2006/main">
              <a:ext uri="{FF2B5EF4-FFF2-40B4-BE49-F238E27FC236}">
                <a16:creationId xmlns:a16="http://schemas.microsoft.com/office/drawing/2014/main" id="{9EFFB599-7333-46A7-BD05-EB850229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741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ust-panel-89">
            <a:extLst xmlns:a="http://schemas.openxmlformats.org/drawingml/2006/main">
              <a:ext uri="{FF2B5EF4-FFF2-40B4-BE49-F238E27FC236}">
                <a16:creationId xmlns:a16="http://schemas.microsoft.com/office/drawing/2014/main" id="{CFCC3DFE-7833-4555-BC89-0D941B48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ust-panel-90">
            <a:extLst xmlns:a="http://schemas.openxmlformats.org/drawingml/2006/main">
              <a:ext uri="{FF2B5EF4-FFF2-40B4-BE49-F238E27FC236}">
                <a16:creationId xmlns:a16="http://schemas.microsoft.com/office/drawing/2014/main" id="{8A65B0FB-00C7-4ADF-8E54-48C6535A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trust-panel-91">
            <a:extLst xmlns:a="http://schemas.openxmlformats.org/drawingml/2006/main">
              <a:ext uri="{FF2B5EF4-FFF2-40B4-BE49-F238E27FC236}">
                <a16:creationId xmlns:a16="http://schemas.microsoft.com/office/drawing/2014/main" id="{79899D2E-CED8-4D33-BA92-F68C1575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10" name="arrow-node-92">
            <a:extLst xmlns:a="http://schemas.openxmlformats.org/drawingml/2006/main">
              <a:ext uri="{FF2B5EF4-FFF2-40B4-BE49-F238E27FC236}">
                <a16:creationId xmlns:a16="http://schemas.microsoft.com/office/drawing/2014/main" id="{F2C8CB65-E4E5-42D9-8203-ED3602AB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-node-93">
            <a:extLst xmlns:a="http://schemas.openxmlformats.org/drawingml/2006/main">
              <a:ext uri="{FF2B5EF4-FFF2-40B4-BE49-F238E27FC236}">
                <a16:creationId xmlns:a16="http://schemas.microsoft.com/office/drawing/2014/main" id="{B4B10206-52E2-476E-808F-BEC4C3EB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row-94">
            <a:extLst xmlns:a="http://schemas.openxmlformats.org/drawingml/2006/main">
              <a:ext uri="{FF2B5EF4-FFF2-40B4-BE49-F238E27FC236}">
                <a16:creationId xmlns:a16="http://schemas.microsoft.com/office/drawing/2014/main" id="{E6979B83-318A-4934-954B-209639A0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3" name="arrow-95">
            <a:extLst xmlns:a="http://schemas.openxmlformats.org/drawingml/2006/main">
              <a:ext uri="{FF2B5EF4-FFF2-40B4-BE49-F238E27FC236}">
                <a16:creationId xmlns:a16="http://schemas.microsoft.com/office/drawing/2014/main" id="{8E22F340-64F9-4F91-BB22-FC4A7785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19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layer-label-96">
            <a:extLst xmlns:a="http://schemas.openxmlformats.org/drawingml/2006/main">
              <a:ext uri="{FF2B5EF4-FFF2-40B4-BE49-F238E27FC236}">
                <a16:creationId xmlns:a16="http://schemas.microsoft.com/office/drawing/2014/main" id="{D361DB1C-E907-4637-8DD8-61CC0499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 · AI LAYER</a:t>
            </a:r>
          </a:p>
        </p:txBody>
      </p:sp>
      <p:sp>
        <p:nvSpPr>
          <p:cNvPr id="15" name="layer-title-97">
            <a:extLst xmlns:a="http://schemas.openxmlformats.org/drawingml/2006/main">
              <a:ext uri="{FF2B5EF4-FFF2-40B4-BE49-F238E27FC236}">
                <a16:creationId xmlns:a16="http://schemas.microsoft.com/office/drawing/2014/main" id="{873C5325-F58A-4122-8CFF-C2D08AF7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Understand
the situation</a:t>
            </a:r>
          </a:p>
        </p:txBody>
      </p:sp>
      <p:sp>
        <p:nvSpPr>
          <p:cNvPr id="16" name="layer-copy-98">
            <a:extLst xmlns:a="http://schemas.openxmlformats.org/drawingml/2006/main">
              <a:ext uri="{FF2B5EF4-FFF2-40B4-BE49-F238E27FC236}">
                <a16:creationId xmlns:a16="http://schemas.microsoft.com/office/drawing/2014/main" id="{AD349CE2-C508-4D10-9E3B-01F83DD5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Extract facts, classify cases, and explain the next step in plain Vietnamese.</a:t>
            </a:r>
          </a:p>
        </p:txBody>
      </p:sp>
      <p:sp>
        <p:nvSpPr>
          <p:cNvPr id="17" name="layer-label-99">
            <a:extLst xmlns:a="http://schemas.openxmlformats.org/drawingml/2006/main">
              <a:ext uri="{FF2B5EF4-FFF2-40B4-BE49-F238E27FC236}">
                <a16:creationId xmlns:a16="http://schemas.microsoft.com/office/drawing/2014/main" id="{F0F2DB11-8FA5-4BD6-9730-176E24A7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 · RULE LAYER</a:t>
            </a:r>
          </a:p>
        </p:txBody>
      </p:sp>
      <p:sp>
        <p:nvSpPr>
          <p:cNvPr id="18" name="layer-title-100">
            <a:extLst xmlns:a="http://schemas.openxmlformats.org/drawingml/2006/main">
              <a:ext uri="{FF2B5EF4-FFF2-40B4-BE49-F238E27FC236}">
                <a16:creationId xmlns:a16="http://schemas.microsoft.com/office/drawing/2014/main" id="{3F337314-76BC-405B-925A-AF63033A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Validate
what matters</a:t>
            </a:r>
          </a:p>
        </p:txBody>
      </p:sp>
      <p:sp>
        <p:nvSpPr>
          <p:cNvPr id="19" name="layer-copy-101">
            <a:extLst xmlns:a="http://schemas.openxmlformats.org/drawingml/2006/main">
              <a:ext uri="{FF2B5EF4-FFF2-40B4-BE49-F238E27FC236}">
                <a16:creationId xmlns:a16="http://schemas.microsoft.com/office/drawing/2014/main" id="{6645410C-B721-41F0-8009-E1A2801F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Versioned checklists, validation rules, documents, and legal references live in the backend.</a:t>
            </a:r>
          </a:p>
        </p:txBody>
      </p:sp>
      <p:sp>
        <p:nvSpPr>
          <p:cNvPr id="20" name="layer-label-102">
            <a:extLst xmlns:a="http://schemas.openxmlformats.org/drawingml/2006/main">
              <a:ext uri="{FF2B5EF4-FFF2-40B4-BE49-F238E27FC236}">
                <a16:creationId xmlns:a16="http://schemas.microsoft.com/office/drawing/2014/main" id="{CD156DB0-F4D6-4F24-9232-8E29343A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03 · HUMAN LAYER</a:t>
            </a:r>
          </a:p>
        </p:txBody>
      </p:sp>
      <p:sp>
        <p:nvSpPr>
          <p:cNvPr id="21" name="layer-title-103">
            <a:extLst xmlns:a="http://schemas.openxmlformats.org/drawingml/2006/main">
              <a:ext uri="{FF2B5EF4-FFF2-40B4-BE49-F238E27FC236}">
                <a16:creationId xmlns:a16="http://schemas.microsoft.com/office/drawing/2014/main" id="{C736C223-55DE-431D-9FCD-886FDF2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Handle
exceptions</a:t>
            </a:r>
          </a:p>
        </p:txBody>
      </p:sp>
      <p:sp>
        <p:nvSpPr>
          <p:cNvPr id="22" name="layer-copy-104">
            <a:extLst xmlns:a="http://schemas.openxmlformats.org/drawingml/2006/main">
              <a:ext uri="{FF2B5EF4-FFF2-40B4-BE49-F238E27FC236}">
                <a16:creationId xmlns:a16="http://schemas.microsoft.com/office/drawing/2014/main" id="{0F3646A0-48F6-4682-9BEA-DEF370C5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Rare, conflicting, or uncertain cases are escalated for civil-status officer confirmation.</a:t>
            </a:r>
          </a:p>
        </p:txBody>
      </p:sp>
      <p:sp>
        <p:nvSpPr>
          <p:cNvPr id="23" name="source-band-105">
            <a:extLst xmlns:a="http://schemas.openxmlformats.org/drawingml/2006/main">
              <a:ext uri="{FF2B5EF4-FFF2-40B4-BE49-F238E27FC236}">
                <a16:creationId xmlns:a16="http://schemas.microsoft.com/office/drawing/2014/main" id="{08925396-E27E-456B-9E29-D4AB4778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copy-106">
            <a:extLst xmlns:a="http://schemas.openxmlformats.org/drawingml/2006/main">
              <a:ext uri="{FF2B5EF4-FFF2-40B4-BE49-F238E27FC236}">
                <a16:creationId xmlns:a16="http://schemas.microsoft.com/office/drawing/2014/main" id="{1D1D2EF5-149F-4AA3-AE8F-FC985C1C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48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06 official National Public Service Portal links are exposed by the live /trust endpoint for direct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080608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08">
            <a:extLst xmlns:a="http://schemas.openxmlformats.org/drawingml/2006/main">
              <a:ext uri="{FF2B5EF4-FFF2-40B4-BE49-F238E27FC236}">
                <a16:creationId xmlns:a16="http://schemas.microsoft.com/office/drawing/2014/main" id="{EF03973C-9B5B-40A5-AD09-5E065204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SYSTEM DESIGN</a:t>
            </a:r>
          </a:p>
        </p:txBody>
      </p:sp>
      <p:sp>
        <p:nvSpPr>
          <p:cNvPr id="2" name="title-109">
            <a:extLst xmlns:a="http://schemas.openxmlformats.org/drawingml/2006/main">
              <a:ext uri="{FF2B5EF4-FFF2-40B4-BE49-F238E27FC236}">
                <a16:creationId xmlns:a16="http://schemas.microsoft.com/office/drawing/2014/main" id="{83D3E4D1-F0C2-4009-8062-21979A46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production-shaped architecture, not a mockup.</a:t>
            </a:r>
          </a:p>
        </p:txBody>
      </p:sp>
      <p:sp>
        <p:nvSpPr>
          <p:cNvPr id="3" name="footer-110">
            <a:extLst xmlns:a="http://schemas.openxmlformats.org/drawingml/2006/main">
              <a:ext uri="{FF2B5EF4-FFF2-40B4-BE49-F238E27FC236}">
                <a16:creationId xmlns:a16="http://schemas.microsoft.com/office/drawing/2014/main" id="{FF74C9BC-B383-4FA4-8D7E-757925A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11">
            <a:extLst xmlns:a="http://schemas.openxmlformats.org/drawingml/2006/main">
              <a:ext uri="{FF2B5EF4-FFF2-40B4-BE49-F238E27FC236}">
                <a16:creationId xmlns:a16="http://schemas.microsoft.com/office/drawing/2014/main" id="{DC0CFE0B-5B17-49BD-BA2D-D9D729A2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architecture-frame-112">
            <a:extLst xmlns:a="http://schemas.openxmlformats.org/drawingml/2006/main">
              <a:ext uri="{FF2B5EF4-FFF2-40B4-BE49-F238E27FC236}">
                <a16:creationId xmlns:a16="http://schemas.microsoft.com/office/drawing/2014/main" id="{886EA0A4-41DD-4BA6-A6FF-55578DA0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" name="stack-label-113">
            <a:extLst xmlns:a="http://schemas.openxmlformats.org/drawingml/2006/main">
              <a:ext uri="{FF2B5EF4-FFF2-40B4-BE49-F238E27FC236}">
                <a16:creationId xmlns:a16="http://schemas.microsoft.com/office/drawing/2014/main" id="{57A0CF1F-5C08-47B5-AE53-D5159272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CITIZEN + OFFICER UX</a:t>
            </a:r>
          </a:p>
        </p:txBody>
      </p:sp>
      <p:sp>
        <p:nvSpPr>
          <p:cNvPr id="7" name="stack-value-114">
            <a:extLst xmlns:a="http://schemas.openxmlformats.org/drawingml/2006/main">
              <a:ext uri="{FF2B5EF4-FFF2-40B4-BE49-F238E27FC236}">
                <a16:creationId xmlns:a16="http://schemas.microsoft.com/office/drawing/2014/main" id="{43C53335-C1C6-4A0B-8927-B1A4965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Next.js 16 · Tailwind CSS 4</a:t>
            </a:r>
          </a:p>
        </p:txBody>
      </p:sp>
      <p:sp>
        <p:nvSpPr>
          <p:cNvPr id="8" name="rule-115">
            <a:extLst xmlns:a="http://schemas.openxmlformats.org/drawingml/2006/main">
              <a:ext uri="{FF2B5EF4-FFF2-40B4-BE49-F238E27FC236}">
                <a16:creationId xmlns:a16="http://schemas.microsoft.com/office/drawing/2014/main" id="{FF5B8201-18F5-4DE6-A865-D10BAF5F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ck-label-116">
            <a:extLst xmlns:a="http://schemas.openxmlformats.org/drawingml/2006/main">
              <a:ext uri="{FF2B5EF4-FFF2-40B4-BE49-F238E27FC236}">
                <a16:creationId xmlns:a16="http://schemas.microsoft.com/office/drawing/2014/main" id="{5507CD55-0046-4501-9A18-509C9C09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TRUSTED SERVICE LAYER</a:t>
            </a:r>
          </a:p>
        </p:txBody>
      </p:sp>
      <p:sp>
        <p:nvSpPr>
          <p:cNvPr id="10" name="stack-value-117">
            <a:extLst xmlns:a="http://schemas.openxmlformats.org/drawingml/2006/main">
              <a:ext uri="{FF2B5EF4-FFF2-40B4-BE49-F238E27FC236}">
                <a16:creationId xmlns:a16="http://schemas.microsoft.com/office/drawing/2014/main" id="{BFBD8357-DC89-4BA8-A812-D7760EBC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FastAPI · SQLAlchemy · rule engine · PDF</a:t>
            </a:r>
          </a:p>
        </p:txBody>
      </p:sp>
      <p:sp>
        <p:nvSpPr>
          <p:cNvPr id="11" name="rule-118">
            <a:extLst xmlns:a="http://schemas.openxmlformats.org/drawingml/2006/main">
              <a:ext uri="{FF2B5EF4-FFF2-40B4-BE49-F238E27FC236}">
                <a16:creationId xmlns:a16="http://schemas.microsoft.com/office/drawing/2014/main" id="{2359285F-CF46-4878-BC4C-DA60E5A1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9975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ck-label-119">
            <a:extLst xmlns:a="http://schemas.openxmlformats.org/drawingml/2006/main">
              <a:ext uri="{FF2B5EF4-FFF2-40B4-BE49-F238E27FC236}">
                <a16:creationId xmlns:a16="http://schemas.microsoft.com/office/drawing/2014/main" id="{0BC747BC-941A-4837-BF0B-DB1BE31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EVIDENCE + AI</a:t>
            </a:r>
          </a:p>
        </p:txBody>
      </p:sp>
      <p:sp>
        <p:nvSpPr>
          <p:cNvPr id="13" name="stack-value-120">
            <a:extLst xmlns:a="http://schemas.openxmlformats.org/drawingml/2006/main">
              <a:ext uri="{FF2B5EF4-FFF2-40B4-BE49-F238E27FC236}">
                <a16:creationId xmlns:a16="http://schemas.microsoft.com/office/drawing/2014/main" id="{EC876D7A-4B9C-481F-9C28-26AB199E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24325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Neon Postgres · official sources · OpenAI API</a:t>
            </a:r>
          </a:p>
        </p:txBody>
      </p:sp>
      <p:sp>
        <p:nvSpPr>
          <p:cNvPr id="14" name="models-121">
            <a:extLst xmlns:a="http://schemas.openxmlformats.org/drawingml/2006/main">
              <a:ext uri="{FF2B5EF4-FFF2-40B4-BE49-F238E27FC236}">
                <a16:creationId xmlns:a16="http://schemas.microsoft.com/office/drawing/2014/main" id="{A8E13CAB-36C8-4096-BB66-32F42594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219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els-label-122">
            <a:extLst xmlns:a="http://schemas.openxmlformats.org/drawingml/2006/main">
              <a:ext uri="{FF2B5EF4-FFF2-40B4-BE49-F238E27FC236}">
                <a16:creationId xmlns:a16="http://schemas.microsoft.com/office/drawing/2014/main" id="{05E9DB61-C545-41D3-BCAE-B7560337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95850"/>
            <a:ext cx="2762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MODELS</a:t>
            </a:r>
          </a:p>
        </p:txBody>
      </p:sp>
      <p:sp>
        <p:nvSpPr>
          <p:cNvPr id="16" name="models-copy-123">
            <a:extLst xmlns:a="http://schemas.openxmlformats.org/drawingml/2006/main">
              <a:ext uri="{FF2B5EF4-FFF2-40B4-BE49-F238E27FC236}">
                <a16:creationId xmlns:a16="http://schemas.microsoft.com/office/drawing/2014/main" id="{323F0588-08AC-44BA-95BE-60B57766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62550"/>
            <a:ext cx="2762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gpt-4.1-mini · classification + conversation
gpt-4o-transcribe · Vietnamese speech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9a31b2f2a41b0"/>
          <a:stretch xmlns:a="http://schemas.openxmlformats.org/drawingml/2006/main"/>
        </p:blipFill>
        <p:spPr>
          <a:xfrm xmlns:a="http://schemas.openxmlformats.org/drawingml/2006/main">
            <a:off x="727968" y="1657350"/>
            <a:ext cx="6887963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</p:spTree>
    <p:extLst>
      <p:ext uri="{BB962C8B-B14F-4D97-AF65-F5344CB8AC3E}">
        <p14:creationId xmlns:p14="http://schemas.microsoft.com/office/powerpoint/2010/main" val="1512780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125">
            <a:extLst xmlns:a="http://schemas.openxmlformats.org/drawingml/2006/main">
              <a:ext uri="{FF2B5EF4-FFF2-40B4-BE49-F238E27FC236}">
                <a16:creationId xmlns:a16="http://schemas.microsoft.com/office/drawing/2014/main" id="{68AB172B-8554-43D4-BC9C-47090719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3</a:t>
            </a:r>
          </a:p>
        </p:txBody>
      </p:sp>
      <p:sp>
        <p:nvSpPr>
          <p:cNvPr id="2" name="title-126">
            <a:extLst xmlns:a="http://schemas.openxmlformats.org/drawingml/2006/main">
              <a:ext uri="{FF2B5EF4-FFF2-40B4-BE49-F238E27FC236}">
                <a16:creationId xmlns:a16="http://schemas.microsoft.com/office/drawing/2014/main" id="{F67DBF32-EDD4-42FF-A489-E3E0E171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Built for current portals—not another app.</a:t>
            </a:r>
          </a:p>
        </p:txBody>
      </p:sp>
      <p:sp>
        <p:nvSpPr>
          <p:cNvPr id="3" name="footer-127">
            <a:extLst xmlns:a="http://schemas.openxmlformats.org/drawingml/2006/main">
              <a:ext uri="{FF2B5EF4-FFF2-40B4-BE49-F238E27FC236}">
                <a16:creationId xmlns:a16="http://schemas.microsoft.com/office/drawing/2014/main" id="{2B6FE9B7-F440-4839-B60B-4B2BD983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28">
            <a:extLst xmlns:a="http://schemas.openxmlformats.org/drawingml/2006/main">
              <a:ext uri="{FF2B5EF4-FFF2-40B4-BE49-F238E27FC236}">
                <a16:creationId xmlns:a16="http://schemas.microsoft.com/office/drawing/2014/main" id="{55648BC5-9C2D-4C9F-8875-BBD892AC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lede-129">
            <a:extLst xmlns:a="http://schemas.openxmlformats.org/drawingml/2006/main">
              <a:ext uri="{FF2B5EF4-FFF2-40B4-BE49-F238E27FC236}">
                <a16:creationId xmlns:a16="http://schemas.microsoft.com/office/drawing/2014/main" id="{F9685D7D-DF0C-451D-A46A-144ADCB0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Embed the same trusted workflow through an API, widget, or chatbot while keeping data and AI keys server-side.</a:t>
            </a:r>
          </a:p>
        </p:txBody>
      </p:sp>
      <p:sp>
        <p:nvSpPr>
          <p:cNvPr id="6" name="integration-claim-130">
            <a:extLst xmlns:a="http://schemas.openxmlformats.org/drawingml/2006/main">
              <a:ext uri="{FF2B5EF4-FFF2-40B4-BE49-F238E27FC236}">
                <a16:creationId xmlns:a16="http://schemas.microsoft.com/office/drawing/2014/main" id="{A2512B2B-EBD2-44F0-BB2A-C1CD673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3714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Drop-in
integration</a:t>
            </a:r>
          </a:p>
        </p:txBody>
      </p:sp>
      <p:sp>
        <p:nvSpPr>
          <p:cNvPr id="7" name="mode-131">
            <a:extLst xmlns:a="http://schemas.openxmlformats.org/drawingml/2006/main">
              <a:ext uri="{FF2B5EF4-FFF2-40B4-BE49-F238E27FC236}">
                <a16:creationId xmlns:a16="http://schemas.microsoft.com/office/drawing/2014/main" id="{07C0F315-7601-4E64-9622-B9D96377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1028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API</a:t>
            </a:r>
          </a:p>
        </p:txBody>
      </p:sp>
      <p:sp>
        <p:nvSpPr>
          <p:cNvPr id="8" name="mode-132">
            <a:extLst xmlns:a="http://schemas.openxmlformats.org/drawingml/2006/main">
              <a:ext uri="{FF2B5EF4-FFF2-40B4-BE49-F238E27FC236}">
                <a16:creationId xmlns:a16="http://schemas.microsoft.com/office/drawing/2014/main" id="{A22E2D14-3E06-42A4-8BE6-CF1C81F2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2076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Portal widget</a:t>
            </a:r>
          </a:p>
        </p:txBody>
      </p:sp>
      <p:sp>
        <p:nvSpPr>
          <p:cNvPr id="9" name="mode-133">
            <a:extLst xmlns:a="http://schemas.openxmlformats.org/drawingml/2006/main">
              <a:ext uri="{FF2B5EF4-FFF2-40B4-BE49-F238E27FC236}">
                <a16:creationId xmlns:a16="http://schemas.microsoft.com/office/drawing/2014/main" id="{1DCE9920-DDFA-4CF5-B981-D1C9807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Chatbot</a:t>
            </a:r>
          </a:p>
        </p:txBody>
      </p:sp>
      <p:sp>
        <p:nvSpPr>
          <p:cNvPr id="10" name="integration-note-134">
            <a:extLst xmlns:a="http://schemas.openxmlformats.org/drawingml/2006/main">
              <a:ext uri="{FF2B5EF4-FFF2-40B4-BE49-F238E27FC236}">
                <a16:creationId xmlns:a16="http://schemas.microsoft.com/office/drawing/2014/main" id="{5010BB04-ADC9-48A2-8348-21ED5EFA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One backend contract. Multiple citizen touchpoints.</a:t>
            </a:r>
          </a:p>
        </p:txBody>
      </p:sp>
      <p:sp>
        <p:nvSpPr>
          <p:cNvPr id="11" name="api-panel-135">
            <a:extLst xmlns:a="http://schemas.openxmlformats.org/drawingml/2006/main">
              <a:ext uri="{FF2B5EF4-FFF2-40B4-BE49-F238E27FC236}">
                <a16:creationId xmlns:a16="http://schemas.microsoft.com/office/drawing/2014/main" id="{6582DACF-D523-4D97-96B6-FF29D522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05025"/>
            <a:ext cx="6772275" cy="3971925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i-label-136">
            <a:extLst xmlns:a="http://schemas.openxmlformats.org/drawingml/2006/main">
              <a:ext uri="{FF2B5EF4-FFF2-40B4-BE49-F238E27FC236}">
                <a16:creationId xmlns:a16="http://schemas.microsoft.com/office/drawing/2014/main" id="{08211A8F-A7A9-4DC6-A1CE-B3C9A16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9825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CORE API</a:t>
            </a:r>
          </a:p>
        </p:txBody>
      </p:sp>
      <p:sp>
        <p:nvSpPr>
          <p:cNvPr id="13" name="rule-137">
            <a:extLst xmlns:a="http://schemas.openxmlformats.org/drawingml/2006/main">
              <a:ext uri="{FF2B5EF4-FFF2-40B4-BE49-F238E27FC236}">
                <a16:creationId xmlns:a16="http://schemas.microsoft.com/office/drawing/2014/main" id="{0B6D1177-EB43-40C8-A607-2E587DF8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62250"/>
            <a:ext cx="6067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erb-138">
            <a:extLst xmlns:a="http://schemas.openxmlformats.org/drawingml/2006/main">
              <a:ext uri="{FF2B5EF4-FFF2-40B4-BE49-F238E27FC236}">
                <a16:creationId xmlns:a16="http://schemas.microsoft.com/office/drawing/2014/main" id="{0D9E4C8D-F7A1-426E-A7D3-125C9CE4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15" name="endpoint-139">
            <a:extLst xmlns:a="http://schemas.openxmlformats.org/drawingml/2006/main">
              <a:ext uri="{FF2B5EF4-FFF2-40B4-BE49-F238E27FC236}">
                <a16:creationId xmlns:a16="http://schemas.microsoft.com/office/drawing/2014/main" id="{42DE18F5-2511-4EF0-922F-3DE3E110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/sessions</a:t>
            </a:r>
          </a:p>
        </p:txBody>
      </p:sp>
      <p:sp>
        <p:nvSpPr>
          <p:cNvPr id="16" name="verb-140">
            <a:extLst xmlns:a="http://schemas.openxmlformats.org/drawingml/2006/main">
              <a:ext uri="{FF2B5EF4-FFF2-40B4-BE49-F238E27FC236}">
                <a16:creationId xmlns:a16="http://schemas.microsoft.com/office/drawing/2014/main" id="{AFD61CED-2A4B-4762-BF53-0CC84F98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9567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17" name="endpoint-141">
            <a:extLst xmlns:a="http://schemas.openxmlformats.org/drawingml/2006/main">
              <a:ext uri="{FF2B5EF4-FFF2-40B4-BE49-F238E27FC236}">
                <a16:creationId xmlns:a16="http://schemas.microsoft.com/office/drawing/2014/main" id="{E3E013BC-BFBD-4EE4-9E67-8FA152DC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9567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/intake/message</a:t>
            </a:r>
          </a:p>
        </p:txBody>
      </p:sp>
      <p:sp>
        <p:nvSpPr>
          <p:cNvPr id="18" name="verb-142">
            <a:extLst xmlns:a="http://schemas.openxmlformats.org/drawingml/2006/main">
              <a:ext uri="{FF2B5EF4-FFF2-40B4-BE49-F238E27FC236}">
                <a16:creationId xmlns:a16="http://schemas.microsoft.com/office/drawing/2014/main" id="{B393F14B-AD06-43FD-B471-4E42C441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19" name="endpoint-143">
            <a:extLst xmlns:a="http://schemas.openxmlformats.org/drawingml/2006/main">
              <a:ext uri="{FF2B5EF4-FFF2-40B4-BE49-F238E27FC236}">
                <a16:creationId xmlns:a16="http://schemas.microsoft.com/office/drawing/2014/main" id="{78392309-2128-42E9-926C-5031E78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/checklist/{session_id}</a:t>
            </a:r>
          </a:p>
        </p:txBody>
      </p:sp>
      <p:sp>
        <p:nvSpPr>
          <p:cNvPr id="20" name="verb-144">
            <a:extLst xmlns:a="http://schemas.openxmlformats.org/drawingml/2006/main">
              <a:ext uri="{FF2B5EF4-FFF2-40B4-BE49-F238E27FC236}">
                <a16:creationId xmlns:a16="http://schemas.microsoft.com/office/drawing/2014/main" id="{BDF22487-8C72-4B8C-881E-82029C7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2912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21" name="endpoint-145">
            <a:extLst xmlns:a="http://schemas.openxmlformats.org/drawingml/2006/main">
              <a:ext uri="{FF2B5EF4-FFF2-40B4-BE49-F238E27FC236}">
                <a16:creationId xmlns:a16="http://schemas.microsoft.com/office/drawing/2014/main" id="{B4E1CC3B-F831-4F07-A052-67D0DAC0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/precheck</a:t>
            </a:r>
          </a:p>
        </p:txBody>
      </p:sp>
      <p:sp>
        <p:nvSpPr>
          <p:cNvPr id="22" name="verb-146">
            <a:extLst xmlns:a="http://schemas.openxmlformats.org/drawingml/2006/main">
              <a:ext uri="{FF2B5EF4-FFF2-40B4-BE49-F238E27FC236}">
                <a16:creationId xmlns:a16="http://schemas.microsoft.com/office/drawing/2014/main" id="{89AC95D9-66BE-43F0-B3F4-B3B1E023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958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23" name="endpoint-147">
            <a:extLst xmlns:a="http://schemas.openxmlformats.org/drawingml/2006/main">
              <a:ext uri="{FF2B5EF4-FFF2-40B4-BE49-F238E27FC236}">
                <a16:creationId xmlns:a16="http://schemas.microsoft.com/office/drawing/2014/main" id="{05C98846-6368-411E-922F-3DB7DB02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958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/sessions/{id}/birth-registration.pdf</a:t>
            </a:r>
          </a:p>
        </p:txBody>
      </p:sp>
      <p:sp>
        <p:nvSpPr>
          <p:cNvPr id="24" name="verb-148">
            <a:extLst xmlns:a="http://schemas.openxmlformats.org/drawingml/2006/main">
              <a:ext uri="{FF2B5EF4-FFF2-40B4-BE49-F238E27FC236}">
                <a16:creationId xmlns:a16="http://schemas.microsoft.com/office/drawing/2014/main" id="{3EED79A0-EE1E-4ECC-AC34-CF427D97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6257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25" name="endpoint-149">
            <a:extLst xmlns:a="http://schemas.openxmlformats.org/drawingml/2006/main">
              <a:ext uri="{FF2B5EF4-FFF2-40B4-BE49-F238E27FC236}">
                <a16:creationId xmlns:a16="http://schemas.microsoft.com/office/drawing/2014/main" id="{F9F04847-2A21-4300-B69A-F7791D76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6257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/trust</a:t>
            </a:r>
          </a:p>
        </p:txBody>
      </p:sp>
    </p:spTree>
    <p:extLst>
      <p:ext uri="{BB962C8B-B14F-4D97-AF65-F5344CB8AC3E}">
        <p14:creationId xmlns:p14="http://schemas.microsoft.com/office/powerpoint/2010/main" val="1987910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51">
            <a:extLst xmlns:a="http://schemas.openxmlformats.org/drawingml/2006/main">
              <a:ext uri="{FF2B5EF4-FFF2-40B4-BE49-F238E27FC236}">
                <a16:creationId xmlns:a16="http://schemas.microsoft.com/office/drawing/2014/main" id="{86BCEBF8-0241-4CC6-B1A9-879C25E9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WORKING PRODUCT</a:t>
            </a:r>
          </a:p>
        </p:txBody>
      </p:sp>
      <p:sp>
        <p:nvSpPr>
          <p:cNvPr id="2" name="title-152">
            <a:extLst xmlns:a="http://schemas.openxmlformats.org/drawingml/2006/main">
              <a:ext uri="{FF2B5EF4-FFF2-40B4-BE49-F238E27FC236}">
                <a16:creationId xmlns:a16="http://schemas.microsoft.com/office/drawing/2014/main" id="{35BA5020-180B-4BCB-AF7F-6D07E0EA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Already live. Already end-to-end.</a:t>
            </a:r>
          </a:p>
        </p:txBody>
      </p:sp>
      <p:sp>
        <p:nvSpPr>
          <p:cNvPr id="3" name="footer-153">
            <a:extLst xmlns:a="http://schemas.openxmlformats.org/drawingml/2006/main">
              <a:ext uri="{FF2B5EF4-FFF2-40B4-BE49-F238E27FC236}">
                <a16:creationId xmlns:a16="http://schemas.microsoft.com/office/drawing/2014/main" id="{D795F854-76E1-4E58-8C22-015083AB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54">
            <a:extLst xmlns:a="http://schemas.openxmlformats.org/drawingml/2006/main">
              <a:ext uri="{FF2B5EF4-FFF2-40B4-BE49-F238E27FC236}">
                <a16:creationId xmlns:a16="http://schemas.microsoft.com/office/drawing/2014/main" id="{A9CE18CE-92A0-42BD-BA67-D9BAC173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proof-line-155">
            <a:extLst xmlns:a="http://schemas.openxmlformats.org/drawingml/2006/main">
              <a:ext uri="{FF2B5EF4-FFF2-40B4-BE49-F238E27FC236}">
                <a16:creationId xmlns:a16="http://schemas.microsoft.com/office/drawing/2014/main" id="{14BA4175-FFCA-4F34-B0A2-AD40161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Public URL · real backend · real guidance · real pre-check · real PDF output</a:t>
            </a:r>
          </a:p>
        </p:txBody>
      </p:sp>
      <p:sp>
        <p:nvSpPr>
          <p:cNvPr id="6" name="proof-frame-156">
            <a:extLst xmlns:a="http://schemas.openxmlformats.org/drawingml/2006/main">
              <a:ext uri="{FF2B5EF4-FFF2-40B4-BE49-F238E27FC236}">
                <a16:creationId xmlns:a16="http://schemas.microsoft.com/office/drawing/2014/main" id="{67D81C23-638D-40E7-B4D6-913589AF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3718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of-frame-157">
            <a:extLst xmlns:a="http://schemas.openxmlformats.org/drawingml/2006/main">
              <a:ext uri="{FF2B5EF4-FFF2-40B4-BE49-F238E27FC236}">
                <a16:creationId xmlns:a16="http://schemas.microsoft.com/office/drawing/2014/main" id="{F9EE4158-5930-4B39-80A5-C02F59D7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0250"/>
            <a:ext cx="33718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of-frame-158">
            <a:extLst xmlns:a="http://schemas.openxmlformats.org/drawingml/2006/main">
              <a:ext uri="{FF2B5EF4-FFF2-40B4-BE49-F238E27FC236}">
                <a16:creationId xmlns:a16="http://schemas.microsoft.com/office/drawing/2014/main" id="{8D4A99C3-DDD6-439E-B239-381B1C7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3718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of-label-159">
            <a:extLst xmlns:a="http://schemas.openxmlformats.org/drawingml/2006/main">
              <a:ext uri="{FF2B5EF4-FFF2-40B4-BE49-F238E27FC236}">
                <a16:creationId xmlns:a16="http://schemas.microsoft.com/office/drawing/2014/main" id="{F1E3CFD2-5626-45B1-A532-5953D960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3371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01 · UNDERSTAND</a:t>
            </a:r>
          </a:p>
        </p:txBody>
      </p:sp>
      <p:sp>
        <p:nvSpPr>
          <p:cNvPr id="10" name="proof-caption-160">
            <a:extLst xmlns:a="http://schemas.openxmlformats.org/drawingml/2006/main">
              <a:ext uri="{FF2B5EF4-FFF2-40B4-BE49-F238E27FC236}">
                <a16:creationId xmlns:a16="http://schemas.microsoft.com/office/drawing/2014/main" id="{345C1E92-5A74-4102-9F1D-A5623BC0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clear, citizen-first entry point</a:t>
            </a:r>
          </a:p>
        </p:txBody>
      </p:sp>
      <p:sp>
        <p:nvSpPr>
          <p:cNvPr id="11" name="proof-label-161">
            <a:extLst xmlns:a="http://schemas.openxmlformats.org/drawingml/2006/main">
              <a:ext uri="{FF2B5EF4-FFF2-40B4-BE49-F238E27FC236}">
                <a16:creationId xmlns:a16="http://schemas.microsoft.com/office/drawing/2014/main" id="{83E06218-91B1-4921-A555-5E875BB3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48300"/>
            <a:ext cx="3371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 · PREPARE</a:t>
            </a:r>
          </a:p>
        </p:txBody>
      </p:sp>
      <p:sp>
        <p:nvSpPr>
          <p:cNvPr id="12" name="proof-caption-162">
            <a:extLst xmlns:a="http://schemas.openxmlformats.org/drawingml/2006/main">
              <a:ext uri="{FF2B5EF4-FFF2-40B4-BE49-F238E27FC236}">
                <a16:creationId xmlns:a16="http://schemas.microsoft.com/office/drawing/2014/main" id="{3F89E837-6B36-4D81-9177-4C0DCF49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743575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Progressive form + case context</a:t>
            </a:r>
          </a:p>
        </p:txBody>
      </p:sp>
      <p:sp>
        <p:nvSpPr>
          <p:cNvPr id="13" name="proof-label-163">
            <a:extLst xmlns:a="http://schemas.openxmlformats.org/drawingml/2006/main">
              <a:ext uri="{FF2B5EF4-FFF2-40B4-BE49-F238E27FC236}">
                <a16:creationId xmlns:a16="http://schemas.microsoft.com/office/drawing/2014/main" id="{861B4F50-B7F0-4EF3-8945-0B8B9FE1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48300"/>
            <a:ext cx="3371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03 · REVIEW</a:t>
            </a:r>
          </a:p>
        </p:txBody>
      </p:sp>
      <p:sp>
        <p:nvSpPr>
          <p:cNvPr id="14" name="proof-caption-164">
            <a:extLst xmlns:a="http://schemas.openxmlformats.org/drawingml/2006/main">
              <a:ext uri="{FF2B5EF4-FFF2-40B4-BE49-F238E27FC236}">
                <a16:creationId xmlns:a16="http://schemas.microsoft.com/office/drawing/2014/main" id="{0625EFE6-85DF-45D2-968F-CB5E84A9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43575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Generated PDF before submission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1ce5531a047b8"/>
          <a:srcRect xmlns:a="http://schemas.openxmlformats.org/drawingml/2006/main" l="20476" t="0" r="204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57400"/>
            <a:ext cx="325755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d4b11c5534118"/>
          <a:srcRect xmlns:a="http://schemas.openxmlformats.org/drawingml/2006/main" l="20476" t="0" r="204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2057400"/>
            <a:ext cx="325755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b049689a04872"/>
          <a:srcRect xmlns:a="http://schemas.openxmlformats.org/drawingml/2006/main" l="20476" t="0" r="204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2057400"/>
            <a:ext cx="325755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</p:spTree>
    <p:extLst>
      <p:ext uri="{BB962C8B-B14F-4D97-AF65-F5344CB8AC3E}">
        <p14:creationId xmlns:p14="http://schemas.microsoft.com/office/powerpoint/2010/main" val="15708653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66">
            <a:extLst xmlns:a="http://schemas.openxmlformats.org/drawingml/2006/main">
              <a:ext uri="{FF2B5EF4-FFF2-40B4-BE49-F238E27FC236}">
                <a16:creationId xmlns:a16="http://schemas.microsoft.com/office/drawing/2014/main" id="{0C62377A-DA5E-46AB-AD48-1D717FB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PILOT ROADMAP</a:t>
            </a:r>
          </a:p>
        </p:txBody>
      </p:sp>
      <p:sp>
        <p:nvSpPr>
          <p:cNvPr id="2" name="title-167">
            <a:extLst xmlns:a="http://schemas.openxmlformats.org/drawingml/2006/main">
              <a:ext uri="{FF2B5EF4-FFF2-40B4-BE49-F238E27FC236}">
                <a16:creationId xmlns:a16="http://schemas.microsoft.com/office/drawing/2014/main" id="{D05D01FB-E2DA-46DC-B4D3-A14AB1B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90-day pilot can prove value safely.</a:t>
            </a:r>
          </a:p>
        </p:txBody>
      </p:sp>
      <p:sp>
        <p:nvSpPr>
          <p:cNvPr id="3" name="footer-168">
            <a:extLst xmlns:a="http://schemas.openxmlformats.org/drawingml/2006/main">
              <a:ext uri="{FF2B5EF4-FFF2-40B4-BE49-F238E27FC236}">
                <a16:creationId xmlns:a16="http://schemas.microsoft.com/office/drawing/2014/main" id="{42FE62FF-A479-4673-AB45-CE7AFB69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69">
            <a:extLst xmlns:a="http://schemas.openxmlformats.org/drawingml/2006/main">
              <a:ext uri="{FF2B5EF4-FFF2-40B4-BE49-F238E27FC236}">
                <a16:creationId xmlns:a16="http://schemas.microsoft.com/office/drawing/2014/main" id="{484EBB23-8703-41FC-BFFE-14FBA1E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lede-170">
            <a:extLst xmlns:a="http://schemas.openxmlformats.org/drawingml/2006/main">
              <a:ext uri="{FF2B5EF4-FFF2-40B4-BE49-F238E27FC236}">
                <a16:creationId xmlns:a16="http://schemas.microsoft.com/office/drawing/2014/main" id="{F70DB834-32F1-4C08-9020-590D142A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Start narrow with birth registration, measure rigorously, and scale only after the evidence is strong.</a:t>
            </a:r>
          </a:p>
        </p:txBody>
      </p:sp>
      <p:sp>
        <p:nvSpPr>
          <p:cNvPr id="6" name="rule-171">
            <a:extLst xmlns:a="http://schemas.openxmlformats.org/drawingml/2006/main">
              <a:ext uri="{FF2B5EF4-FFF2-40B4-BE49-F238E27FC236}">
                <a16:creationId xmlns:a16="http://schemas.microsoft.com/office/drawing/2014/main" id="{6240644B-D495-46C1-96EA-1060420E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ilestone-172">
            <a:extLst xmlns:a="http://schemas.openxmlformats.org/drawingml/2006/main">
              <a:ext uri="{FF2B5EF4-FFF2-40B4-BE49-F238E27FC236}">
                <a16:creationId xmlns:a16="http://schemas.microsoft.com/office/drawing/2014/main" id="{AF630715-4056-4A88-AE20-AF1F7DA1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lestone-173">
            <a:extLst xmlns:a="http://schemas.openxmlformats.org/drawingml/2006/main">
              <a:ext uri="{FF2B5EF4-FFF2-40B4-BE49-F238E27FC236}">
                <a16:creationId xmlns:a16="http://schemas.microsoft.com/office/drawing/2014/main" id="{4BEE201E-4006-4767-A643-03634CEB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ilestone-174">
            <a:extLst xmlns:a="http://schemas.openxmlformats.org/drawingml/2006/main">
              <a:ext uri="{FF2B5EF4-FFF2-40B4-BE49-F238E27FC236}">
                <a16:creationId xmlns:a16="http://schemas.microsoft.com/office/drawing/2014/main" id="{EDC9F6FB-58F6-4596-9B41-429A3789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lestone-number-175">
            <a:extLst xmlns:a="http://schemas.openxmlformats.org/drawingml/2006/main">
              <a:ext uri="{FF2B5EF4-FFF2-40B4-BE49-F238E27FC236}">
                <a16:creationId xmlns:a16="http://schemas.microsoft.com/office/drawing/2014/main" id="{364911FE-731C-4AEB-91FC-96BD5EE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1" name="milestone-number-176">
            <a:extLst xmlns:a="http://schemas.openxmlformats.org/drawingml/2006/main">
              <a:ext uri="{FF2B5EF4-FFF2-40B4-BE49-F238E27FC236}">
                <a16:creationId xmlns:a16="http://schemas.microsoft.com/office/drawing/2014/main" id="{ABC94F14-CB80-46C2-8D82-77C5E77C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milestone-number-177">
            <a:extLst xmlns:a="http://schemas.openxmlformats.org/drawingml/2006/main">
              <a:ext uri="{FF2B5EF4-FFF2-40B4-BE49-F238E27FC236}">
                <a16:creationId xmlns:a16="http://schemas.microsoft.com/office/drawing/2014/main" id="{0470475E-48C1-47D8-BAA3-6E738AD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phase-label-178">
            <a:extLst xmlns:a="http://schemas.openxmlformats.org/drawingml/2006/main">
              <a:ext uri="{FF2B5EF4-FFF2-40B4-BE49-F238E27FC236}">
                <a16:creationId xmlns:a16="http://schemas.microsoft.com/office/drawing/2014/main" id="{13EFDEEE-F511-4893-A94A-A894DFF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0–2</a:t>
            </a:r>
          </a:p>
        </p:txBody>
      </p:sp>
      <p:sp>
        <p:nvSpPr>
          <p:cNvPr id="14" name="phase-title-179">
            <a:extLst xmlns:a="http://schemas.openxmlformats.org/drawingml/2006/main">
              <a:ext uri="{FF2B5EF4-FFF2-40B4-BE49-F238E27FC236}">
                <a16:creationId xmlns:a16="http://schemas.microsoft.com/office/drawing/2014/main" id="{C2640F10-CCCF-4477-BF0D-6DB10BA9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Align</a:t>
            </a:r>
          </a:p>
        </p:txBody>
      </p:sp>
      <p:sp>
        <p:nvSpPr>
          <p:cNvPr id="15" name="phase-copy-180">
            <a:extLst xmlns:a="http://schemas.openxmlformats.org/drawingml/2006/main">
              <a:ext uri="{FF2B5EF4-FFF2-40B4-BE49-F238E27FC236}">
                <a16:creationId xmlns:a16="http://schemas.microsoft.com/office/drawing/2014/main" id="{4E1192F1-18A1-47BB-8C8C-064E0971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Confirm local rules, source ownership, audit process, and pilot baseline.</a:t>
            </a:r>
          </a:p>
        </p:txBody>
      </p:sp>
      <p:sp>
        <p:nvSpPr>
          <p:cNvPr id="16" name="phase-label-181">
            <a:extLst xmlns:a="http://schemas.openxmlformats.org/drawingml/2006/main">
              <a:ext uri="{FF2B5EF4-FFF2-40B4-BE49-F238E27FC236}">
                <a16:creationId xmlns:a16="http://schemas.microsoft.com/office/drawing/2014/main" id="{876905F1-25E6-4ED9-8C11-D953EF7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3–6</a:t>
            </a:r>
          </a:p>
        </p:txBody>
      </p:sp>
      <p:sp>
        <p:nvSpPr>
          <p:cNvPr id="17" name="phase-title-182">
            <a:extLst xmlns:a="http://schemas.openxmlformats.org/drawingml/2006/main">
              <a:ext uri="{FF2B5EF4-FFF2-40B4-BE49-F238E27FC236}">
                <a16:creationId xmlns:a16="http://schemas.microsoft.com/office/drawing/2014/main" id="{7BA5AC41-F7EE-463C-9A54-146AF594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Integrate</a:t>
            </a:r>
          </a:p>
        </p:txBody>
      </p:sp>
      <p:sp>
        <p:nvSpPr>
          <p:cNvPr id="18" name="phase-copy-183">
            <a:extLst xmlns:a="http://schemas.openxmlformats.org/drawingml/2006/main">
              <a:ext uri="{FF2B5EF4-FFF2-40B4-BE49-F238E27FC236}">
                <a16:creationId xmlns:a16="http://schemas.microsoft.com/office/drawing/2014/main" id="{1FD3C022-220B-4C06-A602-4F2C5667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Embed in one portal, onboard two pilot offices, and validate end-to-end operations.</a:t>
            </a:r>
          </a:p>
        </p:txBody>
      </p:sp>
      <p:sp>
        <p:nvSpPr>
          <p:cNvPr id="19" name="phase-label-184">
            <a:extLst xmlns:a="http://schemas.openxmlformats.org/drawingml/2006/main">
              <a:ext uri="{FF2B5EF4-FFF2-40B4-BE49-F238E27FC236}">
                <a16:creationId xmlns:a16="http://schemas.microsoft.com/office/drawing/2014/main" id="{A7FEFCC7-F8D7-45C4-B4E3-AC89E41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7–12</a:t>
            </a:r>
          </a:p>
        </p:txBody>
      </p:sp>
      <p:sp>
        <p:nvSpPr>
          <p:cNvPr id="20" name="phase-title-185">
            <a:extLst xmlns:a="http://schemas.openxmlformats.org/drawingml/2006/main">
              <a:ext uri="{FF2B5EF4-FFF2-40B4-BE49-F238E27FC236}">
                <a16:creationId xmlns:a16="http://schemas.microsoft.com/office/drawing/2014/main" id="{D3C09C6F-0C9E-4514-9458-33EA2098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1" name="phase-copy-186">
            <a:extLst xmlns:a="http://schemas.openxmlformats.org/drawingml/2006/main">
              <a:ext uri="{FF2B5EF4-FFF2-40B4-BE49-F238E27FC236}">
                <a16:creationId xmlns:a16="http://schemas.microsoft.com/office/drawing/2014/main" id="{BC876707-C828-42E7-9637-7342E651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Audit accuracy, citizen completion, preventable corrections, and officer workload.</a:t>
            </a:r>
          </a:p>
        </p:txBody>
      </p:sp>
      <p:sp>
        <p:nvSpPr>
          <p:cNvPr id="22" name="partners-187">
            <a:extLst xmlns:a="http://schemas.openxmlformats.org/drawingml/2006/main">
              <a:ext uri="{FF2B5EF4-FFF2-40B4-BE49-F238E27FC236}">
                <a16:creationId xmlns:a16="http://schemas.microsoft.com/office/drawing/2014/main" id="{69C6F3B1-207D-4412-8F25-AEFF2B0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1087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tners-label-188">
            <a:extLst xmlns:a="http://schemas.openxmlformats.org/drawingml/2006/main">
              <a:ext uri="{FF2B5EF4-FFF2-40B4-BE49-F238E27FC236}">
                <a16:creationId xmlns:a16="http://schemas.microsoft.com/office/drawing/2014/main" id="{1C3096DC-C5E7-44BB-B230-6ECD8B78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PILOT PARTNERS</a:t>
            </a:r>
          </a:p>
        </p:txBody>
      </p:sp>
      <p:sp>
        <p:nvSpPr>
          <p:cNvPr id="24" name="partners-copy-189">
            <a:extLst xmlns:a="http://schemas.openxmlformats.org/drawingml/2006/main">
              <a:ext uri="{FF2B5EF4-FFF2-40B4-BE49-F238E27FC236}">
                <a16:creationId xmlns:a16="http://schemas.microsoft.com/office/drawing/2014/main" id="{61706C39-96E5-4B7B-AB0E-D05767C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1 portal owner   ·   2 pilot offices   ·   NIDit regulatory liaison</a:t>
            </a:r>
          </a:p>
        </p:txBody>
      </p:sp>
    </p:spTree>
    <p:extLst>
      <p:ext uri="{BB962C8B-B14F-4D97-AF65-F5344CB8AC3E}">
        <p14:creationId xmlns:p14="http://schemas.microsoft.com/office/powerpoint/2010/main" val="5395269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91">
            <a:extLst xmlns:a="http://schemas.openxmlformats.org/drawingml/2006/main">
              <a:ext uri="{FF2B5EF4-FFF2-40B4-BE49-F238E27FC236}">
                <a16:creationId xmlns:a16="http://schemas.microsoft.com/office/drawing/2014/main" id="{46F994AE-E204-4179-BF11-5AF6FD01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PROPOSED DECISION GATES</a:t>
            </a:r>
          </a:p>
        </p:txBody>
      </p:sp>
      <p:sp>
        <p:nvSpPr>
          <p:cNvPr id="2" name="title-192">
            <a:extLst xmlns:a="http://schemas.openxmlformats.org/drawingml/2006/main">
              <a:ext uri="{FF2B5EF4-FFF2-40B4-BE49-F238E27FC236}">
                <a16:creationId xmlns:a16="http://schemas.microsoft.com/office/drawing/2014/main" id="{FEAAA0EC-9D0D-4916-8042-BFB2E9C0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Pilot success is measurable.</a:t>
            </a:r>
          </a:p>
        </p:txBody>
      </p:sp>
      <p:sp>
        <p:nvSpPr>
          <p:cNvPr id="3" name="footer-193">
            <a:extLst xmlns:a="http://schemas.openxmlformats.org/drawingml/2006/main">
              <a:ext uri="{FF2B5EF4-FFF2-40B4-BE49-F238E27FC236}">
                <a16:creationId xmlns:a16="http://schemas.microsoft.com/office/drawing/2014/main" id="{671A125B-B0C8-4E2A-9976-FBD4D27B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94">
            <a:extLst xmlns:a="http://schemas.openxmlformats.org/drawingml/2006/main">
              <a:ext uri="{FF2B5EF4-FFF2-40B4-BE49-F238E27FC236}">
                <a16:creationId xmlns:a16="http://schemas.microsoft.com/office/drawing/2014/main" id="{61CE55D5-2141-4F43-A5D7-56EE35BA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target-note-195">
            <a:extLst xmlns:a="http://schemas.openxmlformats.org/drawingml/2006/main">
              <a:ext uri="{FF2B5EF4-FFF2-40B4-BE49-F238E27FC236}">
                <a16:creationId xmlns:a16="http://schemas.microsoft.com/office/drawing/2014/main" id="{EE6C9874-BB1B-40B8-A716-6197A2CB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These are targets for the 90-day pilot—not claimed production results.</a:t>
            </a:r>
          </a:p>
        </p:txBody>
      </p:sp>
      <p:sp>
        <p:nvSpPr>
          <p:cNvPr id="6" name="target-196">
            <a:extLst xmlns:a="http://schemas.openxmlformats.org/drawingml/2006/main">
              <a:ext uri="{FF2B5EF4-FFF2-40B4-BE49-F238E27FC236}">
                <a16:creationId xmlns:a16="http://schemas.microsoft.com/office/drawing/2014/main" id="{6C14C60C-9E6F-457B-A9C1-43504B5F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rget-197">
            <a:extLst xmlns:a="http://schemas.openxmlformats.org/drawingml/2006/main">
              <a:ext uri="{FF2B5EF4-FFF2-40B4-BE49-F238E27FC236}">
                <a16:creationId xmlns:a16="http://schemas.microsoft.com/office/drawing/2014/main" id="{A83107FD-FC84-4B7C-9551-6D6D35D6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8" name="target-198">
            <a:extLst xmlns:a="http://schemas.openxmlformats.org/drawingml/2006/main">
              <a:ext uri="{FF2B5EF4-FFF2-40B4-BE49-F238E27FC236}">
                <a16:creationId xmlns:a16="http://schemas.microsoft.com/office/drawing/2014/main" id="{1A806033-A131-4348-98F0-8170055E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target-199">
            <a:extLst xmlns:a="http://schemas.openxmlformats.org/drawingml/2006/main">
              <a:ext uri="{FF2B5EF4-FFF2-40B4-BE49-F238E27FC236}">
                <a16:creationId xmlns:a16="http://schemas.microsoft.com/office/drawing/2014/main" id="{A2192B5B-F4AF-4049-AA38-B49FB09A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200">
            <a:extLst xmlns:a="http://schemas.openxmlformats.org/drawingml/2006/main">
              <a:ext uri="{FF2B5EF4-FFF2-40B4-BE49-F238E27FC236}">
                <a16:creationId xmlns:a16="http://schemas.microsoft.com/office/drawing/2014/main" id="{7F02C76F-9C84-4F45-9224-95441E53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≥95%</a:t>
            </a:r>
          </a:p>
        </p:txBody>
      </p:sp>
      <p:sp>
        <p:nvSpPr>
          <p:cNvPr id="11" name="metric-label-201">
            <a:extLst xmlns:a="http://schemas.openxmlformats.org/drawingml/2006/main">
              <a:ext uri="{FF2B5EF4-FFF2-40B4-BE49-F238E27FC236}">
                <a16:creationId xmlns:a16="http://schemas.microsoft.com/office/drawing/2014/main" id="{FF6262CD-C92F-4138-A54E-E38559C3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Checklist alignment</a:t>
            </a:r>
          </a:p>
        </p:txBody>
      </p:sp>
      <p:sp>
        <p:nvSpPr>
          <p:cNvPr id="12" name="metric-copy-202">
            <a:extLst xmlns:a="http://schemas.openxmlformats.org/drawingml/2006/main">
              <a:ext uri="{FF2B5EF4-FFF2-40B4-BE49-F238E27FC236}">
                <a16:creationId xmlns:a16="http://schemas.microsoft.com/office/drawing/2014/main" id="{0F00E670-547C-4A1E-BDAE-39C47C98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with current regulation in monthly expert audits</a:t>
            </a:r>
          </a:p>
        </p:txBody>
      </p:sp>
      <p:sp>
        <p:nvSpPr>
          <p:cNvPr id="13" name="metric-203">
            <a:extLst xmlns:a="http://schemas.openxmlformats.org/drawingml/2006/main">
              <a:ext uri="{FF2B5EF4-FFF2-40B4-BE49-F238E27FC236}">
                <a16:creationId xmlns:a16="http://schemas.microsoft.com/office/drawing/2014/main" id="{D0F92F41-438F-4E51-A4D0-F632ED7A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≥30%</a:t>
            </a:r>
          </a:p>
        </p:txBody>
      </p:sp>
      <p:sp>
        <p:nvSpPr>
          <p:cNvPr id="14" name="metric-label-204">
            <a:extLst xmlns:a="http://schemas.openxmlformats.org/drawingml/2006/main">
              <a:ext uri="{FF2B5EF4-FFF2-40B4-BE49-F238E27FC236}">
                <a16:creationId xmlns:a16="http://schemas.microsoft.com/office/drawing/2014/main" id="{9C9784B6-1828-432D-A50C-1008E1F6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Fewer preventable
corrections</a:t>
            </a:r>
          </a:p>
        </p:txBody>
      </p:sp>
      <p:sp>
        <p:nvSpPr>
          <p:cNvPr id="15" name="metric-copy-205">
            <a:extLst xmlns:a="http://schemas.openxmlformats.org/drawingml/2006/main">
              <a:ext uri="{FF2B5EF4-FFF2-40B4-BE49-F238E27FC236}">
                <a16:creationId xmlns:a16="http://schemas.microsoft.com/office/drawing/2014/main" id="{98EF1A57-4F61-499B-AD79-6D1F3A6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versus the pilot baseline</a:t>
            </a:r>
          </a:p>
        </p:txBody>
      </p:sp>
      <p:sp>
        <p:nvSpPr>
          <p:cNvPr id="16" name="metric-206">
            <a:extLst xmlns:a="http://schemas.openxmlformats.org/drawingml/2006/main">
              <a:ext uri="{FF2B5EF4-FFF2-40B4-BE49-F238E27FC236}">
                <a16:creationId xmlns:a16="http://schemas.microsoft.com/office/drawing/2014/main" id="{6952C563-E221-46B3-B373-C6666B23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≥25%</a:t>
            </a:r>
          </a:p>
        </p:txBody>
      </p:sp>
      <p:sp>
        <p:nvSpPr>
          <p:cNvPr id="17" name="metric-label-207">
            <a:extLst xmlns:a="http://schemas.openxmlformats.org/drawingml/2006/main">
              <a:ext uri="{FF2B5EF4-FFF2-40B4-BE49-F238E27FC236}">
                <a16:creationId xmlns:a16="http://schemas.microsoft.com/office/drawing/2014/main" id="{9190D163-9E17-4610-A992-FE5286C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Fewer routine
clarification contacts</a:t>
            </a:r>
          </a:p>
        </p:txBody>
      </p:sp>
      <p:sp>
        <p:nvSpPr>
          <p:cNvPr id="18" name="metric-copy-208">
            <a:extLst xmlns:a="http://schemas.openxmlformats.org/drawingml/2006/main">
              <a:ext uri="{FF2B5EF4-FFF2-40B4-BE49-F238E27FC236}">
                <a16:creationId xmlns:a16="http://schemas.microsoft.com/office/drawing/2014/main" id="{33C3D262-B501-4AED-B36A-10EA2F3C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for questions covered by the guide</a:t>
            </a:r>
          </a:p>
        </p:txBody>
      </p:sp>
      <p:sp>
        <p:nvSpPr>
          <p:cNvPr id="19" name="metric-209">
            <a:extLst xmlns:a="http://schemas.openxmlformats.org/drawingml/2006/main">
              <a:ext uri="{FF2B5EF4-FFF2-40B4-BE49-F238E27FC236}">
                <a16:creationId xmlns:a16="http://schemas.microsoft.com/office/drawing/2014/main" id="{661BAD44-170D-40E7-9EEA-9C3C6BD9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≥80%</a:t>
            </a:r>
          </a:p>
        </p:txBody>
      </p:sp>
      <p:sp>
        <p:nvSpPr>
          <p:cNvPr id="20" name="metric-label-210">
            <a:extLst xmlns:a="http://schemas.openxmlformats.org/drawingml/2006/main">
              <a:ext uri="{FF2B5EF4-FFF2-40B4-BE49-F238E27FC236}">
                <a16:creationId xmlns:a16="http://schemas.microsoft.com/office/drawing/2014/main" id="{A2881866-BED0-4581-A70B-978075A3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Guided-flow
completion</a:t>
            </a:r>
          </a:p>
        </p:txBody>
      </p:sp>
      <p:sp>
        <p:nvSpPr>
          <p:cNvPr id="21" name="metric-copy-211">
            <a:extLst xmlns:a="http://schemas.openxmlformats.org/drawingml/2006/main">
              <a:ext uri="{FF2B5EF4-FFF2-40B4-BE49-F238E27FC236}">
                <a16:creationId xmlns:a16="http://schemas.microsoft.com/office/drawing/2014/main" id="{B315A2EF-5C9B-4143-A50D-F4E3EC6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across mobile and desktop citizens</a:t>
            </a:r>
          </a:p>
        </p:txBody>
      </p:sp>
      <p:sp>
        <p:nvSpPr>
          <p:cNvPr id="22" name="decision-rule-212">
            <a:extLst xmlns:a="http://schemas.openxmlformats.org/drawingml/2006/main">
              <a:ext uri="{FF2B5EF4-FFF2-40B4-BE49-F238E27FC236}">
                <a16:creationId xmlns:a16="http://schemas.microsoft.com/office/drawing/2014/main" id="{1FFC5CF4-040D-42B4-BDB9-B1A93179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Scale only when accuracy and safety gates pass.</a:t>
            </a:r>
          </a:p>
        </p:txBody>
      </p:sp>
    </p:spTree>
    <p:extLst>
      <p:ext uri="{BB962C8B-B14F-4D97-AF65-F5344CB8AC3E}">
        <p14:creationId xmlns:p14="http://schemas.microsoft.com/office/powerpoint/2010/main" val="13071296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3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ox-214">
            <a:extLst xmlns:a="http://schemas.openxmlformats.org/drawingml/2006/main">
              <a:ext uri="{FF2B5EF4-FFF2-40B4-BE49-F238E27FC236}">
                <a16:creationId xmlns:a16="http://schemas.microsoft.com/office/drawing/2014/main" id="{F35270AF-7873-4760-9E9D-E9A4FAE0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-215">
            <a:extLst xmlns:a="http://schemas.openxmlformats.org/drawingml/2006/main">
              <a:ext uri="{FF2B5EF4-FFF2-40B4-BE49-F238E27FC236}">
                <a16:creationId xmlns:a16="http://schemas.microsoft.com/office/drawing/2014/main" id="{77040FC5-7961-48A2-9CFB-4844DE26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216">
            <a:extLst xmlns:a="http://schemas.openxmlformats.org/drawingml/2006/main">
              <a:ext uri="{FF2B5EF4-FFF2-40B4-BE49-F238E27FC236}">
                <a16:creationId xmlns:a16="http://schemas.microsoft.com/office/drawing/2014/main" id="{6595E7B3-C550-49BB-A066-8B0201D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THE DECISION</a:t>
            </a:r>
          </a:p>
        </p:txBody>
      </p:sp>
      <p:sp>
        <p:nvSpPr>
          <p:cNvPr id="4" name="closing-title-217">
            <a:extLst xmlns:a="http://schemas.openxmlformats.org/drawingml/2006/main">
              <a:ext uri="{FF2B5EF4-FFF2-40B4-BE49-F238E27FC236}">
                <a16:creationId xmlns:a16="http://schemas.microsoft.com/office/drawing/2014/main" id="{2BF38711-82EC-4E7D-AA65-01C836C1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19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Let every citizen
arrive ready.</a:t>
            </a:r>
          </a:p>
        </p:txBody>
      </p:sp>
      <p:sp>
        <p:nvSpPr>
          <p:cNvPr id="5" name="closing-lede-218">
            <a:extLst xmlns:a="http://schemas.openxmlformats.org/drawingml/2006/main">
              <a:ext uri="{FF2B5EF4-FFF2-40B4-BE49-F238E27FC236}">
                <a16:creationId xmlns:a16="http://schemas.microsoft.com/office/drawing/2014/main" id="{6676A996-44E4-4F62-9B9F-4964418F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619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Launch a 90-day birth-registration pilot and prove that accurate guidance can be both safer for government and simpler for citizens.</a:t>
            </a:r>
          </a:p>
        </p:txBody>
      </p:sp>
      <p:sp>
        <p:nvSpPr>
          <p:cNvPr id="6" name="rule-219">
            <a:extLst xmlns:a="http://schemas.openxmlformats.org/drawingml/2006/main">
              <a:ext uri="{FF2B5EF4-FFF2-40B4-BE49-F238E27FC236}">
                <a16:creationId xmlns:a16="http://schemas.microsoft.com/office/drawing/2014/main" id="{0AB6C059-002F-485F-BA94-E1DA72B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601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sk-number-220">
            <a:extLst xmlns:a="http://schemas.openxmlformats.org/drawingml/2006/main">
              <a:ext uri="{FF2B5EF4-FFF2-40B4-BE49-F238E27FC236}">
                <a16:creationId xmlns:a16="http://schemas.microsoft.com/office/drawing/2014/main" id="{18A113E3-6107-458F-9D75-48CB180E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ask-221">
            <a:extLst xmlns:a="http://schemas.openxmlformats.org/drawingml/2006/main">
              <a:ext uri="{FF2B5EF4-FFF2-40B4-BE49-F238E27FC236}">
                <a16:creationId xmlns:a16="http://schemas.microsoft.com/office/drawing/2014/main" id="{F70BA972-5A34-44A8-8DEA-8C6409FE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2238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Approve the pilot</a:t>
            </a:r>
          </a:p>
        </p:txBody>
      </p:sp>
      <p:sp>
        <p:nvSpPr>
          <p:cNvPr id="9" name="ask-number-222">
            <a:extLst xmlns:a="http://schemas.openxmlformats.org/drawingml/2006/main">
              <a:ext uri="{FF2B5EF4-FFF2-40B4-BE49-F238E27FC236}">
                <a16:creationId xmlns:a16="http://schemas.microsoft.com/office/drawing/2014/main" id="{63C52E17-4678-41ED-839C-68AE98D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ask-223">
            <a:extLst xmlns:a="http://schemas.openxmlformats.org/drawingml/2006/main">
              <a:ext uri="{FF2B5EF4-FFF2-40B4-BE49-F238E27FC236}">
                <a16:creationId xmlns:a16="http://schemas.microsoft.com/office/drawing/2014/main" id="{F9E7D775-A5B9-4939-878B-7F8BF74E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Appoint a regulatory liaison</a:t>
            </a:r>
          </a:p>
        </p:txBody>
      </p:sp>
      <p:sp>
        <p:nvSpPr>
          <p:cNvPr id="11" name="ask-number-224">
            <a:extLst xmlns:a="http://schemas.openxmlformats.org/drawingml/2006/main">
              <a:ext uri="{FF2B5EF4-FFF2-40B4-BE49-F238E27FC236}">
                <a16:creationId xmlns:a16="http://schemas.microsoft.com/office/drawing/2014/main" id="{1F6BD4F5-6841-4E2E-8D38-93F7F9ED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ask-225">
            <a:extLst xmlns:a="http://schemas.openxmlformats.org/drawingml/2006/main">
              <a:ext uri="{FF2B5EF4-FFF2-40B4-BE49-F238E27FC236}">
                <a16:creationId xmlns:a16="http://schemas.microsoft.com/office/drawing/2014/main" id="{0BD5B81E-B43A-4BA9-84DF-C57DB591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0067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Connect one portal and two offices</a:t>
            </a:r>
          </a:p>
        </p:txBody>
      </p:sp>
      <p:sp>
        <p:nvSpPr>
          <p:cNvPr id="13" name="closing-card-226">
            <a:extLst xmlns:a="http://schemas.openxmlformats.org/drawingml/2006/main">
              <a:ext uri="{FF2B5EF4-FFF2-40B4-BE49-F238E27FC236}">
                <a16:creationId xmlns:a16="http://schemas.microsoft.com/office/drawing/2014/main" id="{85F094EF-601D-4997-8322-05998A8D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829050" cy="49339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and-227">
            <a:extLst xmlns:a="http://schemas.openxmlformats.org/drawingml/2006/main">
              <a:ext uri="{FF2B5EF4-FFF2-40B4-BE49-F238E27FC236}">
                <a16:creationId xmlns:a16="http://schemas.microsoft.com/office/drawing/2014/main" id="{6F501CB6-32D3-47BE-A7B1-B4064923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CIVICPATH AI</a:t>
            </a:r>
          </a:p>
        </p:txBody>
      </p:sp>
      <p:sp>
        <p:nvSpPr>
          <p:cNvPr id="15" name="closing-product-228">
            <a:extLst xmlns:a="http://schemas.openxmlformats.org/drawingml/2006/main">
              <a:ext uri="{FF2B5EF4-FFF2-40B4-BE49-F238E27FC236}">
                <a16:creationId xmlns:a16="http://schemas.microsoft.com/office/drawing/2014/main" id="{FF6C0B13-695A-41E5-93C6-D629E0AC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AI-guided public service procedures</a:t>
            </a:r>
          </a:p>
        </p:txBody>
      </p:sp>
      <p:sp>
        <p:nvSpPr>
          <p:cNvPr id="16" name="live-label-229">
            <a:extLst xmlns:a="http://schemas.openxmlformats.org/drawingml/2006/main">
              <a:ext uri="{FF2B5EF4-FFF2-40B4-BE49-F238E27FC236}">
                <a16:creationId xmlns:a16="http://schemas.microsoft.com/office/drawing/2014/main" id="{1DA1AE34-8C37-4204-9E43-1C284EF7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LIVE DEMO</a:t>
            </a:r>
          </a:p>
        </p:txBody>
      </p:sp>
      <p:sp>
        <p:nvSpPr>
          <p:cNvPr id="17" name="closing-url-230">
            <a:extLst xmlns:a="http://schemas.openxmlformats.org/drawingml/2006/main">
              <a:ext uri="{FF2B5EF4-FFF2-40B4-BE49-F238E27FC236}">
                <a16:creationId xmlns:a16="http://schemas.microsoft.com/office/drawing/2014/main" id="{A26F464D-0CCB-42C5-9EAE-BB0E034E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ai-guided-public-service-
procedures.vercel.app</a:t>
            </a:r>
          </a:p>
        </p:txBody>
      </p:sp>
      <p:sp>
        <p:nvSpPr>
          <p:cNvPr id="18" name="institute-231">
            <a:extLst xmlns:a="http://schemas.openxmlformats.org/drawingml/2006/main">
              <a:ext uri="{FF2B5EF4-FFF2-40B4-BE49-F238E27FC236}">
                <a16:creationId xmlns:a16="http://schemas.microsoft.com/office/drawing/2014/main" id="{F8C4078E-3B4D-4983-BB86-BFFC831E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National Institute for Digital Technologies
and Digital Transformation (NIDit)</a:t>
            </a:r>
          </a:p>
        </p:txBody>
      </p:sp>
      <p:sp>
        <p:nvSpPr>
          <p:cNvPr id="19" name="footer-232">
            <a:extLst xmlns:a="http://schemas.openxmlformats.org/drawingml/2006/main">
              <a:ext uri="{FF2B5EF4-FFF2-40B4-BE49-F238E27FC236}">
                <a16:creationId xmlns:a16="http://schemas.microsoft.com/office/drawing/2014/main" id="{7D2CD62E-8203-492C-A338-3237C209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C3F5"/>
                </a:solidFill>
                <a:latin typeface="Arial"/>
                <a:ea typeface="Arial"/>
                <a:cs typeface="Arial"/>
              </a:defRPr>
            </a:pPr>
            <a:r>
              <a:t>Lonely Stone · Smart Government</a:t>
            </a:r>
          </a:p>
        </p:txBody>
      </p:sp>
      <p:sp>
        <p:nvSpPr>
          <p:cNvPr id="20" name="page-233">
            <a:extLst xmlns:a="http://schemas.openxmlformats.org/drawingml/2006/main">
              <a:ext uri="{FF2B5EF4-FFF2-40B4-BE49-F238E27FC236}">
                <a16:creationId xmlns:a16="http://schemas.microsoft.com/office/drawing/2014/main" id="{4D7CC41B-FE31-46A1-8FE9-51B96403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CC3F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d0e1d1e074e59"/>
          <a:stretch xmlns:a="http://schemas.openxmlformats.org/drawingml/2006/main"/>
        </p:blipFill>
        <p:spPr>
          <a:xfrm xmlns:a="http://schemas.openxmlformats.org/drawingml/2006/main">
            <a:off x="9115425" y="11049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</p:spPr>
      </p:pic>
    </p:spTree>
    <p:extLst>
      <p:ext uri="{BB962C8B-B14F-4D97-AF65-F5344CB8AC3E}">
        <p14:creationId xmlns:p14="http://schemas.microsoft.com/office/powerpoint/2010/main" val="827090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2026-07-18T17:47:32.6550000Z</dcterms:created>
  <dcterms:modified xsi:type="dcterms:W3CDTF">2026-07-18T17:47:32.6550000Z</dcterms:modified>
</coreProperties>
</file>